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539" r:id="rId2"/>
    <p:sldId id="277" r:id="rId3"/>
    <p:sldId id="275" r:id="rId4"/>
    <p:sldId id="256" r:id="rId5"/>
    <p:sldId id="267" r:id="rId6"/>
    <p:sldId id="266" r:id="rId7"/>
    <p:sldId id="264" r:id="rId8"/>
    <p:sldId id="262" r:id="rId9"/>
    <p:sldId id="279" r:id="rId10"/>
    <p:sldId id="261" r:id="rId11"/>
    <p:sldId id="520" r:id="rId12"/>
    <p:sldId id="526" r:id="rId13"/>
    <p:sldId id="523" r:id="rId14"/>
    <p:sldId id="532" r:id="rId15"/>
    <p:sldId id="282" r:id="rId16"/>
    <p:sldId id="270" r:id="rId17"/>
    <p:sldId id="269" r:id="rId18"/>
    <p:sldId id="535" r:id="rId19"/>
    <p:sldId id="265" r:id="rId20"/>
    <p:sldId id="259" r:id="rId21"/>
    <p:sldId id="268" r:id="rId22"/>
    <p:sldId id="534" r:id="rId23"/>
    <p:sldId id="258" r:id="rId24"/>
    <p:sldId id="536" r:id="rId25"/>
    <p:sldId id="537" r:id="rId26"/>
    <p:sldId id="529" r:id="rId27"/>
    <p:sldId id="524" r:id="rId28"/>
    <p:sldId id="53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237D74-912D-46E7-B611-8DA00CBE027C}">
          <p14:sldIdLst>
            <p14:sldId id="539"/>
            <p14:sldId id="277"/>
            <p14:sldId id="275"/>
          </p14:sldIdLst>
        </p14:section>
        <p14:section name="NPSS Project" id="{9442DF86-4491-4FCF-B9DC-EAEB7345F89D}">
          <p14:sldIdLst>
            <p14:sldId id="256"/>
          </p14:sldIdLst>
        </p14:section>
        <p14:section name="Overview" id="{2072AABE-12B1-4EBE-9444-7AC65F96135D}">
          <p14:sldIdLst>
            <p14:sldId id="267"/>
            <p14:sldId id="266"/>
          </p14:sldIdLst>
        </p14:section>
        <p14:section name="Assumptions" id="{171F8CB6-5228-452E-A01F-A6CF6C7E7302}">
          <p14:sldIdLst>
            <p14:sldId id="264"/>
            <p14:sldId id="262"/>
            <p14:sldId id="279"/>
          </p14:sldIdLst>
        </p14:section>
        <p14:section name=" NPSS Model" id="{5B0492BC-2830-4C64-A676-02E2BFE3C102}">
          <p14:sldIdLst>
            <p14:sldId id="261"/>
            <p14:sldId id="520"/>
            <p14:sldId id="526"/>
            <p14:sldId id="523"/>
            <p14:sldId id="532"/>
          </p14:sldIdLst>
        </p14:section>
        <p14:section name="NPSS Setup" id="{B2E4EE81-DDC5-4689-A9B3-E1B8A373773A}">
          <p14:sldIdLst>
            <p14:sldId id="282"/>
            <p14:sldId id="270"/>
          </p14:sldIdLst>
        </p14:section>
        <p14:section name="Results" id="{D5D19546-8895-4C43-9878-63B8EBD4A8B5}">
          <p14:sldIdLst>
            <p14:sldId id="269"/>
            <p14:sldId id="535"/>
            <p14:sldId id="265"/>
          </p14:sldIdLst>
        </p14:section>
        <p14:section name="Conclusions" id="{CC7B710E-0438-4C0A-8297-9A76BE85E5D7}">
          <p14:sldIdLst>
            <p14:sldId id="259"/>
            <p14:sldId id="268"/>
            <p14:sldId id="534"/>
            <p14:sldId id="258"/>
          </p14:sldIdLst>
        </p14:section>
        <p14:section name="Archive" id="{EABFE042-2023-47C5-A381-EC361DBFD562}">
          <p14:sldIdLst>
            <p14:sldId id="536"/>
            <p14:sldId id="537"/>
            <p14:sldId id="529"/>
            <p14:sldId id="524"/>
            <p14:sldId id="53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BA1724-F651-EB3E-FEC4-6941D309054B}" name="Scates, Wyatt [US] (MS)" initials="WS" userId="S::Wyatt.Scates@ngc.com::afd731e3-fe11-421b-b2b6-b3a28bae79e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3A369"/>
    <a:srgbClr val="D9DE0C"/>
    <a:srgbClr val="CDC9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2AB720-8BA0-43F7-B55E-A05349839775}" v="76" dt="2026-07-29T13:42:33.8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or Churko" userId="6ac7888e16fdd0da" providerId="LiveId" clId="{79867CFF-92B6-46B2-ADE6-2BA1A95C2E66}"/>
    <pc:docChg chg="undo redo custSel addSld delSld modSld sldOrd modMainMaster addSection delSection modSection">
      <pc:chgData name="Connor Churko" userId="6ac7888e16fdd0da" providerId="LiveId" clId="{79867CFF-92B6-46B2-ADE6-2BA1A95C2E66}" dt="2026-07-29T13:45:02.067" v="28522" actId="47"/>
      <pc:docMkLst>
        <pc:docMk/>
      </pc:docMkLst>
      <pc:sldChg chg="addSp delSp modSp new del mod">
        <pc:chgData name="Connor Churko" userId="6ac7888e16fdd0da" providerId="LiveId" clId="{79867CFF-92B6-46B2-ADE6-2BA1A95C2E66}" dt="2026-07-29T13:45:02.067" v="28522" actId="47"/>
        <pc:sldMkLst>
          <pc:docMk/>
          <pc:sldMk cId="1412111944" sldId="540"/>
        </pc:sldMkLst>
        <pc:spChg chg="add mod">
          <ac:chgData name="Connor Churko" userId="6ac7888e16fdd0da" providerId="LiveId" clId="{79867CFF-92B6-46B2-ADE6-2BA1A95C2E66}" dt="2026-07-29T13:42:58.942" v="28517" actId="1076"/>
          <ac:spMkLst>
            <pc:docMk/>
            <pc:sldMk cId="1412111944" sldId="540"/>
            <ac:spMk id="2" creationId="{0D764FC8-B640-E527-753C-24DB7433AFC4}"/>
          </ac:spMkLst>
        </pc:spChg>
        <pc:spChg chg="add mod">
          <ac:chgData name="Connor Churko" userId="6ac7888e16fdd0da" providerId="LiveId" clId="{79867CFF-92B6-46B2-ADE6-2BA1A95C2E66}" dt="2026-07-29T13:42:58.942" v="28517" actId="1076"/>
          <ac:spMkLst>
            <pc:docMk/>
            <pc:sldMk cId="1412111944" sldId="540"/>
            <ac:spMk id="4" creationId="{7F9A89DE-A464-A7E7-31A1-FFD3B2FECC16}"/>
          </ac:spMkLst>
        </pc:spChg>
        <pc:spChg chg="add mod">
          <ac:chgData name="Connor Churko" userId="6ac7888e16fdd0da" providerId="LiveId" clId="{79867CFF-92B6-46B2-ADE6-2BA1A95C2E66}" dt="2026-07-29T13:28:26.723" v="28418" actId="207"/>
          <ac:spMkLst>
            <pc:docMk/>
            <pc:sldMk cId="1412111944" sldId="540"/>
            <ac:spMk id="6" creationId="{AE8DC192-F766-DF12-072A-55897ED80D63}"/>
          </ac:spMkLst>
        </pc:spChg>
        <pc:spChg chg="add mod">
          <ac:chgData name="Connor Churko" userId="6ac7888e16fdd0da" providerId="LiveId" clId="{79867CFF-92B6-46B2-ADE6-2BA1A95C2E66}" dt="2026-07-29T13:42:58.942" v="28517" actId="1076"/>
          <ac:spMkLst>
            <pc:docMk/>
            <pc:sldMk cId="1412111944" sldId="540"/>
            <ac:spMk id="8" creationId="{07AEF910-3B96-05B0-FACA-30E52BB0F07A}"/>
          </ac:spMkLst>
        </pc:spChg>
        <pc:spChg chg="add mod">
          <ac:chgData name="Connor Churko" userId="6ac7888e16fdd0da" providerId="LiveId" clId="{79867CFF-92B6-46B2-ADE6-2BA1A95C2E66}" dt="2026-07-29T13:42:58.942" v="28517" actId="1076"/>
          <ac:spMkLst>
            <pc:docMk/>
            <pc:sldMk cId="1412111944" sldId="540"/>
            <ac:spMk id="10" creationId="{35DE910B-28EE-F9D5-F2D3-F7CD39A51631}"/>
          </ac:spMkLst>
        </pc:spChg>
        <pc:spChg chg="add mod ord">
          <ac:chgData name="Connor Churko" userId="6ac7888e16fdd0da" providerId="LiveId" clId="{79867CFF-92B6-46B2-ADE6-2BA1A95C2E66}" dt="2026-07-29T13:28:33.441" v="28419" actId="207"/>
          <ac:spMkLst>
            <pc:docMk/>
            <pc:sldMk cId="1412111944" sldId="540"/>
            <ac:spMk id="12" creationId="{C6008158-A72A-E5C0-1D54-7648DDAACFE6}"/>
          </ac:spMkLst>
        </pc:spChg>
        <pc:spChg chg="add mod">
          <ac:chgData name="Connor Churko" userId="6ac7888e16fdd0da" providerId="LiveId" clId="{79867CFF-92B6-46B2-ADE6-2BA1A95C2E66}" dt="2026-07-29T13:42:58.942" v="28517" actId="1076"/>
          <ac:spMkLst>
            <pc:docMk/>
            <pc:sldMk cId="1412111944" sldId="540"/>
            <ac:spMk id="13" creationId="{9C8FCDD5-B7F9-CE9C-4E27-94F9C9F8FDFD}"/>
          </ac:spMkLst>
        </pc:spChg>
        <pc:spChg chg="add mod">
          <ac:chgData name="Connor Churko" userId="6ac7888e16fdd0da" providerId="LiveId" clId="{79867CFF-92B6-46B2-ADE6-2BA1A95C2E66}" dt="2026-07-29T13:19:19.308" v="28022" actId="1076"/>
          <ac:spMkLst>
            <pc:docMk/>
            <pc:sldMk cId="1412111944" sldId="540"/>
            <ac:spMk id="15" creationId="{BCBB400A-4F63-318A-2971-1BF1F9CB8B97}"/>
          </ac:spMkLst>
        </pc:spChg>
        <pc:spChg chg="add mod">
          <ac:chgData name="Connor Churko" userId="6ac7888e16fdd0da" providerId="LiveId" clId="{79867CFF-92B6-46B2-ADE6-2BA1A95C2E66}" dt="2026-07-29T13:28:26.723" v="28418" actId="207"/>
          <ac:spMkLst>
            <pc:docMk/>
            <pc:sldMk cId="1412111944" sldId="540"/>
            <ac:spMk id="17" creationId="{4C46F23C-C06D-1F1A-51DF-94697DDD62B6}"/>
          </ac:spMkLst>
        </pc:spChg>
        <pc:spChg chg="add mod">
          <ac:chgData name="Connor Churko" userId="6ac7888e16fdd0da" providerId="LiveId" clId="{79867CFF-92B6-46B2-ADE6-2BA1A95C2E66}" dt="2026-07-29T13:44:53.994" v="28521" actId="1076"/>
          <ac:spMkLst>
            <pc:docMk/>
            <pc:sldMk cId="1412111944" sldId="540"/>
            <ac:spMk id="44" creationId="{2B596297-6DA3-FD65-C467-89966B7ADB09}"/>
          </ac:spMkLst>
        </pc:spChg>
        <pc:spChg chg="add del mod">
          <ac:chgData name="Connor Churko" userId="6ac7888e16fdd0da" providerId="LiveId" clId="{79867CFF-92B6-46B2-ADE6-2BA1A95C2E66}" dt="2026-07-29T13:24:30.818" v="28190" actId="478"/>
          <ac:spMkLst>
            <pc:docMk/>
            <pc:sldMk cId="1412111944" sldId="540"/>
            <ac:spMk id="46" creationId="{A108199A-91F4-402F-241B-451E7EE3C676}"/>
          </ac:spMkLst>
        </pc:spChg>
        <pc:spChg chg="add del mod">
          <ac:chgData name="Connor Churko" userId="6ac7888e16fdd0da" providerId="LiveId" clId="{79867CFF-92B6-46B2-ADE6-2BA1A95C2E66}" dt="2026-07-29T13:24:25.668" v="28187" actId="478"/>
          <ac:spMkLst>
            <pc:docMk/>
            <pc:sldMk cId="1412111944" sldId="540"/>
            <ac:spMk id="50" creationId="{C204538E-D6D8-E091-B407-CB2C582C9416}"/>
          </ac:spMkLst>
        </pc:spChg>
        <pc:spChg chg="add mod">
          <ac:chgData name="Connor Churko" userId="6ac7888e16fdd0da" providerId="LiveId" clId="{79867CFF-92B6-46B2-ADE6-2BA1A95C2E66}" dt="2026-07-29T13:42:58.942" v="28517" actId="1076"/>
          <ac:spMkLst>
            <pc:docMk/>
            <pc:sldMk cId="1412111944" sldId="540"/>
            <ac:spMk id="56" creationId="{2CD9EA3E-5071-8DCA-30D1-B42093AF5B7E}"/>
          </ac:spMkLst>
        </pc:spChg>
        <pc:spChg chg="add mod">
          <ac:chgData name="Connor Churko" userId="6ac7888e16fdd0da" providerId="LiveId" clId="{79867CFF-92B6-46B2-ADE6-2BA1A95C2E66}" dt="2026-07-29T13:42:33.812" v="28510" actId="164"/>
          <ac:spMkLst>
            <pc:docMk/>
            <pc:sldMk cId="1412111944" sldId="540"/>
            <ac:spMk id="60" creationId="{EF7B4296-2774-1DA0-4D0E-1E05079690F5}"/>
          </ac:spMkLst>
        </pc:spChg>
        <pc:spChg chg="add mod">
          <ac:chgData name="Connor Churko" userId="6ac7888e16fdd0da" providerId="LiveId" clId="{79867CFF-92B6-46B2-ADE6-2BA1A95C2E66}" dt="2026-07-29T13:42:33.812" v="28510" actId="164"/>
          <ac:spMkLst>
            <pc:docMk/>
            <pc:sldMk cId="1412111944" sldId="540"/>
            <ac:spMk id="62" creationId="{A1556FDC-831B-7BBB-02A8-BBCEC7A497A0}"/>
          </ac:spMkLst>
        </pc:spChg>
        <pc:spChg chg="add del mod">
          <ac:chgData name="Connor Churko" userId="6ac7888e16fdd0da" providerId="LiveId" clId="{79867CFF-92B6-46B2-ADE6-2BA1A95C2E66}" dt="2026-07-29T13:26:42.592" v="28302" actId="478"/>
          <ac:spMkLst>
            <pc:docMk/>
            <pc:sldMk cId="1412111944" sldId="540"/>
            <ac:spMk id="72" creationId="{982F0EA5-F161-C51B-6C72-0B28A5F7375E}"/>
          </ac:spMkLst>
        </pc:spChg>
        <pc:spChg chg="add mod">
          <ac:chgData name="Connor Churko" userId="6ac7888e16fdd0da" providerId="LiveId" clId="{79867CFF-92B6-46B2-ADE6-2BA1A95C2E66}" dt="2026-07-29T13:42:58.942" v="28517" actId="1076"/>
          <ac:spMkLst>
            <pc:docMk/>
            <pc:sldMk cId="1412111944" sldId="540"/>
            <ac:spMk id="74" creationId="{12167CE6-34DA-6B14-A5CC-FFF3EF2CC11D}"/>
          </ac:spMkLst>
        </pc:spChg>
        <pc:spChg chg="add mod">
          <ac:chgData name="Connor Churko" userId="6ac7888e16fdd0da" providerId="LiveId" clId="{79867CFF-92B6-46B2-ADE6-2BA1A95C2E66}" dt="2026-07-29T13:42:58.942" v="28517" actId="1076"/>
          <ac:spMkLst>
            <pc:docMk/>
            <pc:sldMk cId="1412111944" sldId="540"/>
            <ac:spMk id="85" creationId="{A16460C8-CCDB-6D06-4D7D-1E239585964F}"/>
          </ac:spMkLst>
        </pc:spChg>
        <pc:spChg chg="add mod">
          <ac:chgData name="Connor Churko" userId="6ac7888e16fdd0da" providerId="LiveId" clId="{79867CFF-92B6-46B2-ADE6-2BA1A95C2E66}" dt="2026-07-29T13:42:58.942" v="28517" actId="1076"/>
          <ac:spMkLst>
            <pc:docMk/>
            <pc:sldMk cId="1412111944" sldId="540"/>
            <ac:spMk id="89" creationId="{4A991E10-9E6C-43FE-3781-88FA46B0154C}"/>
          </ac:spMkLst>
        </pc:spChg>
        <pc:spChg chg="add mod">
          <ac:chgData name="Connor Churko" userId="6ac7888e16fdd0da" providerId="LiveId" clId="{79867CFF-92B6-46B2-ADE6-2BA1A95C2E66}" dt="2026-07-29T13:42:58.942" v="28517" actId="1076"/>
          <ac:spMkLst>
            <pc:docMk/>
            <pc:sldMk cId="1412111944" sldId="540"/>
            <ac:spMk id="95" creationId="{93A20C8E-12F3-328C-00B0-DC26803E62E3}"/>
          </ac:spMkLst>
        </pc:spChg>
        <pc:spChg chg="add mod">
          <ac:chgData name="Connor Churko" userId="6ac7888e16fdd0da" providerId="LiveId" clId="{79867CFF-92B6-46B2-ADE6-2BA1A95C2E66}" dt="2026-07-29T13:44:10.100" v="28519" actId="1076"/>
          <ac:spMkLst>
            <pc:docMk/>
            <pc:sldMk cId="1412111944" sldId="540"/>
            <ac:spMk id="103" creationId="{7E797DDB-E415-49C0-DEBA-BC144246209E}"/>
          </ac:spMkLst>
        </pc:spChg>
        <pc:spChg chg="add mod">
          <ac:chgData name="Connor Churko" userId="6ac7888e16fdd0da" providerId="LiveId" clId="{79867CFF-92B6-46B2-ADE6-2BA1A95C2E66}" dt="2026-07-29T13:44:10.100" v="28519" actId="1076"/>
          <ac:spMkLst>
            <pc:docMk/>
            <pc:sldMk cId="1412111944" sldId="540"/>
            <ac:spMk id="104" creationId="{69D531E8-E954-4C1E-3253-3B34B8715A15}"/>
          </ac:spMkLst>
        </pc:spChg>
        <pc:grpChg chg="add mod">
          <ac:chgData name="Connor Churko" userId="6ac7888e16fdd0da" providerId="LiveId" clId="{79867CFF-92B6-46B2-ADE6-2BA1A95C2E66}" dt="2026-07-29T13:28:26.723" v="28418" actId="207"/>
          <ac:grpSpMkLst>
            <pc:docMk/>
            <pc:sldMk cId="1412111944" sldId="540"/>
            <ac:grpSpMk id="18" creationId="{A65B177F-7105-456C-7EA1-D2F0367ACDB1}"/>
          </ac:grpSpMkLst>
        </pc:grpChg>
        <pc:grpChg chg="add mod">
          <ac:chgData name="Connor Churko" userId="6ac7888e16fdd0da" providerId="LiveId" clId="{79867CFF-92B6-46B2-ADE6-2BA1A95C2E66}" dt="2026-07-29T13:42:49.329" v="28516" actId="1036"/>
          <ac:grpSpMkLst>
            <pc:docMk/>
            <pc:sldMk cId="1412111944" sldId="540"/>
            <ac:grpSpMk id="107" creationId="{0C8700B9-124C-1079-7661-3A316842A63C}"/>
          </ac:grpSpMkLst>
        </pc:grpChg>
        <pc:cxnChg chg="add mod">
          <ac:chgData name="Connor Churko" userId="6ac7888e16fdd0da" providerId="LiveId" clId="{79867CFF-92B6-46B2-ADE6-2BA1A95C2E66}" dt="2026-07-29T13:19:19.308" v="28022" actId="1076"/>
          <ac:cxnSpMkLst>
            <pc:docMk/>
            <pc:sldMk cId="1412111944" sldId="540"/>
            <ac:cxnSpMk id="20" creationId="{CF43EEA1-975A-DC7C-D881-4E44658D6C8D}"/>
          </ac:cxnSpMkLst>
        </pc:cxnChg>
        <pc:cxnChg chg="add mod">
          <ac:chgData name="Connor Churko" userId="6ac7888e16fdd0da" providerId="LiveId" clId="{79867CFF-92B6-46B2-ADE6-2BA1A95C2E66}" dt="2026-07-29T13:18:41.451" v="28004" actId="14100"/>
          <ac:cxnSpMkLst>
            <pc:docMk/>
            <pc:sldMk cId="1412111944" sldId="540"/>
            <ac:cxnSpMk id="21" creationId="{73CC571D-E2E1-772D-AF0A-237CAB9A3554}"/>
          </ac:cxnSpMkLst>
        </pc:cxnChg>
        <pc:cxnChg chg="add mod">
          <ac:chgData name="Connor Churko" userId="6ac7888e16fdd0da" providerId="LiveId" clId="{79867CFF-92B6-46B2-ADE6-2BA1A95C2E66}" dt="2026-07-29T13:18:47.231" v="28007" actId="14100"/>
          <ac:cxnSpMkLst>
            <pc:docMk/>
            <pc:sldMk cId="1412111944" sldId="540"/>
            <ac:cxnSpMk id="24" creationId="{CAF64F98-289B-D7F9-5630-B584F30707C1}"/>
          </ac:cxnSpMkLst>
        </pc:cxnChg>
        <pc:cxnChg chg="add mod">
          <ac:chgData name="Connor Churko" userId="6ac7888e16fdd0da" providerId="LiveId" clId="{79867CFF-92B6-46B2-ADE6-2BA1A95C2E66}" dt="2026-07-29T13:18:51.593" v="28010" actId="14100"/>
          <ac:cxnSpMkLst>
            <pc:docMk/>
            <pc:sldMk cId="1412111944" sldId="540"/>
            <ac:cxnSpMk id="27" creationId="{356DA86C-B541-BA8A-A7DF-2DE87AE03C46}"/>
          </ac:cxnSpMkLst>
        </pc:cxnChg>
        <pc:cxnChg chg="add mod">
          <ac:chgData name="Connor Churko" userId="6ac7888e16fdd0da" providerId="LiveId" clId="{79867CFF-92B6-46B2-ADE6-2BA1A95C2E66}" dt="2026-07-29T13:18:55.300" v="28013" actId="14100"/>
          <ac:cxnSpMkLst>
            <pc:docMk/>
            <pc:sldMk cId="1412111944" sldId="540"/>
            <ac:cxnSpMk id="30" creationId="{FFD0B825-50B9-1E14-CAB0-E7068E302A0C}"/>
          </ac:cxnSpMkLst>
        </pc:cxnChg>
        <pc:cxnChg chg="add mod">
          <ac:chgData name="Connor Churko" userId="6ac7888e16fdd0da" providerId="LiveId" clId="{79867CFF-92B6-46B2-ADE6-2BA1A95C2E66}" dt="2026-07-29T13:18:59.116" v="28016" actId="14100"/>
          <ac:cxnSpMkLst>
            <pc:docMk/>
            <pc:sldMk cId="1412111944" sldId="540"/>
            <ac:cxnSpMk id="33" creationId="{787B9F77-F1B7-F8B3-0CBB-965F632DAA29}"/>
          </ac:cxnSpMkLst>
        </pc:cxnChg>
        <pc:cxnChg chg="add mod">
          <ac:chgData name="Connor Churko" userId="6ac7888e16fdd0da" providerId="LiveId" clId="{79867CFF-92B6-46B2-ADE6-2BA1A95C2E66}" dt="2026-07-29T13:19:25.162" v="28024" actId="14100"/>
          <ac:cxnSpMkLst>
            <pc:docMk/>
            <pc:sldMk cId="1412111944" sldId="540"/>
            <ac:cxnSpMk id="37" creationId="{ECEDB274-FB02-25E6-A641-84D917652635}"/>
          </ac:cxnSpMkLst>
        </pc:cxnChg>
        <pc:cxnChg chg="add mod">
          <ac:chgData name="Connor Churko" userId="6ac7888e16fdd0da" providerId="LiveId" clId="{79867CFF-92B6-46B2-ADE6-2BA1A95C2E66}" dt="2026-07-29T13:19:22.271" v="28023" actId="14100"/>
          <ac:cxnSpMkLst>
            <pc:docMk/>
            <pc:sldMk cId="1412111944" sldId="540"/>
            <ac:cxnSpMk id="38" creationId="{F87D45EF-2F48-6E64-7EA1-B041B8DD1533}"/>
          </ac:cxnSpMkLst>
        </pc:cxnChg>
        <pc:cxnChg chg="add mod">
          <ac:chgData name="Connor Churko" userId="6ac7888e16fdd0da" providerId="LiveId" clId="{79867CFF-92B6-46B2-ADE6-2BA1A95C2E66}" dt="2026-07-29T13:42:49.329" v="28516" actId="1036"/>
          <ac:cxnSpMkLst>
            <pc:docMk/>
            <pc:sldMk cId="1412111944" sldId="540"/>
            <ac:cxnSpMk id="47" creationId="{19092FAE-755A-F3BE-017D-CA54814483F2}"/>
          </ac:cxnSpMkLst>
        </pc:cxnChg>
        <pc:cxnChg chg="add mod">
          <ac:chgData name="Connor Churko" userId="6ac7888e16fdd0da" providerId="LiveId" clId="{79867CFF-92B6-46B2-ADE6-2BA1A95C2E66}" dt="2026-07-29T13:42:39.184" v="28511" actId="465"/>
          <ac:cxnSpMkLst>
            <pc:docMk/>
            <pc:sldMk cId="1412111944" sldId="540"/>
            <ac:cxnSpMk id="64" creationId="{A729B5B6-B771-A7A5-C845-8A2C1BDD6863}"/>
          </ac:cxnSpMkLst>
        </pc:cxnChg>
        <pc:cxnChg chg="add mod">
          <ac:chgData name="Connor Churko" userId="6ac7888e16fdd0da" providerId="LiveId" clId="{79867CFF-92B6-46B2-ADE6-2BA1A95C2E66}" dt="2026-07-29T13:42:49.329" v="28516" actId="1036"/>
          <ac:cxnSpMkLst>
            <pc:docMk/>
            <pc:sldMk cId="1412111944" sldId="540"/>
            <ac:cxnSpMk id="67" creationId="{87386663-217B-06E0-18D3-A1DCAF3A404D}"/>
          </ac:cxnSpMkLst>
        </pc:cxnChg>
        <pc:cxnChg chg="add mod">
          <ac:chgData name="Connor Churko" userId="6ac7888e16fdd0da" providerId="LiveId" clId="{79867CFF-92B6-46B2-ADE6-2BA1A95C2E66}" dt="2026-07-29T13:42:29.613" v="28509" actId="1076"/>
          <ac:cxnSpMkLst>
            <pc:docMk/>
            <pc:sldMk cId="1412111944" sldId="540"/>
            <ac:cxnSpMk id="75" creationId="{C546BC4C-7939-1512-D584-4516F6DC1DE4}"/>
          </ac:cxnSpMkLst>
        </pc:cxnChg>
        <pc:cxnChg chg="add mod">
          <ac:chgData name="Connor Churko" userId="6ac7888e16fdd0da" providerId="LiveId" clId="{79867CFF-92B6-46B2-ADE6-2BA1A95C2E66}" dt="2026-07-29T13:42:39.184" v="28511" actId="465"/>
          <ac:cxnSpMkLst>
            <pc:docMk/>
            <pc:sldMk cId="1412111944" sldId="540"/>
            <ac:cxnSpMk id="78" creationId="{D9EB52F0-832F-F403-96F5-712C04408C18}"/>
          </ac:cxnSpMkLst>
        </pc:cxnChg>
        <pc:cxnChg chg="add mod">
          <ac:chgData name="Connor Churko" userId="6ac7888e16fdd0da" providerId="LiveId" clId="{79867CFF-92B6-46B2-ADE6-2BA1A95C2E66}" dt="2026-07-29T13:42:49.329" v="28516" actId="1036"/>
          <ac:cxnSpMkLst>
            <pc:docMk/>
            <pc:sldMk cId="1412111944" sldId="540"/>
            <ac:cxnSpMk id="81" creationId="{A039CF1B-FD70-C6C6-FF79-0EEE550B509A}"/>
          </ac:cxnSpMkLst>
        </pc:cxnChg>
        <pc:cxnChg chg="add mod">
          <ac:chgData name="Connor Churko" userId="6ac7888e16fdd0da" providerId="LiveId" clId="{79867CFF-92B6-46B2-ADE6-2BA1A95C2E66}" dt="2026-07-29T13:42:49.329" v="28516" actId="1036"/>
          <ac:cxnSpMkLst>
            <pc:docMk/>
            <pc:sldMk cId="1412111944" sldId="540"/>
            <ac:cxnSpMk id="90" creationId="{15E29C7A-3B3E-9012-47FC-A8C6F34B5CE7}"/>
          </ac:cxnSpMkLst>
        </pc:cxnChg>
        <pc:cxnChg chg="add mod">
          <ac:chgData name="Connor Churko" userId="6ac7888e16fdd0da" providerId="LiveId" clId="{79867CFF-92B6-46B2-ADE6-2BA1A95C2E66}" dt="2026-07-29T13:42:39.184" v="28511" actId="465"/>
          <ac:cxnSpMkLst>
            <pc:docMk/>
            <pc:sldMk cId="1412111944" sldId="540"/>
            <ac:cxnSpMk id="96" creationId="{37F4CACB-8AD8-8535-C250-1570D6DD71C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BB3E2E-EE37-47FF-AD0C-E70EA22652BA}"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0AEDA2-DFFA-49B8-B3DF-448E2D41F976}" type="slidenum">
              <a:rPr lang="en-US" smtClean="0"/>
              <a:t>‹#›</a:t>
            </a:fld>
            <a:endParaRPr lang="en-US"/>
          </a:p>
        </p:txBody>
      </p:sp>
    </p:spTree>
    <p:extLst>
      <p:ext uri="{BB962C8B-B14F-4D97-AF65-F5344CB8AC3E}">
        <p14:creationId xmlns:p14="http://schemas.microsoft.com/office/powerpoint/2010/main" val="68244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EDA2-DFFA-49B8-B3DF-448E2D41F976}" type="slidenum">
              <a:rPr lang="en-US" smtClean="0"/>
              <a:t>11</a:t>
            </a:fld>
            <a:endParaRPr lang="en-US"/>
          </a:p>
        </p:txBody>
      </p:sp>
    </p:spTree>
    <p:extLst>
      <p:ext uri="{BB962C8B-B14F-4D97-AF65-F5344CB8AC3E}">
        <p14:creationId xmlns:p14="http://schemas.microsoft.com/office/powerpoint/2010/main" val="14977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EDA2-DFFA-49B8-B3DF-448E2D41F976}" type="slidenum">
              <a:rPr lang="en-US" smtClean="0"/>
              <a:t>18</a:t>
            </a:fld>
            <a:endParaRPr lang="en-US"/>
          </a:p>
        </p:txBody>
      </p:sp>
    </p:spTree>
    <p:extLst>
      <p:ext uri="{BB962C8B-B14F-4D97-AF65-F5344CB8AC3E}">
        <p14:creationId xmlns:p14="http://schemas.microsoft.com/office/powerpoint/2010/main" val="3072457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EDA2-DFFA-49B8-B3DF-448E2D41F976}" type="slidenum">
              <a:rPr lang="en-US" smtClean="0"/>
              <a:t>21</a:t>
            </a:fld>
            <a:endParaRPr lang="en-US"/>
          </a:p>
        </p:txBody>
      </p:sp>
    </p:spTree>
    <p:extLst>
      <p:ext uri="{BB962C8B-B14F-4D97-AF65-F5344CB8AC3E}">
        <p14:creationId xmlns:p14="http://schemas.microsoft.com/office/powerpoint/2010/main" val="83841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59D6-605A-29B5-381A-987E262490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475AAF-5E55-9587-0573-BA4A55176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6B57E2-FB5B-DE27-6D47-9EBA349C964C}"/>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6D896CEB-A5EF-1BCA-0F59-A69656EA3D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FDFFE-8DED-8707-A128-53568CD6DE2E}"/>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91638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22B3-10C3-0B3A-B670-A0B021236664}"/>
              </a:ext>
            </a:extLst>
          </p:cNvPr>
          <p:cNvSpPr>
            <a:spLocks noGrp="1"/>
          </p:cNvSpPr>
          <p:nvPr>
            <p:ph type="title"/>
          </p:nvPr>
        </p:nvSpPr>
        <p:spPr>
          <a:xfrm>
            <a:off x="450273" y="573591"/>
            <a:ext cx="11206018" cy="621291"/>
          </a:xfrm>
        </p:spPr>
        <p:txBody>
          <a:bodyPr>
            <a:normAutofit/>
          </a:bodyPr>
          <a:lstStyle>
            <a:lvl1pPr>
              <a:defRPr sz="4000" b="1"/>
            </a:lvl1pPr>
          </a:lstStyle>
          <a:p>
            <a:r>
              <a:rPr lang="en-US" dirty="0"/>
              <a:t>Click to edit Master title style</a:t>
            </a:r>
          </a:p>
        </p:txBody>
      </p:sp>
      <p:sp>
        <p:nvSpPr>
          <p:cNvPr id="3" name="Content Placeholder 2">
            <a:extLst>
              <a:ext uri="{FF2B5EF4-FFF2-40B4-BE49-F238E27FC236}">
                <a16:creationId xmlns:a16="http://schemas.microsoft.com/office/drawing/2014/main" id="{D0B72C35-D89D-B5FF-444B-C6747DC78B5A}"/>
              </a:ext>
            </a:extLst>
          </p:cNvPr>
          <p:cNvSpPr>
            <a:spLocks noGrp="1"/>
          </p:cNvSpPr>
          <p:nvPr>
            <p:ph idx="1"/>
          </p:nvPr>
        </p:nvSpPr>
        <p:spPr>
          <a:xfrm>
            <a:off x="450273" y="1385462"/>
            <a:ext cx="11206018" cy="47915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A8927-C20D-2644-61BF-7F2006E3A36E}"/>
              </a:ext>
            </a:extLst>
          </p:cNvPr>
          <p:cNvSpPr>
            <a:spLocks noGrp="1"/>
          </p:cNvSpPr>
          <p:nvPr>
            <p:ph type="dt" sz="half" idx="10"/>
          </p:nvPr>
        </p:nvSpPr>
        <p:spPr>
          <a:xfrm>
            <a:off x="0" y="6607175"/>
            <a:ext cx="2743200" cy="228600"/>
          </a:xfrm>
        </p:spPr>
        <p:txBody>
          <a:body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814982F6-CE14-3EDD-5095-AC1DBDE6F39D}"/>
              </a:ext>
            </a:extLst>
          </p:cNvPr>
          <p:cNvSpPr>
            <a:spLocks noGrp="1"/>
          </p:cNvSpPr>
          <p:nvPr>
            <p:ph type="ftr" sz="quarter" idx="11"/>
          </p:nvPr>
        </p:nvSpPr>
        <p:spPr>
          <a:xfrm>
            <a:off x="4038600" y="6607175"/>
            <a:ext cx="4114800" cy="228600"/>
          </a:xfrm>
        </p:spPr>
        <p:txBody>
          <a:bodyPr/>
          <a:lstStyle/>
          <a:p>
            <a:endParaRPr lang="en-US" dirty="0"/>
          </a:p>
        </p:txBody>
      </p:sp>
      <p:sp>
        <p:nvSpPr>
          <p:cNvPr id="6" name="Slide Number Placeholder 5">
            <a:extLst>
              <a:ext uri="{FF2B5EF4-FFF2-40B4-BE49-F238E27FC236}">
                <a16:creationId xmlns:a16="http://schemas.microsoft.com/office/drawing/2014/main" id="{4A42EECC-06BB-0CB0-98A2-D0DEF908E74D}"/>
              </a:ext>
            </a:extLst>
          </p:cNvPr>
          <p:cNvSpPr>
            <a:spLocks noGrp="1"/>
          </p:cNvSpPr>
          <p:nvPr>
            <p:ph type="sldNum" sz="quarter" idx="12"/>
          </p:nvPr>
        </p:nvSpPr>
        <p:spPr>
          <a:xfrm>
            <a:off x="9331036" y="6607175"/>
            <a:ext cx="2743200" cy="228600"/>
          </a:xfrm>
        </p:spPr>
        <p:txBody>
          <a:bodyPr/>
          <a:lstStyle/>
          <a:p>
            <a:fld id="{23E3ABD7-1FB4-4BBB-940C-46E529EF4977}" type="slidenum">
              <a:rPr lang="en-US" smtClean="0"/>
              <a:t>‹#›</a:t>
            </a:fld>
            <a:endParaRPr lang="en-US"/>
          </a:p>
        </p:txBody>
      </p:sp>
      <p:cxnSp>
        <p:nvCxnSpPr>
          <p:cNvPr id="8" name="Straight Connector 7">
            <a:extLst>
              <a:ext uri="{FF2B5EF4-FFF2-40B4-BE49-F238E27FC236}">
                <a16:creationId xmlns:a16="http://schemas.microsoft.com/office/drawing/2014/main" id="{045184D6-0B73-06D9-48F7-84088776087E}"/>
              </a:ext>
            </a:extLst>
          </p:cNvPr>
          <p:cNvCxnSpPr>
            <a:cxnSpLocks/>
          </p:cNvCxnSpPr>
          <p:nvPr userDrawn="1"/>
        </p:nvCxnSpPr>
        <p:spPr>
          <a:xfrm>
            <a:off x="258618" y="1126836"/>
            <a:ext cx="11665527" cy="0"/>
          </a:xfrm>
          <a:prstGeom prst="line">
            <a:avLst/>
          </a:prstGeom>
          <a:ln w="9525">
            <a:solidFill>
              <a:schemeClr val="tx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26520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568A-9A53-071B-F3DD-C39D2E25FC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F98A55-47E9-8384-993A-2DA18C8F3E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F7F43E-C088-62E4-F79D-FA61ED758F1D}"/>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1A18161C-E7B4-479F-C202-3A437B95A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34B10-A49E-5FA5-4BDE-31A1D5BDD64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44713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48C4-EC0F-53D0-4E80-EB24879E4D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854C58-5BE2-7412-5DF8-59D2636086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6E26C8-2366-3E33-C939-91312EB7C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90533-973F-6078-2BD3-BFE2374D8A95}"/>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6" name="Footer Placeholder 5">
            <a:extLst>
              <a:ext uri="{FF2B5EF4-FFF2-40B4-BE49-F238E27FC236}">
                <a16:creationId xmlns:a16="http://schemas.microsoft.com/office/drawing/2014/main" id="{AF4CD5C0-F259-F252-335C-3E8ED3D622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B7B77-F1F1-94DC-7810-44D1D502CDD5}"/>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138153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5799-C7AC-605A-8568-E2F8615644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DA295-A4F1-9AB4-435A-CCC324D0B9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CB76CF-AEA8-83A2-2B83-4C6FC4B249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4F27B3-B7AF-157C-254C-1B10A84AF0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6361B-39C4-BE69-8DC4-FBBB4B0695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44B4A2-2D28-C5A7-5162-342C027A6DB5}"/>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8" name="Footer Placeholder 7">
            <a:extLst>
              <a:ext uri="{FF2B5EF4-FFF2-40B4-BE49-F238E27FC236}">
                <a16:creationId xmlns:a16="http://schemas.microsoft.com/office/drawing/2014/main" id="{6DC0F64D-3D1E-8876-959F-8188AC7638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1251FC-5389-73A1-CB3B-4528371C33E8}"/>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4106847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0D72-558D-DD8F-D934-C21A7EE657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EFC4A6-B285-A5BF-DB87-B89A172AA27E}"/>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4" name="Footer Placeholder 3">
            <a:extLst>
              <a:ext uri="{FF2B5EF4-FFF2-40B4-BE49-F238E27FC236}">
                <a16:creationId xmlns:a16="http://schemas.microsoft.com/office/drawing/2014/main" id="{A92C02A3-1CEF-4BF6-5812-6957EFC008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2A811F-6E17-3E9A-E1A3-E41CBB4B6FBF}"/>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061681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2635F0-0621-19B6-CEBB-2DA99B0A5F15}"/>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3" name="Footer Placeholder 2">
            <a:extLst>
              <a:ext uri="{FF2B5EF4-FFF2-40B4-BE49-F238E27FC236}">
                <a16:creationId xmlns:a16="http://schemas.microsoft.com/office/drawing/2014/main" id="{B7E7C2D4-36A0-AEDD-7827-9699095658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4D4B5-0E77-45DD-397F-DC9523829C43}"/>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69065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28B8-8222-D4CC-AD3E-8823C9372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913448-EC56-96A7-83EF-BB1460D524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DACB9F-D95A-FBF5-841A-7BDD26FBD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54B0E-5156-74C1-1F8D-3C02658B88F4}"/>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6" name="Footer Placeholder 5">
            <a:extLst>
              <a:ext uri="{FF2B5EF4-FFF2-40B4-BE49-F238E27FC236}">
                <a16:creationId xmlns:a16="http://schemas.microsoft.com/office/drawing/2014/main" id="{75E83443-993F-520B-D1E8-C01B9BBA67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A63BB8-E228-69BC-F86F-162A616292D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86676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F312B-4AD9-7652-CF0A-11C9821BBA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62CF47-C0D0-4D17-C458-6B3D406B9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BB4B58-29FC-5806-A0BA-A160E7CBE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47A43-FD19-2BFD-4F46-E1FFBC60C13C}"/>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6" name="Footer Placeholder 5">
            <a:extLst>
              <a:ext uri="{FF2B5EF4-FFF2-40B4-BE49-F238E27FC236}">
                <a16:creationId xmlns:a16="http://schemas.microsoft.com/office/drawing/2014/main" id="{A236F4F9-659F-10BF-FC2F-C321D8231F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C9AF71-3F37-AFCE-3FDC-D9721BD0ED88}"/>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42001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EBA3-B679-B1CB-838D-228BDA4DA7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2E0952-F558-BF5D-15A5-FFBB52092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34EBA5-D4FC-502F-AE9B-0BD97BA25C7C}"/>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31481F3C-108C-F7AD-989D-1C3A647CD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59B2DA-9AAB-306F-0890-CB73D6FF5519}"/>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270047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062C5B-EDCA-7003-8C99-0E4461F5B9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1EB763-884E-4220-1D00-659511A753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FB85E-BD7A-CD82-2DDE-F9B61FBFF81D}"/>
              </a:ext>
            </a:extLst>
          </p:cNvPr>
          <p:cNvSpPr>
            <a:spLocks noGrp="1"/>
          </p:cNvSpPr>
          <p:nvPr>
            <p:ph type="dt" sz="half" idx="10"/>
          </p:nvPr>
        </p:nvSpPr>
        <p:spPr/>
        <p:txBody>
          <a:body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19441568-7D86-EAF3-F0CF-89BCE6F09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3B54C-A307-4EA3-1561-824196434C4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84614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41F021-36FD-A31C-C96D-5845F895A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A4341A-649A-56BC-6DFC-E516DA2864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3051E-A922-5F4F-B0D7-609AF03600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589B0B-5188-4D45-A97C-F7B7FDFF6E18}" type="datetimeFigureOut">
              <a:rPr lang="en-US" smtClean="0"/>
              <a:t>7/20/2026</a:t>
            </a:fld>
            <a:endParaRPr lang="en-US"/>
          </a:p>
        </p:txBody>
      </p:sp>
      <p:sp>
        <p:nvSpPr>
          <p:cNvPr id="5" name="Footer Placeholder 4">
            <a:extLst>
              <a:ext uri="{FF2B5EF4-FFF2-40B4-BE49-F238E27FC236}">
                <a16:creationId xmlns:a16="http://schemas.microsoft.com/office/drawing/2014/main" id="{0D8F79BE-02A2-B12D-BCE2-616B003E48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B09B74-7E7F-C8A3-AFAA-080E517A69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E3ABD7-1FB4-4BBB-940C-46E529EF4977}" type="slidenum">
              <a:rPr lang="en-US" smtClean="0"/>
              <a:t>‹#›</a:t>
            </a:fld>
            <a:endParaRPr lang="en-US"/>
          </a:p>
        </p:txBody>
      </p:sp>
    </p:spTree>
    <p:extLst>
      <p:ext uri="{BB962C8B-B14F-4D97-AF65-F5344CB8AC3E}">
        <p14:creationId xmlns:p14="http://schemas.microsoft.com/office/powerpoint/2010/main" val="3075893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853F-2527-ECC0-11AD-CAB500EC55C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24EF8C5-137E-93DD-7385-AB277D5622DB}"/>
              </a:ext>
            </a:extLst>
          </p:cNvPr>
          <p:cNvSpPr/>
          <p:nvPr/>
        </p:nvSpPr>
        <p:spPr>
          <a:xfrm>
            <a:off x="9175680" y="4611330"/>
            <a:ext cx="2898331" cy="1960050"/>
          </a:xfrm>
          <a:prstGeom prst="rect">
            <a:avLst/>
          </a:prstGeom>
          <a:solidFill>
            <a:srgbClr val="B3A369"/>
          </a:solidFill>
          <a:ln>
            <a:solidFill>
              <a:srgbClr val="B3A3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3FE5AFB-5803-A27D-5626-43AEE1F0020A}"/>
              </a:ext>
            </a:extLst>
          </p:cNvPr>
          <p:cNvSpPr/>
          <p:nvPr/>
        </p:nvSpPr>
        <p:spPr>
          <a:xfrm>
            <a:off x="98321" y="117987"/>
            <a:ext cx="8961559" cy="645339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924B1D-D513-B497-3EA6-E8C16094D068}"/>
              </a:ext>
            </a:extLst>
          </p:cNvPr>
          <p:cNvSpPr>
            <a:spLocks noGrp="1"/>
          </p:cNvSpPr>
          <p:nvPr>
            <p:ph type="ctrTitle"/>
          </p:nvPr>
        </p:nvSpPr>
        <p:spPr>
          <a:xfrm>
            <a:off x="235972" y="837708"/>
            <a:ext cx="6735098" cy="2370557"/>
          </a:xfrm>
        </p:spPr>
        <p:txBody>
          <a:bodyPr>
            <a:normAutofit/>
          </a:bodyPr>
          <a:lstStyle/>
          <a:p>
            <a:pPr algn="l"/>
            <a:r>
              <a:rPr lang="en-US" b="1" dirty="0">
                <a:solidFill>
                  <a:schemeClr val="bg1"/>
                </a:solidFill>
              </a:rPr>
              <a:t>An Introduction</a:t>
            </a:r>
          </a:p>
        </p:txBody>
      </p:sp>
      <p:sp>
        <p:nvSpPr>
          <p:cNvPr id="3" name="Subtitle 2">
            <a:extLst>
              <a:ext uri="{FF2B5EF4-FFF2-40B4-BE49-F238E27FC236}">
                <a16:creationId xmlns:a16="http://schemas.microsoft.com/office/drawing/2014/main" id="{EB3828B2-1AA9-3AC8-FC1D-CD56F6B92BBC}"/>
              </a:ext>
            </a:extLst>
          </p:cNvPr>
          <p:cNvSpPr>
            <a:spLocks noGrp="1"/>
          </p:cNvSpPr>
          <p:nvPr>
            <p:ph type="subTitle" idx="1"/>
          </p:nvPr>
        </p:nvSpPr>
        <p:spPr>
          <a:xfrm>
            <a:off x="9175680" y="5122605"/>
            <a:ext cx="2782531" cy="1202969"/>
          </a:xfrm>
        </p:spPr>
        <p:txBody>
          <a:bodyPr>
            <a:normAutofit/>
          </a:bodyPr>
          <a:lstStyle/>
          <a:p>
            <a:pPr algn="r"/>
            <a:r>
              <a:rPr lang="en-US" b="1" dirty="0">
                <a:solidFill>
                  <a:schemeClr val="bg1"/>
                </a:solidFill>
              </a:rPr>
              <a:t>Connor Churko</a:t>
            </a:r>
          </a:p>
          <a:p>
            <a:pPr algn="r"/>
            <a:endParaRPr lang="en-US" sz="1800" dirty="0">
              <a:solidFill>
                <a:schemeClr val="bg1"/>
              </a:solidFill>
            </a:endParaRPr>
          </a:p>
          <a:p>
            <a:pPr algn="r"/>
            <a:r>
              <a:rPr lang="en-US" sz="1800" dirty="0">
                <a:solidFill>
                  <a:schemeClr val="bg1"/>
                </a:solidFill>
              </a:rPr>
              <a:t>5/29/2026</a:t>
            </a:r>
          </a:p>
        </p:txBody>
      </p:sp>
      <p:sp>
        <p:nvSpPr>
          <p:cNvPr id="5" name="TextBox 4">
            <a:extLst>
              <a:ext uri="{FF2B5EF4-FFF2-40B4-BE49-F238E27FC236}">
                <a16:creationId xmlns:a16="http://schemas.microsoft.com/office/drawing/2014/main" id="{7AEE7114-2EC0-7CAD-6205-C09B7253021D}"/>
              </a:ext>
            </a:extLst>
          </p:cNvPr>
          <p:cNvSpPr txBox="1"/>
          <p:nvPr/>
        </p:nvSpPr>
        <p:spPr>
          <a:xfrm>
            <a:off x="235972" y="3429000"/>
            <a:ext cx="6022588" cy="461665"/>
          </a:xfrm>
          <a:prstGeom prst="rect">
            <a:avLst/>
          </a:prstGeom>
          <a:noFill/>
        </p:spPr>
        <p:txBody>
          <a:bodyPr wrap="square">
            <a:spAutoFit/>
          </a:bodyPr>
          <a:lstStyle/>
          <a:p>
            <a:r>
              <a:rPr lang="en-US" sz="2400" dirty="0">
                <a:solidFill>
                  <a:schemeClr val="bg1"/>
                </a:solidFill>
              </a:rPr>
              <a:t>Background, Motivation, and Experience</a:t>
            </a:r>
          </a:p>
        </p:txBody>
      </p:sp>
      <p:sp>
        <p:nvSpPr>
          <p:cNvPr id="8" name="Rectangle 7">
            <a:extLst>
              <a:ext uri="{FF2B5EF4-FFF2-40B4-BE49-F238E27FC236}">
                <a16:creationId xmlns:a16="http://schemas.microsoft.com/office/drawing/2014/main" id="{2CB60DE4-4651-3980-836B-309CA9A2EB12}"/>
              </a:ext>
            </a:extLst>
          </p:cNvPr>
          <p:cNvSpPr/>
          <p:nvPr/>
        </p:nvSpPr>
        <p:spPr>
          <a:xfrm flipV="1">
            <a:off x="353961" y="3250054"/>
            <a:ext cx="103238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A7E2790-08A4-31EB-FF06-0D0F7FEC7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5680" y="112000"/>
            <a:ext cx="2898331" cy="4347497"/>
          </a:xfrm>
          <a:prstGeom prst="rect">
            <a:avLst/>
          </a:prstGeom>
        </p:spPr>
      </p:pic>
    </p:spTree>
    <p:extLst>
      <p:ext uri="{BB962C8B-B14F-4D97-AF65-F5344CB8AC3E}">
        <p14:creationId xmlns:p14="http://schemas.microsoft.com/office/powerpoint/2010/main" val="4041917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C85D-0F99-D12D-A700-BF849719BE3A}"/>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95052A3-ADD6-3103-709F-F3CB12039416}"/>
              </a:ext>
            </a:extLst>
          </p:cNvPr>
          <p:cNvGraphicFramePr>
            <a:graphicFrameLocks noGrp="1"/>
          </p:cNvGraphicFramePr>
          <p:nvPr>
            <p:extLst>
              <p:ext uri="{D42A27DB-BD31-4B8C-83A1-F6EECF244321}">
                <p14:modId xmlns:p14="http://schemas.microsoft.com/office/powerpoint/2010/main" val="3089330221"/>
              </p:ext>
            </p:extLst>
          </p:nvPr>
        </p:nvGraphicFramePr>
        <p:xfrm>
          <a:off x="450273" y="1319106"/>
          <a:ext cx="11206018" cy="2651760"/>
        </p:xfrm>
        <a:graphic>
          <a:graphicData uri="http://schemas.openxmlformats.org/drawingml/2006/table">
            <a:tbl>
              <a:tblPr firstRow="1" bandRow="1">
                <a:tableStyleId>{5C22544A-7EE6-4342-B048-85BDC9FD1C3A}</a:tableStyleId>
              </a:tblPr>
              <a:tblGrid>
                <a:gridCol w="5603009">
                  <a:extLst>
                    <a:ext uri="{9D8B030D-6E8A-4147-A177-3AD203B41FA5}">
                      <a16:colId xmlns:a16="http://schemas.microsoft.com/office/drawing/2014/main" val="3023759274"/>
                    </a:ext>
                  </a:extLst>
                </a:gridCol>
                <a:gridCol w="5603009">
                  <a:extLst>
                    <a:ext uri="{9D8B030D-6E8A-4147-A177-3AD203B41FA5}">
                      <a16:colId xmlns:a16="http://schemas.microsoft.com/office/drawing/2014/main" val="4152876870"/>
                    </a:ext>
                  </a:extLst>
                </a:gridCol>
              </a:tblGrid>
              <a:tr h="2521374">
                <a:tc>
                  <a:txBody>
                    <a:bodyPr/>
                    <a:lstStyle/>
                    <a:p>
                      <a:r>
                        <a:rPr lang="en-US" sz="2400" b="1" dirty="0">
                          <a:solidFill>
                            <a:schemeClr val="tx1"/>
                          </a:solidFill>
                        </a:rPr>
                        <a:t>Education</a:t>
                      </a:r>
                    </a:p>
                    <a:p>
                      <a:pPr>
                        <a:buFontTx/>
                        <a:buChar char="-"/>
                      </a:pPr>
                      <a:r>
                        <a:rPr lang="en-US" sz="2400" b="0" dirty="0">
                          <a:solidFill>
                            <a:schemeClr val="tx1"/>
                          </a:solidFill>
                        </a:rPr>
                        <a:t>BS: Physics/Astronomy (University of Maryland)</a:t>
                      </a:r>
                    </a:p>
                    <a:p>
                      <a:pPr>
                        <a:buFontTx/>
                        <a:buNone/>
                      </a:pPr>
                      <a:endParaRPr lang="en-US" sz="2400" b="0" dirty="0">
                        <a:solidFill>
                          <a:schemeClr val="tx1"/>
                        </a:solidFill>
                      </a:endParaRPr>
                    </a:p>
                    <a:p>
                      <a:pPr>
                        <a:buFontTx/>
                        <a:buChar char="-"/>
                      </a:pPr>
                      <a:r>
                        <a:rPr lang="en-US" sz="2400" b="0" dirty="0">
                          <a:solidFill>
                            <a:schemeClr val="tx1"/>
                          </a:solidFill>
                        </a:rPr>
                        <a:t>MS (Exp. 2027): Aerospace Engineering (Georgia Tech)</a:t>
                      </a:r>
                    </a:p>
                    <a:p>
                      <a:endParaRPr lang="en-US" sz="2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2400" b="1" dirty="0">
                          <a:solidFill>
                            <a:schemeClr val="tx1"/>
                          </a:solidFill>
                        </a:rPr>
                        <a:t>Professional</a:t>
                      </a:r>
                    </a:p>
                    <a:p>
                      <a:pPr>
                        <a:buFontTx/>
                        <a:buChar char="-"/>
                      </a:pPr>
                      <a:r>
                        <a:rPr lang="en-US" sz="2400" b="0" dirty="0">
                          <a:solidFill>
                            <a:schemeClr val="tx1"/>
                          </a:solidFill>
                        </a:rPr>
                        <a:t>University of Maryland Research</a:t>
                      </a:r>
                    </a:p>
                    <a:p>
                      <a:pPr>
                        <a:buFontTx/>
                        <a:buChar char="-"/>
                      </a:pPr>
                      <a:r>
                        <a:rPr lang="en-US" sz="2400" b="0" dirty="0">
                          <a:solidFill>
                            <a:schemeClr val="tx1"/>
                          </a:solidFill>
                        </a:rPr>
                        <a:t>System Engineering Group, Inc (now Axient)</a:t>
                      </a:r>
                    </a:p>
                    <a:p>
                      <a:pPr>
                        <a:buFontTx/>
                        <a:buChar char="-"/>
                      </a:pPr>
                      <a:r>
                        <a:rPr lang="en-US" sz="2400" b="0" dirty="0">
                          <a:solidFill>
                            <a:schemeClr val="tx1"/>
                          </a:solidFill>
                        </a:rPr>
                        <a:t>Northrop Grumman Corporation</a:t>
                      </a:r>
                    </a:p>
                    <a:p>
                      <a:endParaRPr lang="en-US" sz="2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61487655"/>
                  </a:ext>
                </a:extLst>
              </a:tr>
            </a:tbl>
          </a:graphicData>
        </a:graphic>
      </p:graphicFrame>
      <p:sp>
        <p:nvSpPr>
          <p:cNvPr id="2" name="Title 1">
            <a:extLst>
              <a:ext uri="{FF2B5EF4-FFF2-40B4-BE49-F238E27FC236}">
                <a16:creationId xmlns:a16="http://schemas.microsoft.com/office/drawing/2014/main" id="{2F0B9673-53CB-A612-0DF0-DF76C3C23271}"/>
              </a:ext>
            </a:extLst>
          </p:cNvPr>
          <p:cNvSpPr>
            <a:spLocks noGrp="1"/>
          </p:cNvSpPr>
          <p:nvPr>
            <p:ph type="title"/>
          </p:nvPr>
        </p:nvSpPr>
        <p:spPr/>
        <p:txBody>
          <a:bodyPr>
            <a:normAutofit fontScale="90000"/>
          </a:bodyPr>
          <a:lstStyle/>
          <a:p>
            <a:r>
              <a:rPr lang="en-US" dirty="0"/>
              <a:t>About Me</a:t>
            </a:r>
          </a:p>
        </p:txBody>
      </p:sp>
      <p:pic>
        <p:nvPicPr>
          <p:cNvPr id="6" name="Picture 5" descr="University of Maryland, College Park - Wikipedia">
            <a:extLst>
              <a:ext uri="{FF2B5EF4-FFF2-40B4-BE49-F238E27FC236}">
                <a16:creationId xmlns:a16="http://schemas.microsoft.com/office/drawing/2014/main" id="{91172E27-41EB-AA14-8151-5C3AD45CEFB3}"/>
              </a:ext>
            </a:extLst>
          </p:cNvPr>
          <p:cNvPicPr>
            <a:picLocks noChangeAspect="1"/>
          </p:cNvPicPr>
          <p:nvPr/>
        </p:nvPicPr>
        <p:blipFill>
          <a:blip r:embed="rId2"/>
          <a:stretch>
            <a:fillRect/>
          </a:stretch>
        </p:blipFill>
        <p:spPr>
          <a:xfrm>
            <a:off x="834636" y="3872114"/>
            <a:ext cx="1016000" cy="1016000"/>
          </a:xfrm>
          <a:prstGeom prst="rect">
            <a:avLst/>
          </a:prstGeom>
        </p:spPr>
      </p:pic>
      <p:pic>
        <p:nvPicPr>
          <p:cNvPr id="7" name="Picture 6" descr="File:Georgia Tech Yellow Jackets logo.svg - Wikimedia Commons">
            <a:extLst>
              <a:ext uri="{FF2B5EF4-FFF2-40B4-BE49-F238E27FC236}">
                <a16:creationId xmlns:a16="http://schemas.microsoft.com/office/drawing/2014/main" id="{3EA8D0C4-7CE0-4D08-FA87-14A5073602FD}"/>
              </a:ext>
            </a:extLst>
          </p:cNvPr>
          <p:cNvPicPr>
            <a:picLocks noChangeAspect="1"/>
          </p:cNvPicPr>
          <p:nvPr/>
        </p:nvPicPr>
        <p:blipFill>
          <a:blip r:embed="rId3"/>
          <a:stretch>
            <a:fillRect/>
          </a:stretch>
        </p:blipFill>
        <p:spPr>
          <a:xfrm>
            <a:off x="1850636" y="4888114"/>
            <a:ext cx="1436456" cy="905641"/>
          </a:xfrm>
          <a:prstGeom prst="rect">
            <a:avLst/>
          </a:prstGeom>
        </p:spPr>
      </p:pic>
      <p:pic>
        <p:nvPicPr>
          <p:cNvPr id="9" name="Picture 8" descr="Viper demo at F-AIR 2025 —">
            <a:extLst>
              <a:ext uri="{FF2B5EF4-FFF2-40B4-BE49-F238E27FC236}">
                <a16:creationId xmlns:a16="http://schemas.microsoft.com/office/drawing/2014/main" id="{6E899534-1871-05EF-4F12-16376C0E8B36}"/>
              </a:ext>
            </a:extLst>
          </p:cNvPr>
          <p:cNvPicPr>
            <a:picLocks noChangeAspect="1"/>
          </p:cNvPicPr>
          <p:nvPr/>
        </p:nvPicPr>
        <p:blipFill>
          <a:blip r:embed="rId4"/>
          <a:stretch>
            <a:fillRect/>
          </a:stretch>
        </p:blipFill>
        <p:spPr>
          <a:xfrm>
            <a:off x="8866894" y="4136451"/>
            <a:ext cx="2948940" cy="1657304"/>
          </a:xfrm>
          <a:prstGeom prst="rect">
            <a:avLst/>
          </a:prstGeom>
        </p:spPr>
      </p:pic>
      <p:sp>
        <p:nvSpPr>
          <p:cNvPr id="12" name="TextBox 11">
            <a:extLst>
              <a:ext uri="{FF2B5EF4-FFF2-40B4-BE49-F238E27FC236}">
                <a16:creationId xmlns:a16="http://schemas.microsoft.com/office/drawing/2014/main" id="{9DCA39D7-22A2-03BC-E27B-9ACD75611762}"/>
              </a:ext>
            </a:extLst>
          </p:cNvPr>
          <p:cNvSpPr txBox="1"/>
          <p:nvPr/>
        </p:nvSpPr>
        <p:spPr>
          <a:xfrm>
            <a:off x="3556000" y="4095090"/>
            <a:ext cx="5080000" cy="1815882"/>
          </a:xfrm>
          <a:prstGeom prst="rect">
            <a:avLst/>
          </a:prstGeom>
          <a:noFill/>
          <a:ln>
            <a:solidFill>
              <a:schemeClr val="tx1"/>
            </a:solidFill>
          </a:ln>
        </p:spPr>
        <p:txBody>
          <a:bodyPr wrap="square">
            <a:spAutoFit/>
          </a:bodyPr>
          <a:lstStyle/>
          <a:p>
            <a:pPr algn="ctr"/>
            <a:r>
              <a:rPr lang="en-US" sz="2800" b="1" dirty="0">
                <a:solidFill>
                  <a:schemeClr val="tx1"/>
                </a:solidFill>
              </a:rPr>
              <a:t>Motivation</a:t>
            </a:r>
          </a:p>
          <a:p>
            <a:pPr algn="ctr">
              <a:buFontTx/>
              <a:buChar char="-"/>
            </a:pPr>
            <a:r>
              <a:rPr lang="en-US" sz="2800" dirty="0">
                <a:solidFill>
                  <a:schemeClr val="tx1"/>
                </a:solidFill>
              </a:rPr>
              <a:t>Solving problems</a:t>
            </a:r>
          </a:p>
          <a:p>
            <a:pPr algn="ctr">
              <a:buFontTx/>
              <a:buChar char="-"/>
            </a:pPr>
            <a:r>
              <a:rPr lang="en-US" sz="2800" dirty="0">
                <a:solidFill>
                  <a:schemeClr val="tx1"/>
                </a:solidFill>
              </a:rPr>
              <a:t>Seeing solutions come to life</a:t>
            </a:r>
          </a:p>
          <a:p>
            <a:pPr algn="ctr">
              <a:buFontTx/>
              <a:buChar char="-"/>
            </a:pPr>
            <a:r>
              <a:rPr lang="en-US" sz="2800" dirty="0">
                <a:solidFill>
                  <a:schemeClr val="tx1"/>
                </a:solidFill>
              </a:rPr>
              <a:t>The Air Show “Propaganda”</a:t>
            </a:r>
          </a:p>
        </p:txBody>
      </p:sp>
    </p:spTree>
    <p:extLst>
      <p:ext uri="{BB962C8B-B14F-4D97-AF65-F5344CB8AC3E}">
        <p14:creationId xmlns:p14="http://schemas.microsoft.com/office/powerpoint/2010/main" val="2391929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9BAA-2840-3835-19D5-EA91FE3D0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1AF07-2D41-E8A6-00F6-F942C0C9FF06}"/>
              </a:ext>
            </a:extLst>
          </p:cNvPr>
          <p:cNvSpPr>
            <a:spLocks noGrp="1"/>
          </p:cNvSpPr>
          <p:nvPr>
            <p:ph type="title"/>
          </p:nvPr>
        </p:nvSpPr>
        <p:spPr>
          <a:xfrm>
            <a:off x="450273" y="212386"/>
            <a:ext cx="11206018" cy="937300"/>
          </a:xfrm>
        </p:spPr>
        <p:txBody>
          <a:bodyPr>
            <a:normAutofit fontScale="90000"/>
          </a:bodyPr>
          <a:lstStyle/>
          <a:p>
            <a:r>
              <a:rPr lang="en-US" dirty="0"/>
              <a:t>Technical Experience</a:t>
            </a:r>
            <a:br>
              <a:rPr lang="en-US" dirty="0"/>
            </a:br>
            <a:r>
              <a:rPr lang="en-US" sz="3600" b="0" dirty="0"/>
              <a:t>Systems Engineer | Northrop Grumman</a:t>
            </a:r>
            <a:endParaRPr lang="en-US" b="0" dirty="0"/>
          </a:p>
        </p:txBody>
      </p:sp>
      <p:graphicFrame>
        <p:nvGraphicFramePr>
          <p:cNvPr id="4" name="Table 3">
            <a:extLst>
              <a:ext uri="{FF2B5EF4-FFF2-40B4-BE49-F238E27FC236}">
                <a16:creationId xmlns:a16="http://schemas.microsoft.com/office/drawing/2014/main" id="{0D923F69-E121-E5A1-EC1B-1C23A4FED38E}"/>
              </a:ext>
            </a:extLst>
          </p:cNvPr>
          <p:cNvGraphicFramePr>
            <a:graphicFrameLocks noGrp="1"/>
          </p:cNvGraphicFramePr>
          <p:nvPr>
            <p:extLst>
              <p:ext uri="{D42A27DB-BD31-4B8C-83A1-F6EECF244321}">
                <p14:modId xmlns:p14="http://schemas.microsoft.com/office/powerpoint/2010/main" val="896070389"/>
              </p:ext>
            </p:extLst>
          </p:nvPr>
        </p:nvGraphicFramePr>
        <p:xfrm>
          <a:off x="450273" y="1327683"/>
          <a:ext cx="11456592" cy="5135713"/>
        </p:xfrm>
        <a:graphic>
          <a:graphicData uri="http://schemas.openxmlformats.org/drawingml/2006/table">
            <a:tbl>
              <a:tblPr firstRow="1" bandRow="1">
                <a:tableStyleId>{5C22544A-7EE6-4342-B048-85BDC9FD1C3A}</a:tableStyleId>
              </a:tblPr>
              <a:tblGrid>
                <a:gridCol w="3818864">
                  <a:extLst>
                    <a:ext uri="{9D8B030D-6E8A-4147-A177-3AD203B41FA5}">
                      <a16:colId xmlns:a16="http://schemas.microsoft.com/office/drawing/2014/main" val="181665880"/>
                    </a:ext>
                  </a:extLst>
                </a:gridCol>
                <a:gridCol w="3818864">
                  <a:extLst>
                    <a:ext uri="{9D8B030D-6E8A-4147-A177-3AD203B41FA5}">
                      <a16:colId xmlns:a16="http://schemas.microsoft.com/office/drawing/2014/main" val="3425741328"/>
                    </a:ext>
                  </a:extLst>
                </a:gridCol>
                <a:gridCol w="3818864">
                  <a:extLst>
                    <a:ext uri="{9D8B030D-6E8A-4147-A177-3AD203B41FA5}">
                      <a16:colId xmlns:a16="http://schemas.microsoft.com/office/drawing/2014/main" val="3411644766"/>
                    </a:ext>
                  </a:extLst>
                </a:gridCol>
              </a:tblGrid>
              <a:tr h="2685517">
                <a:tc gridSpan="3">
                  <a:txBody>
                    <a:bodyPr/>
                    <a:lstStyle/>
                    <a:p>
                      <a:r>
                        <a:rPr lang="en-US" sz="2000" b="1" dirty="0">
                          <a:solidFill>
                            <a:schemeClr val="tx1"/>
                          </a:solidFill>
                        </a:rPr>
                        <a:t>Propulsion Lead</a:t>
                      </a:r>
                    </a:p>
                    <a:p>
                      <a:pPr marL="285750" indent="-285750">
                        <a:buFontTx/>
                        <a:buChar char="-"/>
                      </a:pPr>
                      <a:r>
                        <a:rPr lang="en-US" sz="2000" b="0" dirty="0">
                          <a:solidFill>
                            <a:schemeClr val="tx1"/>
                          </a:solidFill>
                        </a:rPr>
                        <a:t>Leading integration of 100 </a:t>
                      </a:r>
                      <a:r>
                        <a:rPr lang="en-US" sz="2000" b="0" dirty="0" err="1">
                          <a:solidFill>
                            <a:schemeClr val="tx1"/>
                          </a:solidFill>
                        </a:rPr>
                        <a:t>lbf</a:t>
                      </a:r>
                      <a:r>
                        <a:rPr lang="en-US" sz="2000" b="0" dirty="0">
                          <a:solidFill>
                            <a:schemeClr val="tx1"/>
                          </a:solidFill>
                        </a:rPr>
                        <a:t> thrust class turbojet into group 3 UAS from prime side</a:t>
                      </a:r>
                    </a:p>
                    <a:p>
                      <a:pPr marL="285750" indent="-285750">
                        <a:buFontTx/>
                        <a:buChar char="-"/>
                      </a:pPr>
                      <a:r>
                        <a:rPr lang="en-US" sz="2000" b="0" dirty="0">
                          <a:solidFill>
                            <a:schemeClr val="tx1"/>
                          </a:solidFill>
                        </a:rPr>
                        <a:t>Working across multiple teams and companies to manage engine level requirements, risk, and suppliers</a:t>
                      </a:r>
                    </a:p>
                    <a:p>
                      <a:pPr marL="285750" indent="-285750">
                        <a:buFontTx/>
                        <a:buChar char="-"/>
                      </a:pPr>
                      <a:r>
                        <a:rPr lang="en-US" sz="2000" b="0" dirty="0">
                          <a:solidFill>
                            <a:schemeClr val="tx1"/>
                          </a:solidFill>
                        </a:rPr>
                        <a:t>Owner of supplier cycle model analysis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000" b="0" dirty="0">
                          <a:solidFill>
                            <a:schemeClr val="tx1"/>
                          </a:solidFill>
                        </a:rPr>
                        <a:t>Supporting development of engine test plans given cycle analysis and risk assessments</a:t>
                      </a:r>
                    </a:p>
                    <a:p>
                      <a:pPr marL="285750" indent="-285750">
                        <a:buFontTx/>
                        <a:buChar char="-"/>
                      </a:pPr>
                      <a:r>
                        <a:rPr lang="en-US" sz="2000" b="0" dirty="0">
                          <a:solidFill>
                            <a:schemeClr val="tx1"/>
                          </a:solidFill>
                        </a:rPr>
                        <a:t>Owner of vehicle mission level AFSIM model integrating NPSS cycle model</a:t>
                      </a:r>
                    </a:p>
                    <a:p>
                      <a:pPr marL="285750" indent="-285750">
                        <a:buFontTx/>
                        <a:buChar char="-"/>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4849271"/>
                  </a:ext>
                </a:extLst>
              </a:tr>
              <a:tr h="2450196">
                <a:tc>
                  <a:txBody>
                    <a:bodyPr/>
                    <a:lstStyle/>
                    <a:p>
                      <a:r>
                        <a:rPr lang="en-US" b="1" dirty="0">
                          <a:solidFill>
                            <a:schemeClr val="tx1"/>
                          </a:solidFill>
                        </a:rPr>
                        <a:t>Mission Level MS&amp;A</a:t>
                      </a:r>
                    </a:p>
                    <a:p>
                      <a:pPr marL="285750" indent="-285750">
                        <a:buFontTx/>
                        <a:buChar char="-"/>
                      </a:pPr>
                      <a:r>
                        <a:rPr lang="en-US" b="0" dirty="0">
                          <a:solidFill>
                            <a:schemeClr val="tx1"/>
                          </a:solidFill>
                        </a:rPr>
                        <a:t>Lead AFSIM developer for theater level mission modeling</a:t>
                      </a:r>
                    </a:p>
                    <a:p>
                      <a:pPr marL="285750" indent="-285750">
                        <a:buFontTx/>
                        <a:buChar char="-"/>
                      </a:pPr>
                      <a:r>
                        <a:rPr lang="en-US" b="0" dirty="0">
                          <a:solidFill>
                            <a:schemeClr val="tx1"/>
                          </a:solidFill>
                        </a:rPr>
                        <a:t>Evaluating kinetic and non-kinetic kill chains, electronic warfare performance, and single aircraft navigation and range analyses</a:t>
                      </a:r>
                    </a:p>
                    <a:p>
                      <a:pPr marL="285750" indent="-285750">
                        <a:buFontTx/>
                        <a:buChar char="-"/>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Antenna Subsystem I&amp;T</a:t>
                      </a:r>
                    </a:p>
                    <a:p>
                      <a:pPr marL="285750" indent="-285750">
                        <a:buFontTx/>
                        <a:buChar char="-"/>
                      </a:pPr>
                      <a:r>
                        <a:rPr lang="en-US" b="0" dirty="0">
                          <a:solidFill>
                            <a:schemeClr val="tx1"/>
                          </a:solidFill>
                        </a:rPr>
                        <a:t>Hands-on bench work integrating multi-level control, firmware, software, and RF hardware</a:t>
                      </a:r>
                    </a:p>
                    <a:p>
                      <a:pPr marL="285750" indent="-285750">
                        <a:buFontTx/>
                        <a:buChar char="-"/>
                      </a:pPr>
                      <a:r>
                        <a:rPr lang="en-US" b="0" dirty="0">
                          <a:solidFill>
                            <a:schemeClr val="tx1"/>
                          </a:solidFill>
                        </a:rPr>
                        <a:t>Owner of python post-processing data analysis algorithm used for flight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RF Modeling </a:t>
                      </a:r>
                    </a:p>
                    <a:p>
                      <a:pPr marL="285750" indent="-285750">
                        <a:buFontTx/>
                        <a:buChar char="-"/>
                      </a:pPr>
                      <a:r>
                        <a:rPr lang="en-US" b="0" dirty="0">
                          <a:solidFill>
                            <a:schemeClr val="tx1"/>
                          </a:solidFill>
                        </a:rPr>
                        <a:t>Owner and sole developer of MATLAB based RF modeling tools used for antenna calibration, radar signature generation, and data visualization\analysis</a:t>
                      </a:r>
                    </a:p>
                    <a:p>
                      <a:pPr marL="0" indent="0">
                        <a:buFontTx/>
                        <a:buNone/>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745006"/>
                  </a:ext>
                </a:extLst>
              </a:tr>
            </a:tbl>
          </a:graphicData>
        </a:graphic>
      </p:graphicFrame>
    </p:spTree>
    <p:extLst>
      <p:ext uri="{BB962C8B-B14F-4D97-AF65-F5344CB8AC3E}">
        <p14:creationId xmlns:p14="http://schemas.microsoft.com/office/powerpoint/2010/main" val="407592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F9E2D98-9096-E154-4D69-85062CEF80A3}"/>
              </a:ext>
            </a:extLst>
          </p:cNvPr>
          <p:cNvSpPr/>
          <p:nvPr/>
        </p:nvSpPr>
        <p:spPr>
          <a:xfrm>
            <a:off x="7214692" y="4705302"/>
            <a:ext cx="4859319" cy="1866077"/>
          </a:xfrm>
          <a:prstGeom prst="rect">
            <a:avLst/>
          </a:prstGeom>
          <a:solidFill>
            <a:srgbClr val="B3A369"/>
          </a:solidFill>
          <a:ln>
            <a:solidFill>
              <a:srgbClr val="B3A3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3469C04-6F90-6D50-C745-B786DDEFC357}"/>
              </a:ext>
            </a:extLst>
          </p:cNvPr>
          <p:cNvSpPr/>
          <p:nvPr/>
        </p:nvSpPr>
        <p:spPr>
          <a:xfrm>
            <a:off x="98321" y="117987"/>
            <a:ext cx="7010401" cy="645339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3F3E14-36DF-3ECF-B542-E0CB2F1B7B9A}"/>
              </a:ext>
            </a:extLst>
          </p:cNvPr>
          <p:cNvSpPr>
            <a:spLocks noGrp="1"/>
          </p:cNvSpPr>
          <p:nvPr>
            <p:ph type="ctrTitle"/>
          </p:nvPr>
        </p:nvSpPr>
        <p:spPr>
          <a:xfrm>
            <a:off x="235972" y="837708"/>
            <a:ext cx="6735098" cy="2370557"/>
          </a:xfrm>
        </p:spPr>
        <p:txBody>
          <a:bodyPr>
            <a:normAutofit fontScale="90000"/>
          </a:bodyPr>
          <a:lstStyle/>
          <a:p>
            <a:pPr algn="l"/>
            <a:r>
              <a:rPr lang="en-US" b="1" dirty="0">
                <a:solidFill>
                  <a:schemeClr val="bg1"/>
                </a:solidFill>
              </a:rPr>
              <a:t>Thermodynamic Cycle Design using NPSS</a:t>
            </a:r>
          </a:p>
        </p:txBody>
      </p:sp>
      <p:sp>
        <p:nvSpPr>
          <p:cNvPr id="3" name="Subtitle 2">
            <a:extLst>
              <a:ext uri="{FF2B5EF4-FFF2-40B4-BE49-F238E27FC236}">
                <a16:creationId xmlns:a16="http://schemas.microsoft.com/office/drawing/2014/main" id="{A559BF3F-1184-C75B-C9A5-C0ACE874D8F1}"/>
              </a:ext>
            </a:extLst>
          </p:cNvPr>
          <p:cNvSpPr>
            <a:spLocks noGrp="1"/>
          </p:cNvSpPr>
          <p:nvPr>
            <p:ph type="subTitle" idx="1"/>
          </p:nvPr>
        </p:nvSpPr>
        <p:spPr>
          <a:xfrm>
            <a:off x="8524568" y="5122605"/>
            <a:ext cx="3433643" cy="1202969"/>
          </a:xfrm>
        </p:spPr>
        <p:txBody>
          <a:bodyPr>
            <a:normAutofit fontScale="85000" lnSpcReduction="20000"/>
          </a:bodyPr>
          <a:lstStyle/>
          <a:p>
            <a:pPr algn="r"/>
            <a:r>
              <a:rPr lang="en-US" b="1" dirty="0">
                <a:solidFill>
                  <a:schemeClr val="bg1"/>
                </a:solidFill>
              </a:rPr>
              <a:t>Connor Churko</a:t>
            </a:r>
          </a:p>
          <a:p>
            <a:pPr algn="r"/>
            <a:r>
              <a:rPr lang="en-US" sz="1900" dirty="0">
                <a:solidFill>
                  <a:schemeClr val="bg1"/>
                </a:solidFill>
              </a:rPr>
              <a:t>Georgia Tech Aerospace Engineering</a:t>
            </a:r>
          </a:p>
          <a:p>
            <a:pPr algn="r"/>
            <a:endParaRPr lang="en-US" sz="1800" dirty="0">
              <a:solidFill>
                <a:schemeClr val="bg1"/>
              </a:solidFill>
            </a:endParaRPr>
          </a:p>
          <a:p>
            <a:pPr algn="r"/>
            <a:r>
              <a:rPr lang="en-US" sz="1800" dirty="0">
                <a:solidFill>
                  <a:schemeClr val="bg1"/>
                </a:solidFill>
              </a:rPr>
              <a:t>5/29/2026</a:t>
            </a:r>
          </a:p>
        </p:txBody>
      </p:sp>
      <p:sp>
        <p:nvSpPr>
          <p:cNvPr id="5" name="TextBox 4">
            <a:extLst>
              <a:ext uri="{FF2B5EF4-FFF2-40B4-BE49-F238E27FC236}">
                <a16:creationId xmlns:a16="http://schemas.microsoft.com/office/drawing/2014/main" id="{6F30A0EE-F44E-59CB-DBEE-0F57DF9184EE}"/>
              </a:ext>
            </a:extLst>
          </p:cNvPr>
          <p:cNvSpPr txBox="1"/>
          <p:nvPr/>
        </p:nvSpPr>
        <p:spPr>
          <a:xfrm>
            <a:off x="235972" y="3429000"/>
            <a:ext cx="6022588" cy="830997"/>
          </a:xfrm>
          <a:prstGeom prst="rect">
            <a:avLst/>
          </a:prstGeom>
          <a:noFill/>
        </p:spPr>
        <p:txBody>
          <a:bodyPr wrap="square">
            <a:spAutoFit/>
          </a:bodyPr>
          <a:lstStyle/>
          <a:p>
            <a:r>
              <a:rPr lang="en-US" sz="2400" dirty="0">
                <a:solidFill>
                  <a:schemeClr val="bg1"/>
                </a:solidFill>
              </a:rPr>
              <a:t>Development and Performance Analysis of a Separate Flow Turbofan</a:t>
            </a:r>
          </a:p>
        </p:txBody>
      </p:sp>
      <p:pic>
        <p:nvPicPr>
          <p:cNvPr id="6" name="Picture 5" descr="turbojet - Why the green inside newer turbofan engine nacelles? - Aviation  Stack Exchange">
            <a:extLst>
              <a:ext uri="{FF2B5EF4-FFF2-40B4-BE49-F238E27FC236}">
                <a16:creationId xmlns:a16="http://schemas.microsoft.com/office/drawing/2014/main" id="{70E15328-6D50-8184-2D79-18376CF65076}"/>
              </a:ext>
            </a:extLst>
          </p:cNvPr>
          <p:cNvPicPr>
            <a:picLocks noChangeAspect="1"/>
          </p:cNvPicPr>
          <p:nvPr/>
        </p:nvPicPr>
        <p:blipFill>
          <a:blip r:embed="rId2"/>
          <a:srcRect t="92" r="5527"/>
          <a:stretch>
            <a:fillRect/>
          </a:stretch>
        </p:blipFill>
        <p:spPr>
          <a:xfrm>
            <a:off x="7214693" y="117987"/>
            <a:ext cx="4859318" cy="2890684"/>
          </a:xfrm>
          <a:prstGeom prst="rect">
            <a:avLst/>
          </a:prstGeom>
        </p:spPr>
      </p:pic>
      <p:sp>
        <p:nvSpPr>
          <p:cNvPr id="8" name="Rectangle 7">
            <a:extLst>
              <a:ext uri="{FF2B5EF4-FFF2-40B4-BE49-F238E27FC236}">
                <a16:creationId xmlns:a16="http://schemas.microsoft.com/office/drawing/2014/main" id="{C4A084AC-CC9F-665A-E5B7-86B03E9899C6}"/>
              </a:ext>
            </a:extLst>
          </p:cNvPr>
          <p:cNvSpPr/>
          <p:nvPr/>
        </p:nvSpPr>
        <p:spPr>
          <a:xfrm flipV="1">
            <a:off x="353961" y="3250054"/>
            <a:ext cx="103238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F151248-AED7-1B51-B37A-005C16CF5510}"/>
              </a:ext>
            </a:extLst>
          </p:cNvPr>
          <p:cNvPicPr>
            <a:picLocks noChangeAspect="1"/>
          </p:cNvPicPr>
          <p:nvPr/>
        </p:nvPicPr>
        <p:blipFill>
          <a:blip r:embed="rId3"/>
          <a:srcRect l="3075" t="23428" r="1959" b="13065"/>
          <a:stretch>
            <a:fillRect/>
          </a:stretch>
        </p:blipFill>
        <p:spPr>
          <a:xfrm>
            <a:off x="7214692" y="3008671"/>
            <a:ext cx="4859318" cy="1575898"/>
          </a:xfrm>
          <a:prstGeom prst="rect">
            <a:avLst/>
          </a:prstGeom>
        </p:spPr>
      </p:pic>
    </p:spTree>
    <p:extLst>
      <p:ext uri="{BB962C8B-B14F-4D97-AF65-F5344CB8AC3E}">
        <p14:creationId xmlns:p14="http://schemas.microsoft.com/office/powerpoint/2010/main" val="160423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7581-731F-5E2A-787D-02F34B850E56}"/>
              </a:ext>
            </a:extLst>
          </p:cNvPr>
          <p:cNvSpPr>
            <a:spLocks noGrp="1"/>
          </p:cNvSpPr>
          <p:nvPr>
            <p:ph type="title"/>
          </p:nvPr>
        </p:nvSpPr>
        <p:spPr/>
        <p:txBody>
          <a:bodyPr>
            <a:normAutofit fontScale="90000"/>
          </a:bodyPr>
          <a:lstStyle/>
          <a:p>
            <a:r>
              <a:rPr lang="en-US" dirty="0"/>
              <a:t>Overview</a:t>
            </a:r>
          </a:p>
        </p:txBody>
      </p:sp>
      <p:sp>
        <p:nvSpPr>
          <p:cNvPr id="3" name="Content Placeholder 2">
            <a:extLst>
              <a:ext uri="{FF2B5EF4-FFF2-40B4-BE49-F238E27FC236}">
                <a16:creationId xmlns:a16="http://schemas.microsoft.com/office/drawing/2014/main" id="{5486AD38-619E-9A6F-0637-39E5F503409D}"/>
              </a:ext>
            </a:extLst>
          </p:cNvPr>
          <p:cNvSpPr>
            <a:spLocks noGrp="1"/>
          </p:cNvSpPr>
          <p:nvPr>
            <p:ph idx="1"/>
          </p:nvPr>
        </p:nvSpPr>
        <p:spPr/>
        <p:txBody>
          <a:bodyPr/>
          <a:lstStyle/>
          <a:p>
            <a:pPr marL="0" indent="0">
              <a:buNone/>
            </a:pPr>
            <a:r>
              <a:rPr lang="en-US" u="sng" dirty="0"/>
              <a:t>Objective:</a:t>
            </a:r>
          </a:p>
          <a:p>
            <a:pPr marL="0" indent="0">
              <a:buNone/>
            </a:pPr>
            <a:r>
              <a:rPr lang="en-US" dirty="0"/>
              <a:t>Provided a specified engine design architecture for a single-aisle passenger aircraft and a pre-defined mission, develop an NPSS model for a separate flow turbofan engine and optimize to maximize aircraft range.</a:t>
            </a:r>
          </a:p>
          <a:p>
            <a:pPr marL="0" indent="0">
              <a:buNone/>
            </a:pPr>
            <a:endParaRPr lang="en-US" dirty="0"/>
          </a:p>
          <a:p>
            <a:pPr marL="0" indent="0">
              <a:buNone/>
            </a:pPr>
            <a:r>
              <a:rPr lang="en-US" u="sng" dirty="0"/>
              <a:t>Supplemental Work:</a:t>
            </a:r>
          </a:p>
          <a:p>
            <a:pPr marL="0" indent="0">
              <a:buNone/>
            </a:pPr>
            <a:r>
              <a:rPr lang="en-US" dirty="0"/>
              <a:t>Assumptions from provided parameters and simulation inputs have been backed out to provide additional context. Turbomachinery maps are also parsed and visualized to extend the projects depth.</a:t>
            </a:r>
          </a:p>
          <a:p>
            <a:pPr marL="0" indent="0">
              <a:buNone/>
            </a:pPr>
            <a:endParaRPr lang="en-US" dirty="0"/>
          </a:p>
        </p:txBody>
      </p:sp>
    </p:spTree>
    <p:extLst>
      <p:ext uri="{BB962C8B-B14F-4D97-AF65-F5344CB8AC3E}">
        <p14:creationId xmlns:p14="http://schemas.microsoft.com/office/powerpoint/2010/main" val="339094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DC70DF9E-2E8C-4E77-32F4-5809264C1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FB486-AA38-8ACE-C984-C3954F314DDA}"/>
              </a:ext>
            </a:extLst>
          </p:cNvPr>
          <p:cNvSpPr>
            <a:spLocks noGrp="1"/>
          </p:cNvSpPr>
          <p:nvPr>
            <p:ph type="title"/>
          </p:nvPr>
        </p:nvSpPr>
        <p:spPr/>
        <p:txBody>
          <a:bodyPr>
            <a:normAutofit fontScale="90000"/>
          </a:bodyPr>
          <a:lstStyle/>
          <a:p>
            <a:r>
              <a:rPr lang="en-US" dirty="0"/>
              <a:t>NPSS Development Process</a:t>
            </a:r>
          </a:p>
        </p:txBody>
      </p:sp>
      <p:sp>
        <p:nvSpPr>
          <p:cNvPr id="3" name="Content Placeholder 2">
            <a:extLst>
              <a:ext uri="{FF2B5EF4-FFF2-40B4-BE49-F238E27FC236}">
                <a16:creationId xmlns:a16="http://schemas.microsoft.com/office/drawing/2014/main" id="{81C31532-68D2-A36E-C4D2-06901EF937A3}"/>
              </a:ext>
            </a:extLst>
          </p:cNvPr>
          <p:cNvSpPr>
            <a:spLocks noGrp="1"/>
          </p:cNvSpPr>
          <p:nvPr>
            <p:ph idx="1"/>
          </p:nvPr>
        </p:nvSpPr>
        <p:spPr/>
        <p:txBody>
          <a:bodyPr>
            <a:normAutofit lnSpcReduction="10000"/>
          </a:bodyPr>
          <a:lstStyle/>
          <a:p>
            <a:pPr marL="571500" indent="-571500">
              <a:buFont typeface="+mj-lt"/>
              <a:buAutoNum type="romanLcPeriod"/>
            </a:pPr>
            <a:r>
              <a:rPr lang="en-US" dirty="0"/>
              <a:t>SFTF NPSS Model Development</a:t>
            </a:r>
          </a:p>
          <a:p>
            <a:pPr marL="571500" indent="-571500">
              <a:buFont typeface="+mj-lt"/>
              <a:buAutoNum type="romanLcPeriod"/>
            </a:pPr>
            <a:r>
              <a:rPr lang="en-US" dirty="0"/>
              <a:t>On-Design/Off-Design</a:t>
            </a:r>
          </a:p>
          <a:p>
            <a:pPr marL="1028700" lvl="1" indent="-571500">
              <a:buFont typeface="+mj-lt"/>
              <a:buAutoNum type="romanLcPeriod"/>
            </a:pPr>
            <a:r>
              <a:rPr lang="en-US" dirty="0"/>
              <a:t>Engine Sizing, Engine Deck Generation</a:t>
            </a:r>
          </a:p>
          <a:p>
            <a:pPr marL="571500" indent="-571500">
              <a:buFont typeface="+mj-lt"/>
              <a:buAutoNum type="romanLcPeriod"/>
            </a:pPr>
            <a:r>
              <a:rPr lang="en-US" dirty="0"/>
              <a:t>Engine Optimization Parameter Definitions</a:t>
            </a:r>
          </a:p>
          <a:p>
            <a:pPr marL="1028700" lvl="1" indent="-571500">
              <a:buFont typeface="+mj-lt"/>
              <a:buAutoNum type="romanLcPeriod"/>
            </a:pPr>
            <a:r>
              <a:rPr lang="en-US" dirty="0"/>
              <a:t>Objective Function</a:t>
            </a:r>
          </a:p>
          <a:p>
            <a:pPr marL="1028700" lvl="1" indent="-571500">
              <a:buFont typeface="+mj-lt"/>
              <a:buAutoNum type="romanLcPeriod"/>
            </a:pPr>
            <a:r>
              <a:rPr lang="en-US" dirty="0"/>
              <a:t>Design Variables</a:t>
            </a:r>
          </a:p>
          <a:p>
            <a:pPr marL="1028700" lvl="1" indent="-571500">
              <a:buFont typeface="+mj-lt"/>
              <a:buAutoNum type="romanLcPeriod"/>
            </a:pPr>
            <a:r>
              <a:rPr lang="en-US" dirty="0"/>
              <a:t>Constraints</a:t>
            </a:r>
          </a:p>
          <a:p>
            <a:pPr marL="1028700" lvl="1" indent="-571500">
              <a:buFont typeface="+mj-lt"/>
              <a:buAutoNum type="romanLcPeriod"/>
            </a:pPr>
            <a:r>
              <a:rPr lang="en-US" dirty="0"/>
              <a:t>Requirements</a:t>
            </a:r>
          </a:p>
          <a:p>
            <a:pPr marL="571500" indent="-571500">
              <a:buFont typeface="+mj-lt"/>
              <a:buAutoNum type="romanLcPeriod"/>
            </a:pPr>
            <a:r>
              <a:rPr lang="en-US" dirty="0"/>
              <a:t>FLOPS (Flight Optimization System) Execution</a:t>
            </a:r>
          </a:p>
          <a:p>
            <a:pPr marL="1028700" lvl="1" indent="-571500">
              <a:buFont typeface="+mj-lt"/>
              <a:buAutoNum type="romanLcPeriod"/>
            </a:pPr>
            <a:r>
              <a:rPr lang="en-US" dirty="0"/>
              <a:t>Aircraft Model, Mission Performance Evaluation</a:t>
            </a:r>
          </a:p>
          <a:p>
            <a:pPr marL="571500" indent="-571500">
              <a:buFont typeface="+mj-lt"/>
              <a:buAutoNum type="romanLcPeriod"/>
            </a:pPr>
            <a:r>
              <a:rPr lang="en-US" dirty="0"/>
              <a:t>Iteration</a:t>
            </a:r>
          </a:p>
          <a:p>
            <a:pPr marL="571500" indent="-571500">
              <a:buFont typeface="+mj-lt"/>
              <a:buAutoNum type="romanLcPeriod"/>
            </a:pPr>
            <a:endParaRPr lang="en-US" dirty="0"/>
          </a:p>
          <a:p>
            <a:pPr marL="514350" indent="-514350">
              <a:buAutoNum type="romanLcPeriod"/>
            </a:pPr>
            <a:endParaRPr lang="en-US" dirty="0"/>
          </a:p>
        </p:txBody>
      </p:sp>
    </p:spTree>
    <p:extLst>
      <p:ext uri="{BB962C8B-B14F-4D97-AF65-F5344CB8AC3E}">
        <p14:creationId xmlns:p14="http://schemas.microsoft.com/office/powerpoint/2010/main" val="196948745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CFEFADA-926A-7574-C26A-A9081F587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00AF-DD24-0AD8-2421-F3762E8C61D2}"/>
              </a:ext>
            </a:extLst>
          </p:cNvPr>
          <p:cNvSpPr>
            <a:spLocks noGrp="1"/>
          </p:cNvSpPr>
          <p:nvPr>
            <p:ph type="title"/>
          </p:nvPr>
        </p:nvSpPr>
        <p:spPr/>
        <p:txBody>
          <a:bodyPr>
            <a:normAutofit fontScale="90000"/>
          </a:bodyPr>
          <a:lstStyle/>
          <a:p>
            <a:r>
              <a:rPr lang="en-US" dirty="0"/>
              <a:t>Requirements</a:t>
            </a:r>
          </a:p>
        </p:txBody>
      </p:sp>
      <p:graphicFrame>
        <p:nvGraphicFramePr>
          <p:cNvPr id="4" name="Table 3">
            <a:extLst>
              <a:ext uri="{FF2B5EF4-FFF2-40B4-BE49-F238E27FC236}">
                <a16:creationId xmlns:a16="http://schemas.microsoft.com/office/drawing/2014/main" id="{60E81B8B-C53F-01D6-34CA-37F1284EDA1E}"/>
              </a:ext>
            </a:extLst>
          </p:cNvPr>
          <p:cNvGraphicFramePr>
            <a:graphicFrameLocks noGrp="1"/>
          </p:cNvGraphicFramePr>
          <p:nvPr>
            <p:extLst>
              <p:ext uri="{D42A27DB-BD31-4B8C-83A1-F6EECF244321}">
                <p14:modId xmlns:p14="http://schemas.microsoft.com/office/powerpoint/2010/main" val="1334701846"/>
              </p:ext>
            </p:extLst>
          </p:nvPr>
        </p:nvGraphicFramePr>
        <p:xfrm>
          <a:off x="162233" y="1219922"/>
          <a:ext cx="11867534" cy="5400040"/>
        </p:xfrm>
        <a:graphic>
          <a:graphicData uri="http://schemas.openxmlformats.org/drawingml/2006/table">
            <a:tbl>
              <a:tblPr firstRow="1" bandRow="1">
                <a:tableStyleId>{5C22544A-7EE6-4342-B048-85BDC9FD1C3A}</a:tableStyleId>
              </a:tblPr>
              <a:tblGrid>
                <a:gridCol w="1446734">
                  <a:extLst>
                    <a:ext uri="{9D8B030D-6E8A-4147-A177-3AD203B41FA5}">
                      <a16:colId xmlns:a16="http://schemas.microsoft.com/office/drawing/2014/main" val="4088373592"/>
                    </a:ext>
                  </a:extLst>
                </a:gridCol>
                <a:gridCol w="3255133">
                  <a:extLst>
                    <a:ext uri="{9D8B030D-6E8A-4147-A177-3AD203B41FA5}">
                      <a16:colId xmlns:a16="http://schemas.microsoft.com/office/drawing/2014/main" val="976136745"/>
                    </a:ext>
                  </a:extLst>
                </a:gridCol>
                <a:gridCol w="3793203">
                  <a:extLst>
                    <a:ext uri="{9D8B030D-6E8A-4147-A177-3AD203B41FA5}">
                      <a16:colId xmlns:a16="http://schemas.microsoft.com/office/drawing/2014/main" val="142241681"/>
                    </a:ext>
                  </a:extLst>
                </a:gridCol>
                <a:gridCol w="3372464">
                  <a:extLst>
                    <a:ext uri="{9D8B030D-6E8A-4147-A177-3AD203B41FA5}">
                      <a16:colId xmlns:a16="http://schemas.microsoft.com/office/drawing/2014/main" val="2868587898"/>
                    </a:ext>
                  </a:extLst>
                </a:gridCol>
              </a:tblGrid>
              <a:tr h="370840">
                <a:tc>
                  <a:txBody>
                    <a:bodyPr/>
                    <a:lstStyle/>
                    <a:p>
                      <a:r>
                        <a:rPr lang="en-US" dirty="0"/>
                        <a:t>Type</a:t>
                      </a:r>
                    </a:p>
                  </a:txBody>
                  <a:tcPr/>
                </a:tc>
                <a:tc>
                  <a:txBody>
                    <a:bodyPr/>
                    <a:lstStyle/>
                    <a:p>
                      <a:r>
                        <a:rPr lang="en-US" dirty="0"/>
                        <a:t>Value</a:t>
                      </a:r>
                    </a:p>
                  </a:txBody>
                  <a:tcPr/>
                </a:tc>
                <a:tc>
                  <a:txBody>
                    <a:bodyPr/>
                    <a:lstStyle/>
                    <a:p>
                      <a:r>
                        <a:rPr lang="en-US" dirty="0"/>
                        <a:t>Purpose</a:t>
                      </a:r>
                    </a:p>
                  </a:txBody>
                  <a:tcPr/>
                </a:tc>
                <a:tc>
                  <a:txBody>
                    <a:bodyPr/>
                    <a:lstStyle/>
                    <a:p>
                      <a:r>
                        <a:rPr lang="en-US" dirty="0"/>
                        <a:t>Driver(s)</a:t>
                      </a:r>
                    </a:p>
                  </a:txBody>
                  <a:tcPr/>
                </a:tc>
                <a:extLst>
                  <a:ext uri="{0D108BD9-81ED-4DB2-BD59-A6C34878D82A}">
                    <a16:rowId xmlns:a16="http://schemas.microsoft.com/office/drawing/2014/main" val="3630442838"/>
                  </a:ext>
                </a:extLst>
              </a:tr>
              <a:tr h="370840">
                <a:tc>
                  <a:txBody>
                    <a:bodyPr/>
                    <a:lstStyle/>
                    <a:p>
                      <a:r>
                        <a:rPr lang="en-US" dirty="0"/>
                        <a:t>Max Fan Diameter</a:t>
                      </a:r>
                    </a:p>
                  </a:txBody>
                  <a:tcPr/>
                </a:tc>
                <a:tc>
                  <a:txBody>
                    <a:bodyPr/>
                    <a:lstStyle/>
                    <a:p>
                      <a:r>
                        <a:rPr lang="en-US" dirty="0"/>
                        <a:t>79.0 inches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engine weight/size requirements for vehicles</a:t>
                      </a:r>
                    </a:p>
                  </a:txBody>
                  <a:tcPr/>
                </a:tc>
                <a:tc>
                  <a:txBody>
                    <a:bodyPr/>
                    <a:lstStyle/>
                    <a:p>
                      <a:r>
                        <a:rPr lang="en-US" dirty="0"/>
                        <a:t>CmpFan Cross Sectional Area. Driven by current competition of industry trade space</a:t>
                      </a:r>
                    </a:p>
                  </a:txBody>
                  <a:tcPr/>
                </a:tc>
                <a:extLst>
                  <a:ext uri="{0D108BD9-81ED-4DB2-BD59-A6C34878D82A}">
                    <a16:rowId xmlns:a16="http://schemas.microsoft.com/office/drawing/2014/main" val="3711197093"/>
                  </a:ext>
                </a:extLst>
              </a:tr>
              <a:tr h="370840">
                <a:tc>
                  <a:txBody>
                    <a:bodyPr/>
                    <a:lstStyle/>
                    <a:p>
                      <a:r>
                        <a:rPr lang="en-US" dirty="0"/>
                        <a:t>Max Engine Weight</a:t>
                      </a:r>
                    </a:p>
                  </a:txBody>
                  <a:tcPr/>
                </a:tc>
                <a:tc>
                  <a:txBody>
                    <a:bodyPr/>
                    <a:lstStyle/>
                    <a:p>
                      <a:r>
                        <a:rPr lang="en-US" dirty="0"/>
                        <a:t>6500 </a:t>
                      </a:r>
                      <a:r>
                        <a:rPr lang="en-US" dirty="0" err="1"/>
                        <a:t>lbs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Reduced weight increases vehicle range</a:t>
                      </a:r>
                    </a:p>
                  </a:txBody>
                  <a:tcPr/>
                </a:tc>
                <a:tc>
                  <a:txBody>
                    <a:bodyPr/>
                    <a:lstStyle/>
                    <a:p>
                      <a:r>
                        <a:rPr lang="en-US" dirty="0"/>
                        <a:t>Fan pressure ratio (Pt2.1/Pt2)</a:t>
                      </a:r>
                    </a:p>
                  </a:txBody>
                  <a:tcPr/>
                </a:tc>
                <a:extLst>
                  <a:ext uri="{0D108BD9-81ED-4DB2-BD59-A6C34878D82A}">
                    <a16:rowId xmlns:a16="http://schemas.microsoft.com/office/drawing/2014/main" val="4293310497"/>
                  </a:ext>
                </a:extLst>
              </a:tr>
              <a:tr h="370840">
                <a:tc>
                  <a:txBody>
                    <a:bodyPr/>
                    <a:lstStyle/>
                    <a:p>
                      <a:r>
                        <a:rPr lang="en-US" dirty="0"/>
                        <a:t>Max Tt3</a:t>
                      </a:r>
                    </a:p>
                  </a:txBody>
                  <a:tcPr/>
                </a:tc>
                <a:tc>
                  <a:txBody>
                    <a:bodyPr/>
                    <a:lstStyle/>
                    <a:p>
                      <a:r>
                        <a:rPr lang="en-US" dirty="0"/>
                        <a:t>1660 °R [1200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compressor thermal degradation</a:t>
                      </a:r>
                    </a:p>
                  </a:txBody>
                  <a:tcPr/>
                </a:tc>
                <a:tc>
                  <a:txBody>
                    <a:bodyPr/>
                    <a:lstStyle/>
                    <a:p>
                      <a:r>
                        <a:rPr lang="en-US" dirty="0"/>
                        <a:t>Material Selection (Rene N5 + TBC) </a:t>
                      </a:r>
                    </a:p>
                  </a:txBody>
                  <a:tcPr/>
                </a:tc>
                <a:extLst>
                  <a:ext uri="{0D108BD9-81ED-4DB2-BD59-A6C34878D82A}">
                    <a16:rowId xmlns:a16="http://schemas.microsoft.com/office/drawing/2014/main" val="50792409"/>
                  </a:ext>
                </a:extLst>
              </a:tr>
              <a:tr h="370840">
                <a:tc>
                  <a:txBody>
                    <a:bodyPr/>
                    <a:lstStyle/>
                    <a:p>
                      <a:r>
                        <a:rPr lang="en-US" dirty="0"/>
                        <a:t>Minimum Thrust</a:t>
                      </a:r>
                    </a:p>
                  </a:txBody>
                  <a:tcPr/>
                </a:tc>
                <a:tc>
                  <a:txBody>
                    <a:bodyPr/>
                    <a:lstStyle/>
                    <a:p>
                      <a:r>
                        <a:rPr lang="en-US" dirty="0"/>
                        <a:t>5500 </a:t>
                      </a:r>
                      <a:r>
                        <a:rPr lang="en-US" dirty="0" err="1"/>
                        <a:t>lbf</a:t>
                      </a:r>
                      <a:r>
                        <a:rPr lang="en-US" dirty="0"/>
                        <a:t> (TOC)</a:t>
                      </a:r>
                    </a:p>
                    <a:p>
                      <a:r>
                        <a:rPr lang="en-US" dirty="0"/>
                        <a:t>&gt;22000 </a:t>
                      </a:r>
                      <a:r>
                        <a:rPr lang="en-US" dirty="0" err="1"/>
                        <a:t>lbf</a:t>
                      </a:r>
                      <a:r>
                        <a:rPr lang="en-US" dirty="0"/>
                        <a:t> (TO) </a:t>
                      </a:r>
                    </a:p>
                  </a:txBody>
                  <a:tcPr/>
                </a:tc>
                <a:tc>
                  <a:txBody>
                    <a:bodyPr/>
                    <a:lstStyle/>
                    <a:p>
                      <a:r>
                        <a:rPr lang="en-US" dirty="0"/>
                        <a:t>Produce sufficient thrust for a small turbojet engine</a:t>
                      </a:r>
                    </a:p>
                  </a:txBody>
                  <a:tcPr/>
                </a:tc>
                <a:tc>
                  <a:txBody>
                    <a:bodyPr/>
                    <a:lstStyle/>
                    <a:p>
                      <a:r>
                        <a:rPr lang="en-US" dirty="0"/>
                        <a:t>Driven by current competition of industry trade space.</a:t>
                      </a:r>
                    </a:p>
                  </a:txBody>
                  <a:tcPr/>
                </a:tc>
                <a:extLst>
                  <a:ext uri="{0D108BD9-81ED-4DB2-BD59-A6C34878D82A}">
                    <a16:rowId xmlns:a16="http://schemas.microsoft.com/office/drawing/2014/main" val="1686059373"/>
                  </a:ext>
                </a:extLst>
              </a:tr>
              <a:tr h="370840">
                <a:tc>
                  <a:txBody>
                    <a:bodyPr/>
                    <a:lstStyle/>
                    <a:p>
                      <a:r>
                        <a:rPr lang="en-US" dirty="0"/>
                        <a:t>Max Tt4</a:t>
                      </a:r>
                    </a:p>
                  </a:txBody>
                  <a:tcPr/>
                </a:tc>
                <a:tc>
                  <a:txBody>
                    <a:bodyPr/>
                    <a:lstStyle/>
                    <a:p>
                      <a:r>
                        <a:rPr lang="en-US" dirty="0"/>
                        <a:t>3050 °R (TOC) [2590 °F]</a:t>
                      </a:r>
                    </a:p>
                    <a:p>
                      <a:r>
                        <a:rPr lang="en-US" dirty="0"/>
                        <a:t>3250 °R (TO)  [2790 °F]</a:t>
                      </a:r>
                    </a:p>
                  </a:txBody>
                  <a:tcPr/>
                </a:tc>
                <a:tc>
                  <a:txBody>
                    <a:bodyPr/>
                    <a:lstStyle/>
                    <a:p>
                      <a:r>
                        <a:rPr lang="en-US" dirty="0"/>
                        <a:t>Reduce turbine thermal failure modes</a:t>
                      </a:r>
                    </a:p>
                  </a:txBody>
                  <a:tcPr/>
                </a:tc>
                <a:tc>
                  <a:txBody>
                    <a:bodyPr/>
                    <a:lstStyle/>
                    <a:p>
                      <a:r>
                        <a:rPr lang="en-US" dirty="0"/>
                        <a:t>Material Selection (Rene N5 + TBC) </a:t>
                      </a:r>
                    </a:p>
                  </a:txBody>
                  <a:tcPr/>
                </a:tc>
                <a:extLst>
                  <a:ext uri="{0D108BD9-81ED-4DB2-BD59-A6C34878D82A}">
                    <a16:rowId xmlns:a16="http://schemas.microsoft.com/office/drawing/2014/main" val="3653281318"/>
                  </a:ext>
                </a:extLst>
              </a:tr>
              <a:tr h="370840">
                <a:tc>
                  <a:txBody>
                    <a:bodyPr/>
                    <a:lstStyle/>
                    <a:p>
                      <a:r>
                        <a:rPr lang="en-US" dirty="0"/>
                        <a:t>Max Tt41</a:t>
                      </a:r>
                    </a:p>
                  </a:txBody>
                  <a:tcPr/>
                </a:tc>
                <a:tc>
                  <a:txBody>
                    <a:bodyPr/>
                    <a:lstStyle/>
                    <a:p>
                      <a:r>
                        <a:rPr lang="en-US" dirty="0"/>
                        <a:t>3175 °R (TO) [2715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turbine thermal failure modes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Material Selection (Rene N5 + TBC) </a:t>
                      </a:r>
                    </a:p>
                  </a:txBody>
                  <a:tcPr/>
                </a:tc>
                <a:extLst>
                  <a:ext uri="{0D108BD9-81ED-4DB2-BD59-A6C34878D82A}">
                    <a16:rowId xmlns:a16="http://schemas.microsoft.com/office/drawing/2014/main" val="1982580547"/>
                  </a:ext>
                </a:extLst>
              </a:tr>
              <a:tr h="370840">
                <a:tc>
                  <a:txBody>
                    <a:bodyPr/>
                    <a:lstStyle/>
                    <a:p>
                      <a:r>
                        <a:rPr lang="en-US" dirty="0"/>
                        <a:t>Thrust Rating Structure</a:t>
                      </a:r>
                    </a:p>
                  </a:txBody>
                  <a:tcPr/>
                </a:tc>
                <a:tc>
                  <a:txBody>
                    <a:bodyPr/>
                    <a:lstStyle/>
                    <a:p>
                      <a:r>
                        <a:rPr lang="en-US" dirty="0"/>
                        <a:t>T41 (&gt;10kft) = 2690 °R [2230 °F]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T41 (&lt;10kft) = 3000 °R [2540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Optimizes engine fatigue, supports efficiency over flight envelope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Material Selection, intended engine efficiency, vehicle performance</a:t>
                      </a:r>
                    </a:p>
                  </a:txBody>
                  <a:tcPr/>
                </a:tc>
                <a:extLst>
                  <a:ext uri="{0D108BD9-81ED-4DB2-BD59-A6C34878D82A}">
                    <a16:rowId xmlns:a16="http://schemas.microsoft.com/office/drawing/2014/main" val="3259678767"/>
                  </a:ext>
                </a:extLst>
              </a:tr>
            </a:tbl>
          </a:graphicData>
        </a:graphic>
      </p:graphicFrame>
      <p:sp>
        <p:nvSpPr>
          <p:cNvPr id="3" name="TextBox 2">
            <a:extLst>
              <a:ext uri="{FF2B5EF4-FFF2-40B4-BE49-F238E27FC236}">
                <a16:creationId xmlns:a16="http://schemas.microsoft.com/office/drawing/2014/main" id="{BF92B189-F617-632A-6A73-0EE539A3AFB1}"/>
              </a:ext>
            </a:extLst>
          </p:cNvPr>
          <p:cNvSpPr txBox="1"/>
          <p:nvPr/>
        </p:nvSpPr>
        <p:spPr>
          <a:xfrm>
            <a:off x="9365375" y="413625"/>
            <a:ext cx="2290916" cy="646331"/>
          </a:xfrm>
          <a:prstGeom prst="rect">
            <a:avLst/>
          </a:prstGeom>
          <a:noFill/>
        </p:spPr>
        <p:txBody>
          <a:bodyPr wrap="square" rtlCol="0">
            <a:spAutoFit/>
          </a:bodyPr>
          <a:lstStyle/>
          <a:p>
            <a:r>
              <a:rPr lang="en-US" dirty="0"/>
              <a:t>TOC = Top of Climb</a:t>
            </a:r>
          </a:p>
          <a:p>
            <a:r>
              <a:rPr lang="en-US" dirty="0"/>
              <a:t>TO = Take-off</a:t>
            </a:r>
          </a:p>
        </p:txBody>
      </p:sp>
    </p:spTree>
    <p:extLst>
      <p:ext uri="{BB962C8B-B14F-4D97-AF65-F5344CB8AC3E}">
        <p14:creationId xmlns:p14="http://schemas.microsoft.com/office/powerpoint/2010/main" val="89491970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75A82-D8F7-81C0-793C-C7D277CAF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37F1-F436-37CB-8ECB-724D6B085FC7}"/>
              </a:ext>
            </a:extLst>
          </p:cNvPr>
          <p:cNvSpPr>
            <a:spLocks noGrp="1"/>
          </p:cNvSpPr>
          <p:nvPr>
            <p:ph type="title"/>
          </p:nvPr>
        </p:nvSpPr>
        <p:spPr>
          <a:xfrm>
            <a:off x="450273" y="241301"/>
            <a:ext cx="11206018" cy="953582"/>
          </a:xfrm>
        </p:spPr>
        <p:txBody>
          <a:bodyPr>
            <a:normAutofit fontScale="90000"/>
          </a:bodyPr>
          <a:lstStyle/>
          <a:p>
            <a:r>
              <a:rPr lang="en-US" dirty="0"/>
              <a:t>Assumptions</a:t>
            </a:r>
            <a:br>
              <a:rPr lang="en-US" dirty="0"/>
            </a:br>
            <a:r>
              <a:rPr lang="en-US" sz="3600" b="0" dirty="0"/>
              <a:t>Materials</a:t>
            </a:r>
            <a:endParaRPr lang="en-US" b="0" dirty="0"/>
          </a:p>
        </p:txBody>
      </p:sp>
      <p:sp>
        <p:nvSpPr>
          <p:cNvPr id="3" name="Content Placeholder 2">
            <a:extLst>
              <a:ext uri="{FF2B5EF4-FFF2-40B4-BE49-F238E27FC236}">
                <a16:creationId xmlns:a16="http://schemas.microsoft.com/office/drawing/2014/main" id="{A76155DD-7467-54AD-2B14-12D4DF42D8A5}"/>
              </a:ext>
            </a:extLst>
          </p:cNvPr>
          <p:cNvSpPr>
            <a:spLocks noGrp="1"/>
          </p:cNvSpPr>
          <p:nvPr>
            <p:ph idx="1"/>
          </p:nvPr>
        </p:nvSpPr>
        <p:spPr>
          <a:xfrm>
            <a:off x="450273" y="1385463"/>
            <a:ext cx="11206018" cy="1912226"/>
          </a:xfrm>
        </p:spPr>
        <p:txBody>
          <a:bodyPr>
            <a:normAutofit fontScale="92500" lnSpcReduction="20000"/>
          </a:bodyPr>
          <a:lstStyle/>
          <a:p>
            <a:pPr>
              <a:buFontTx/>
              <a:buChar char="-"/>
            </a:pPr>
            <a:r>
              <a:rPr lang="en-US" dirty="0"/>
              <a:t>Materials selected represent typically choices for hot section turbofan components. Given high-pressure turbine temperature limits, assume thermal barrier coatings (TBCs) are integrated to reduce thermal creep and fatigue.</a:t>
            </a:r>
          </a:p>
          <a:p>
            <a:pPr>
              <a:buFontTx/>
              <a:buChar char="-"/>
            </a:pPr>
            <a:r>
              <a:rPr lang="en-US" dirty="0"/>
              <a:t>Assuming components materials are Rene N5 (HPC) and Rene N5 + TBC (HPT), thermal requirements as described previously may be fulfilled.</a:t>
            </a:r>
          </a:p>
          <a:p>
            <a:pPr lvl="1">
              <a:buFontTx/>
              <a:buChar char="-"/>
            </a:pPr>
            <a:endParaRPr lang="en-US" dirty="0"/>
          </a:p>
        </p:txBody>
      </p:sp>
      <p:graphicFrame>
        <p:nvGraphicFramePr>
          <p:cNvPr id="6" name="Table 5">
            <a:extLst>
              <a:ext uri="{FF2B5EF4-FFF2-40B4-BE49-F238E27FC236}">
                <a16:creationId xmlns:a16="http://schemas.microsoft.com/office/drawing/2014/main" id="{2EA81AB9-2320-C1EC-2E55-0E80F80FE1FF}"/>
              </a:ext>
            </a:extLst>
          </p:cNvPr>
          <p:cNvGraphicFramePr>
            <a:graphicFrameLocks noGrp="1"/>
          </p:cNvGraphicFramePr>
          <p:nvPr>
            <p:extLst>
              <p:ext uri="{D42A27DB-BD31-4B8C-83A1-F6EECF244321}">
                <p14:modId xmlns:p14="http://schemas.microsoft.com/office/powerpoint/2010/main" val="397111122"/>
              </p:ext>
            </p:extLst>
          </p:nvPr>
        </p:nvGraphicFramePr>
        <p:xfrm>
          <a:off x="412904" y="3975928"/>
          <a:ext cx="6565900" cy="1112520"/>
        </p:xfrm>
        <a:graphic>
          <a:graphicData uri="http://schemas.openxmlformats.org/drawingml/2006/table">
            <a:tbl>
              <a:tblPr firstRow="1" bandRow="1">
                <a:tableStyleId>{5C22544A-7EE6-4342-B048-85BDC9FD1C3A}</a:tableStyleId>
              </a:tblPr>
              <a:tblGrid>
                <a:gridCol w="1476609">
                  <a:extLst>
                    <a:ext uri="{9D8B030D-6E8A-4147-A177-3AD203B41FA5}">
                      <a16:colId xmlns:a16="http://schemas.microsoft.com/office/drawing/2014/main" val="3604801277"/>
                    </a:ext>
                  </a:extLst>
                </a:gridCol>
                <a:gridCol w="2900657">
                  <a:extLst>
                    <a:ext uri="{9D8B030D-6E8A-4147-A177-3AD203B41FA5}">
                      <a16:colId xmlns:a16="http://schemas.microsoft.com/office/drawing/2014/main" val="35814837"/>
                    </a:ext>
                  </a:extLst>
                </a:gridCol>
                <a:gridCol w="2188634">
                  <a:extLst>
                    <a:ext uri="{9D8B030D-6E8A-4147-A177-3AD203B41FA5}">
                      <a16:colId xmlns:a16="http://schemas.microsoft.com/office/drawing/2014/main" val="2852404116"/>
                    </a:ext>
                  </a:extLst>
                </a:gridCol>
              </a:tblGrid>
              <a:tr h="370840">
                <a:tc>
                  <a:txBody>
                    <a:bodyPr/>
                    <a:lstStyle/>
                    <a:p>
                      <a:r>
                        <a:rPr lang="en-US" dirty="0"/>
                        <a:t>Material</a:t>
                      </a:r>
                    </a:p>
                  </a:txBody>
                  <a:tcPr/>
                </a:tc>
                <a:tc>
                  <a:txBody>
                    <a:bodyPr/>
                    <a:lstStyle/>
                    <a:p>
                      <a:r>
                        <a:rPr lang="en-US" dirty="0"/>
                        <a:t>Creep Resistance (°F)</a:t>
                      </a:r>
                    </a:p>
                  </a:txBody>
                  <a:tcPr/>
                </a:tc>
                <a:tc>
                  <a:txBody>
                    <a:bodyPr/>
                    <a:lstStyle/>
                    <a:p>
                      <a:r>
                        <a:rPr lang="en-US" dirty="0"/>
                        <a:t>Melting Point (°F)</a:t>
                      </a:r>
                    </a:p>
                  </a:txBody>
                  <a:tcPr/>
                </a:tc>
                <a:extLst>
                  <a:ext uri="{0D108BD9-81ED-4DB2-BD59-A6C34878D82A}">
                    <a16:rowId xmlns:a16="http://schemas.microsoft.com/office/drawing/2014/main" val="1827906587"/>
                  </a:ext>
                </a:extLst>
              </a:tr>
              <a:tr h="370840">
                <a:tc>
                  <a:txBody>
                    <a:bodyPr/>
                    <a:lstStyle/>
                    <a:p>
                      <a:r>
                        <a:rPr lang="en-US" dirty="0"/>
                        <a:t>Rene N5</a:t>
                      </a:r>
                    </a:p>
                  </a:txBody>
                  <a:tcPr/>
                </a:tc>
                <a:tc>
                  <a:txBody>
                    <a:bodyPr/>
                    <a:lstStyle/>
                    <a:p>
                      <a:r>
                        <a:rPr lang="en-US" dirty="0"/>
                        <a:t>2012</a:t>
                      </a:r>
                    </a:p>
                  </a:txBody>
                  <a:tcPr/>
                </a:tc>
                <a:tc>
                  <a:txBody>
                    <a:bodyPr/>
                    <a:lstStyle/>
                    <a:p>
                      <a:r>
                        <a:rPr lang="en-US" dirty="0"/>
                        <a:t>2453</a:t>
                      </a:r>
                    </a:p>
                  </a:txBody>
                  <a:tcPr/>
                </a:tc>
                <a:extLst>
                  <a:ext uri="{0D108BD9-81ED-4DB2-BD59-A6C34878D82A}">
                    <a16:rowId xmlns:a16="http://schemas.microsoft.com/office/drawing/2014/main" val="265697993"/>
                  </a:ext>
                </a:extLst>
              </a:tr>
              <a:tr h="370840">
                <a:tc>
                  <a:txBody>
                    <a:bodyPr/>
                    <a:lstStyle/>
                    <a:p>
                      <a:r>
                        <a:rPr lang="en-US" dirty="0"/>
                        <a:t>TBC</a:t>
                      </a:r>
                    </a:p>
                  </a:txBody>
                  <a:tcPr/>
                </a:tc>
                <a:tc>
                  <a:txBody>
                    <a:bodyPr/>
                    <a:lstStyle/>
                    <a:p>
                      <a:r>
                        <a:rPr lang="en-US" dirty="0"/>
                        <a:t>+392 </a:t>
                      </a:r>
                      <a:r>
                        <a:rPr lang="en-US" sz="1400" dirty="0"/>
                        <a:t>[1]</a:t>
                      </a:r>
                      <a:endParaRPr lang="en-US" dirty="0"/>
                    </a:p>
                  </a:txBody>
                  <a:tcPr/>
                </a:tc>
                <a:tc>
                  <a:txBody>
                    <a:bodyPr/>
                    <a:lstStyle/>
                    <a:p>
                      <a:r>
                        <a:rPr lang="en-US" dirty="0"/>
                        <a:t>+392 </a:t>
                      </a:r>
                      <a:r>
                        <a:rPr lang="en-US" sz="1400" dirty="0"/>
                        <a:t>[1]</a:t>
                      </a:r>
                      <a:endParaRPr lang="en-US" dirty="0"/>
                    </a:p>
                  </a:txBody>
                  <a:tcPr/>
                </a:tc>
                <a:extLst>
                  <a:ext uri="{0D108BD9-81ED-4DB2-BD59-A6C34878D82A}">
                    <a16:rowId xmlns:a16="http://schemas.microsoft.com/office/drawing/2014/main" val="3355926119"/>
                  </a:ext>
                </a:extLst>
              </a:tr>
            </a:tbl>
          </a:graphicData>
        </a:graphic>
      </p:graphicFrame>
      <p:pic>
        <p:nvPicPr>
          <p:cNvPr id="10" name="Picture 9">
            <a:extLst>
              <a:ext uri="{FF2B5EF4-FFF2-40B4-BE49-F238E27FC236}">
                <a16:creationId xmlns:a16="http://schemas.microsoft.com/office/drawing/2014/main" id="{70459265-3B16-4235-B9C1-9D2F8A195650}"/>
              </a:ext>
            </a:extLst>
          </p:cNvPr>
          <p:cNvPicPr>
            <a:picLocks noChangeAspect="1"/>
          </p:cNvPicPr>
          <p:nvPr/>
        </p:nvPicPr>
        <p:blipFill>
          <a:blip r:embed="rId2"/>
          <a:stretch>
            <a:fillRect/>
          </a:stretch>
        </p:blipFill>
        <p:spPr>
          <a:xfrm>
            <a:off x="7334607" y="3488269"/>
            <a:ext cx="4444489" cy="2544231"/>
          </a:xfrm>
          <a:prstGeom prst="rect">
            <a:avLst/>
          </a:prstGeom>
        </p:spPr>
      </p:pic>
      <p:sp>
        <p:nvSpPr>
          <p:cNvPr id="11" name="TextBox 10">
            <a:extLst>
              <a:ext uri="{FF2B5EF4-FFF2-40B4-BE49-F238E27FC236}">
                <a16:creationId xmlns:a16="http://schemas.microsoft.com/office/drawing/2014/main" id="{AA33984F-29F5-54F0-3C36-E8714636B905}"/>
              </a:ext>
            </a:extLst>
          </p:cNvPr>
          <p:cNvSpPr txBox="1"/>
          <p:nvPr/>
        </p:nvSpPr>
        <p:spPr>
          <a:xfrm>
            <a:off x="7665473" y="6032500"/>
            <a:ext cx="3990818" cy="307777"/>
          </a:xfrm>
          <a:prstGeom prst="rect">
            <a:avLst/>
          </a:prstGeom>
          <a:noFill/>
        </p:spPr>
        <p:txBody>
          <a:bodyPr wrap="square" rtlCol="0">
            <a:spAutoFit/>
          </a:bodyPr>
          <a:lstStyle/>
          <a:p>
            <a:pPr algn="ctr"/>
            <a:r>
              <a:rPr lang="en-US" sz="1400" dirty="0"/>
              <a:t>Creep resistance curve for Rene N5 at 2012°F [2]</a:t>
            </a:r>
          </a:p>
        </p:txBody>
      </p:sp>
    </p:spTree>
    <p:extLst>
      <p:ext uri="{BB962C8B-B14F-4D97-AF65-F5344CB8AC3E}">
        <p14:creationId xmlns:p14="http://schemas.microsoft.com/office/powerpoint/2010/main" val="2932404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452C5-2CC8-3049-B6C9-CDFA6DAAA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FBA35-D277-5DD4-EECF-BF5BA2223419}"/>
              </a:ext>
            </a:extLst>
          </p:cNvPr>
          <p:cNvSpPr>
            <a:spLocks noGrp="1"/>
          </p:cNvSpPr>
          <p:nvPr>
            <p:ph type="title"/>
          </p:nvPr>
        </p:nvSpPr>
        <p:spPr>
          <a:xfrm>
            <a:off x="450273" y="241301"/>
            <a:ext cx="11206018" cy="953582"/>
          </a:xfrm>
        </p:spPr>
        <p:txBody>
          <a:bodyPr>
            <a:normAutofit fontScale="90000"/>
          </a:bodyPr>
          <a:lstStyle/>
          <a:p>
            <a:r>
              <a:rPr lang="en-US" dirty="0"/>
              <a:t>Assumptions</a:t>
            </a:r>
            <a:br>
              <a:rPr lang="en-US" dirty="0"/>
            </a:br>
            <a:r>
              <a:rPr lang="en-US" sz="3600" b="0" dirty="0"/>
              <a:t>Aircraft (B737 Max 8)</a:t>
            </a:r>
            <a:endParaRPr lang="en-US" b="0" dirty="0"/>
          </a:p>
        </p:txBody>
      </p:sp>
      <p:sp>
        <p:nvSpPr>
          <p:cNvPr id="3" name="Content Placeholder 2">
            <a:extLst>
              <a:ext uri="{FF2B5EF4-FFF2-40B4-BE49-F238E27FC236}">
                <a16:creationId xmlns:a16="http://schemas.microsoft.com/office/drawing/2014/main" id="{09A080C0-96ED-BF82-7706-496E54F70411}"/>
              </a:ext>
            </a:extLst>
          </p:cNvPr>
          <p:cNvSpPr>
            <a:spLocks noGrp="1"/>
          </p:cNvSpPr>
          <p:nvPr>
            <p:ph idx="1"/>
          </p:nvPr>
        </p:nvSpPr>
        <p:spPr>
          <a:xfrm>
            <a:off x="450273" y="1385463"/>
            <a:ext cx="11206018" cy="1738737"/>
          </a:xfrm>
        </p:spPr>
        <p:txBody>
          <a:bodyPr>
            <a:normAutofit lnSpcReduction="10000"/>
          </a:bodyPr>
          <a:lstStyle/>
          <a:p>
            <a:pPr>
              <a:buFontTx/>
              <a:buChar char="-"/>
            </a:pPr>
            <a:r>
              <a:rPr lang="en-US" dirty="0"/>
              <a:t>Aircraft assumptions are detailed in the FLOPS program to analyze mission performance and range calculations.</a:t>
            </a:r>
          </a:p>
          <a:p>
            <a:pPr>
              <a:buFontTx/>
              <a:buChar char="-"/>
            </a:pPr>
            <a:r>
              <a:rPr lang="en-US" dirty="0"/>
              <a:t>FLOPS is highly detailed. Assumptions listed below are higher level for reference.</a:t>
            </a:r>
          </a:p>
          <a:p>
            <a:pPr marL="0" indent="0">
              <a:buNone/>
            </a:pPr>
            <a:endParaRPr lang="en-US" dirty="0"/>
          </a:p>
        </p:txBody>
      </p:sp>
      <p:graphicFrame>
        <p:nvGraphicFramePr>
          <p:cNvPr id="7" name="Table 6">
            <a:extLst>
              <a:ext uri="{FF2B5EF4-FFF2-40B4-BE49-F238E27FC236}">
                <a16:creationId xmlns:a16="http://schemas.microsoft.com/office/drawing/2014/main" id="{9B8A72FA-55FC-D15E-58FF-982B357585ED}"/>
              </a:ext>
            </a:extLst>
          </p:cNvPr>
          <p:cNvGraphicFramePr>
            <a:graphicFrameLocks noGrp="1"/>
          </p:cNvGraphicFramePr>
          <p:nvPr>
            <p:extLst>
              <p:ext uri="{D42A27DB-BD31-4B8C-83A1-F6EECF244321}">
                <p14:modId xmlns:p14="http://schemas.microsoft.com/office/powerpoint/2010/main" val="2035920360"/>
              </p:ext>
            </p:extLst>
          </p:nvPr>
        </p:nvGraphicFramePr>
        <p:xfrm>
          <a:off x="1066800" y="3069163"/>
          <a:ext cx="4572000" cy="3547536"/>
        </p:xfrm>
        <a:graphic>
          <a:graphicData uri="http://schemas.openxmlformats.org/drawingml/2006/table">
            <a:tbl>
              <a:tblPr firstRow="1" bandRow="1">
                <a:tableStyleId>{5C22544A-7EE6-4342-B048-85BDC9FD1C3A}</a:tableStyleId>
              </a:tblPr>
              <a:tblGrid>
                <a:gridCol w="3095397">
                  <a:extLst>
                    <a:ext uri="{9D8B030D-6E8A-4147-A177-3AD203B41FA5}">
                      <a16:colId xmlns:a16="http://schemas.microsoft.com/office/drawing/2014/main" val="3840211313"/>
                    </a:ext>
                  </a:extLst>
                </a:gridCol>
                <a:gridCol w="1476603">
                  <a:extLst>
                    <a:ext uri="{9D8B030D-6E8A-4147-A177-3AD203B41FA5}">
                      <a16:colId xmlns:a16="http://schemas.microsoft.com/office/drawing/2014/main" val="3677388884"/>
                    </a:ext>
                  </a:extLst>
                </a:gridCol>
              </a:tblGrid>
              <a:tr h="443442">
                <a:tc>
                  <a:txBody>
                    <a:bodyPr/>
                    <a:lstStyle/>
                    <a:p>
                      <a:r>
                        <a:rPr lang="en-US" dirty="0"/>
                        <a:t>Characteristic</a:t>
                      </a:r>
                    </a:p>
                  </a:txBody>
                  <a:tcPr/>
                </a:tc>
                <a:tc>
                  <a:txBody>
                    <a:bodyPr/>
                    <a:lstStyle/>
                    <a:p>
                      <a:r>
                        <a:rPr lang="en-US" dirty="0"/>
                        <a:t>Parameter</a:t>
                      </a:r>
                    </a:p>
                  </a:txBody>
                  <a:tcPr/>
                </a:tc>
                <a:extLst>
                  <a:ext uri="{0D108BD9-81ED-4DB2-BD59-A6C34878D82A}">
                    <a16:rowId xmlns:a16="http://schemas.microsoft.com/office/drawing/2014/main" val="1290476462"/>
                  </a:ext>
                </a:extLst>
              </a:tr>
              <a:tr h="443442">
                <a:tc>
                  <a:txBody>
                    <a:bodyPr/>
                    <a:lstStyle/>
                    <a:p>
                      <a:r>
                        <a:rPr lang="en-US" dirty="0"/>
                        <a:t>Wingspan (ft)</a:t>
                      </a:r>
                    </a:p>
                  </a:txBody>
                  <a:tcPr/>
                </a:tc>
                <a:tc>
                  <a:txBody>
                    <a:bodyPr/>
                    <a:lstStyle/>
                    <a:p>
                      <a:r>
                        <a:rPr lang="en-US" dirty="0"/>
                        <a:t>130.0</a:t>
                      </a:r>
                    </a:p>
                  </a:txBody>
                  <a:tcPr/>
                </a:tc>
                <a:extLst>
                  <a:ext uri="{0D108BD9-81ED-4DB2-BD59-A6C34878D82A}">
                    <a16:rowId xmlns:a16="http://schemas.microsoft.com/office/drawing/2014/main" val="3041427427"/>
                  </a:ext>
                </a:extLst>
              </a:tr>
              <a:tr h="443442">
                <a:tc>
                  <a:txBody>
                    <a:bodyPr/>
                    <a:lstStyle/>
                    <a:p>
                      <a:r>
                        <a:rPr lang="en-US" dirty="0"/>
                        <a:t>Fuselage Length (ft)</a:t>
                      </a:r>
                    </a:p>
                  </a:txBody>
                  <a:tcPr/>
                </a:tc>
                <a:tc>
                  <a:txBody>
                    <a:bodyPr/>
                    <a:lstStyle/>
                    <a:p>
                      <a:r>
                        <a:rPr lang="en-US" dirty="0"/>
                        <a:t>124.75</a:t>
                      </a:r>
                    </a:p>
                  </a:txBody>
                  <a:tcPr/>
                </a:tc>
                <a:extLst>
                  <a:ext uri="{0D108BD9-81ED-4DB2-BD59-A6C34878D82A}">
                    <a16:rowId xmlns:a16="http://schemas.microsoft.com/office/drawing/2014/main" val="3984153804"/>
                  </a:ext>
                </a:extLst>
              </a:tr>
              <a:tr h="443442">
                <a:tc>
                  <a:txBody>
                    <a:bodyPr/>
                    <a:lstStyle/>
                    <a:p>
                      <a:r>
                        <a:rPr lang="en-US" dirty="0"/>
                        <a:t>Fuselage Width (ft)</a:t>
                      </a:r>
                    </a:p>
                  </a:txBody>
                  <a:tcPr/>
                </a:tc>
                <a:tc>
                  <a:txBody>
                    <a:bodyPr/>
                    <a:lstStyle/>
                    <a:p>
                      <a:r>
                        <a:rPr lang="en-US" dirty="0"/>
                        <a:t>12.33</a:t>
                      </a:r>
                    </a:p>
                  </a:txBody>
                  <a:tcPr/>
                </a:tc>
                <a:extLst>
                  <a:ext uri="{0D108BD9-81ED-4DB2-BD59-A6C34878D82A}">
                    <a16:rowId xmlns:a16="http://schemas.microsoft.com/office/drawing/2014/main" val="556192025"/>
                  </a:ext>
                </a:extLst>
              </a:tr>
              <a:tr h="443442">
                <a:tc>
                  <a:txBody>
                    <a:bodyPr/>
                    <a:lstStyle/>
                    <a:p>
                      <a:r>
                        <a:rPr lang="en-US" dirty="0"/>
                        <a:t>Fuselage Depth (ft)</a:t>
                      </a:r>
                    </a:p>
                  </a:txBody>
                  <a:tcPr/>
                </a:tc>
                <a:tc>
                  <a:txBody>
                    <a:bodyPr/>
                    <a:lstStyle/>
                    <a:p>
                      <a:r>
                        <a:rPr lang="en-US" dirty="0"/>
                        <a:t>13.17</a:t>
                      </a:r>
                    </a:p>
                  </a:txBody>
                  <a:tcPr/>
                </a:tc>
                <a:extLst>
                  <a:ext uri="{0D108BD9-81ED-4DB2-BD59-A6C34878D82A}">
                    <a16:rowId xmlns:a16="http://schemas.microsoft.com/office/drawing/2014/main" val="3168305223"/>
                  </a:ext>
                </a:extLst>
              </a:tr>
              <a:tr h="443442">
                <a:tc>
                  <a:txBody>
                    <a:bodyPr/>
                    <a:lstStyle/>
                    <a:p>
                      <a:r>
                        <a:rPr lang="en-US" dirty="0"/>
                        <a:t>Engine Nacelle Length (in)</a:t>
                      </a:r>
                    </a:p>
                  </a:txBody>
                  <a:tcPr/>
                </a:tc>
                <a:tc>
                  <a:txBody>
                    <a:bodyPr/>
                    <a:lstStyle/>
                    <a:p>
                      <a:r>
                        <a:rPr lang="en-US" dirty="0"/>
                        <a:t>8.86</a:t>
                      </a:r>
                    </a:p>
                  </a:txBody>
                  <a:tcPr/>
                </a:tc>
                <a:extLst>
                  <a:ext uri="{0D108BD9-81ED-4DB2-BD59-A6C34878D82A}">
                    <a16:rowId xmlns:a16="http://schemas.microsoft.com/office/drawing/2014/main" val="2087906454"/>
                  </a:ext>
                </a:extLst>
              </a:tr>
              <a:tr h="443442">
                <a:tc>
                  <a:txBody>
                    <a:bodyPr/>
                    <a:lstStyle/>
                    <a:p>
                      <a:r>
                        <a:rPr lang="en-US" dirty="0"/>
                        <a:t>Engine Nacelle Diameter (in)</a:t>
                      </a:r>
                    </a:p>
                  </a:txBody>
                  <a:tcPr/>
                </a:tc>
                <a:tc>
                  <a:txBody>
                    <a:bodyPr/>
                    <a:lstStyle/>
                    <a:p>
                      <a:r>
                        <a:rPr lang="en-US" dirty="0"/>
                        <a:t>8.59</a:t>
                      </a:r>
                    </a:p>
                  </a:txBody>
                  <a:tcPr/>
                </a:tc>
                <a:extLst>
                  <a:ext uri="{0D108BD9-81ED-4DB2-BD59-A6C34878D82A}">
                    <a16:rowId xmlns:a16="http://schemas.microsoft.com/office/drawing/2014/main" val="3729619773"/>
                  </a:ext>
                </a:extLst>
              </a:tr>
              <a:tr h="443442">
                <a:tc>
                  <a:txBody>
                    <a:bodyPr/>
                    <a:lstStyle/>
                    <a:p>
                      <a:r>
                        <a:rPr lang="en-US" dirty="0"/>
                        <a:t>Operating empty weight (</a:t>
                      </a:r>
                      <a:r>
                        <a:rPr lang="en-US" dirty="0" err="1"/>
                        <a:t>lbs</a:t>
                      </a:r>
                      <a:r>
                        <a:rPr lang="en-US" dirty="0"/>
                        <a:t>)</a:t>
                      </a:r>
                    </a:p>
                  </a:txBody>
                  <a:tcPr/>
                </a:tc>
                <a:tc>
                  <a:txBody>
                    <a:bodyPr/>
                    <a:lstStyle/>
                    <a:p>
                      <a:r>
                        <a:rPr lang="en-US" dirty="0"/>
                        <a:t>93845.10</a:t>
                      </a:r>
                    </a:p>
                  </a:txBody>
                  <a:tcPr/>
                </a:tc>
                <a:extLst>
                  <a:ext uri="{0D108BD9-81ED-4DB2-BD59-A6C34878D82A}">
                    <a16:rowId xmlns:a16="http://schemas.microsoft.com/office/drawing/2014/main" val="3291050994"/>
                  </a:ext>
                </a:extLst>
              </a:tr>
            </a:tbl>
          </a:graphicData>
        </a:graphic>
      </p:graphicFrame>
      <p:pic>
        <p:nvPicPr>
          <p:cNvPr id="13" name="Picture 12">
            <a:extLst>
              <a:ext uri="{FF2B5EF4-FFF2-40B4-BE49-F238E27FC236}">
                <a16:creationId xmlns:a16="http://schemas.microsoft.com/office/drawing/2014/main" id="{6E6535F1-0CF8-D46A-AE8D-8CA39928D2DC}"/>
              </a:ext>
            </a:extLst>
          </p:cNvPr>
          <p:cNvPicPr>
            <a:picLocks noChangeAspect="1"/>
          </p:cNvPicPr>
          <p:nvPr/>
        </p:nvPicPr>
        <p:blipFill>
          <a:blip r:embed="rId2"/>
          <a:stretch>
            <a:fillRect/>
          </a:stretch>
        </p:blipFill>
        <p:spPr>
          <a:xfrm>
            <a:off x="6769551" y="2933620"/>
            <a:ext cx="4355649" cy="3251400"/>
          </a:xfrm>
          <a:prstGeom prst="rect">
            <a:avLst/>
          </a:prstGeom>
        </p:spPr>
      </p:pic>
      <p:sp>
        <p:nvSpPr>
          <p:cNvPr id="14" name="TextBox 13">
            <a:extLst>
              <a:ext uri="{FF2B5EF4-FFF2-40B4-BE49-F238E27FC236}">
                <a16:creationId xmlns:a16="http://schemas.microsoft.com/office/drawing/2014/main" id="{9B17364A-9203-0ACE-4218-A24183805E73}"/>
              </a:ext>
            </a:extLst>
          </p:cNvPr>
          <p:cNvSpPr txBox="1"/>
          <p:nvPr/>
        </p:nvSpPr>
        <p:spPr>
          <a:xfrm>
            <a:off x="7213825" y="6185020"/>
            <a:ext cx="3467100" cy="523220"/>
          </a:xfrm>
          <a:prstGeom prst="rect">
            <a:avLst/>
          </a:prstGeom>
          <a:noFill/>
        </p:spPr>
        <p:txBody>
          <a:bodyPr wrap="square" rtlCol="0">
            <a:spAutoFit/>
          </a:bodyPr>
          <a:lstStyle/>
          <a:p>
            <a:pPr algn="ctr"/>
            <a:r>
              <a:rPr lang="en-US" sz="1400" dirty="0"/>
              <a:t>Aircraft climb schedule to cruise altitude generated using FLOPS parameters</a:t>
            </a:r>
          </a:p>
        </p:txBody>
      </p:sp>
    </p:spTree>
    <p:extLst>
      <p:ext uri="{BB962C8B-B14F-4D97-AF65-F5344CB8AC3E}">
        <p14:creationId xmlns:p14="http://schemas.microsoft.com/office/powerpoint/2010/main" val="2976249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EB84-CF17-387B-950B-02D2EC443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02996-5260-D63F-E992-A63A9F58CA05}"/>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Separate Flow Turbofan</a:t>
            </a:r>
            <a:endParaRPr lang="en-US" sz="3600" b="0" dirty="0"/>
          </a:p>
        </p:txBody>
      </p:sp>
      <p:pic>
        <p:nvPicPr>
          <p:cNvPr id="4" name="Picture 3">
            <a:extLst>
              <a:ext uri="{FF2B5EF4-FFF2-40B4-BE49-F238E27FC236}">
                <a16:creationId xmlns:a16="http://schemas.microsoft.com/office/drawing/2014/main" id="{E4AA5460-3DC3-EC71-6599-D69A5FB05F6E}"/>
              </a:ext>
            </a:extLst>
          </p:cNvPr>
          <p:cNvPicPr>
            <a:picLocks noChangeAspect="1"/>
          </p:cNvPicPr>
          <p:nvPr/>
        </p:nvPicPr>
        <p:blipFill>
          <a:blip r:embed="rId2"/>
          <a:stretch>
            <a:fillRect/>
          </a:stretch>
        </p:blipFill>
        <p:spPr>
          <a:xfrm>
            <a:off x="960172" y="1194882"/>
            <a:ext cx="10186220" cy="4626989"/>
          </a:xfrm>
          <a:prstGeom prst="rect">
            <a:avLst/>
          </a:prstGeom>
        </p:spPr>
      </p:pic>
      <p:sp>
        <p:nvSpPr>
          <p:cNvPr id="5" name="TextBox 4">
            <a:extLst>
              <a:ext uri="{FF2B5EF4-FFF2-40B4-BE49-F238E27FC236}">
                <a16:creationId xmlns:a16="http://schemas.microsoft.com/office/drawing/2014/main" id="{2A7367E0-7541-7F11-7A0A-51D5006DDAD3}"/>
              </a:ext>
            </a:extLst>
          </p:cNvPr>
          <p:cNvSpPr txBox="1"/>
          <p:nvPr/>
        </p:nvSpPr>
        <p:spPr>
          <a:xfrm>
            <a:off x="3131406" y="5821871"/>
            <a:ext cx="5843751" cy="369332"/>
          </a:xfrm>
          <a:prstGeom prst="rect">
            <a:avLst/>
          </a:prstGeom>
          <a:noFill/>
        </p:spPr>
        <p:txBody>
          <a:bodyPr wrap="square" rtlCol="0">
            <a:spAutoFit/>
          </a:bodyPr>
          <a:lstStyle/>
          <a:p>
            <a:r>
              <a:rPr lang="en-US" dirty="0"/>
              <a:t>NPSS Architecture Schematic for SFTF model file (.mdl)</a:t>
            </a:r>
          </a:p>
        </p:txBody>
      </p:sp>
    </p:spTree>
    <p:extLst>
      <p:ext uri="{BB962C8B-B14F-4D97-AF65-F5344CB8AC3E}">
        <p14:creationId xmlns:p14="http://schemas.microsoft.com/office/powerpoint/2010/main" val="3829134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F509-7D8B-2A53-471A-B498412F2E95}"/>
            </a:ext>
          </a:extLst>
        </p:cNvPr>
        <p:cNvGrpSpPr/>
        <p:nvPr/>
      </p:nvGrpSpPr>
      <p:grpSpPr>
        <a:xfrm>
          <a:off x="0" y="0"/>
          <a:ext cx="0" cy="0"/>
          <a:chOff x="0" y="0"/>
          <a:chExt cx="0" cy="0"/>
        </a:xfrm>
      </p:grpSpPr>
      <p:cxnSp>
        <p:nvCxnSpPr>
          <p:cNvPr id="16" name="Connector: Elbow 15">
            <a:extLst>
              <a:ext uri="{FF2B5EF4-FFF2-40B4-BE49-F238E27FC236}">
                <a16:creationId xmlns:a16="http://schemas.microsoft.com/office/drawing/2014/main" id="{CD97D77E-A5D6-6F5A-23EC-96AE1D0C5D63}"/>
              </a:ext>
            </a:extLst>
          </p:cNvPr>
          <p:cNvCxnSpPr>
            <a:stCxn id="8" idx="3"/>
            <a:endCxn id="9" idx="1"/>
          </p:cNvCxnSpPr>
          <p:nvPr/>
        </p:nvCxnSpPr>
        <p:spPr>
          <a:xfrm flipV="1">
            <a:off x="3785614" y="1629318"/>
            <a:ext cx="2065714" cy="4578999"/>
          </a:xfrm>
          <a:prstGeom prst="bentConnector3">
            <a:avLst>
              <a:gd name="adj1" fmla="val 32389"/>
            </a:avLst>
          </a:prstGeom>
          <a:ln w="57150">
            <a:tailEnd type="triangle"/>
          </a:ln>
        </p:spPr>
        <p:style>
          <a:lnRef idx="2">
            <a:schemeClr val="dk1"/>
          </a:lnRef>
          <a:fillRef idx="0">
            <a:schemeClr val="dk1"/>
          </a:fillRef>
          <a:effectRef idx="1">
            <a:schemeClr val="dk1"/>
          </a:effectRef>
          <a:fontRef idx="minor">
            <a:schemeClr val="tx1"/>
          </a:fontRef>
        </p:style>
      </p:cxnSp>
      <p:sp>
        <p:nvSpPr>
          <p:cNvPr id="2" name="Title 1">
            <a:extLst>
              <a:ext uri="{FF2B5EF4-FFF2-40B4-BE49-F238E27FC236}">
                <a16:creationId xmlns:a16="http://schemas.microsoft.com/office/drawing/2014/main" id="{D6A3891E-B599-E75B-50E0-D5946DCFADB3}"/>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Element Definitions (1)</a:t>
            </a:r>
            <a:endParaRPr lang="en-US" sz="3600" b="0" dirty="0"/>
          </a:p>
        </p:txBody>
      </p:sp>
      <p:sp>
        <p:nvSpPr>
          <p:cNvPr id="3" name="TextBox 2">
            <a:extLst>
              <a:ext uri="{FF2B5EF4-FFF2-40B4-BE49-F238E27FC236}">
                <a16:creationId xmlns:a16="http://schemas.microsoft.com/office/drawing/2014/main" id="{A33700BB-3156-38BA-206A-F5309FC6C09D}"/>
              </a:ext>
            </a:extLst>
          </p:cNvPr>
          <p:cNvSpPr txBox="1"/>
          <p:nvPr/>
        </p:nvSpPr>
        <p:spPr>
          <a:xfrm>
            <a:off x="450272" y="1194882"/>
            <a:ext cx="3335343" cy="954107"/>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err="1"/>
              <a:t>FlightConditions</a:t>
            </a:r>
            <a:r>
              <a:rPr lang="en-US" sz="1400" b="1" dirty="0"/>
              <a:t> (Amb):</a:t>
            </a:r>
          </a:p>
          <a:p>
            <a:r>
              <a:rPr lang="en-US" sz="1400" dirty="0"/>
              <a:t>W1 = 122.683 </a:t>
            </a:r>
            <a:r>
              <a:rPr lang="en-US" sz="1400" dirty="0" err="1"/>
              <a:t>lbm</a:t>
            </a:r>
            <a:r>
              <a:rPr lang="en-US" sz="1400" dirty="0"/>
              <a:t>/sec</a:t>
            </a:r>
          </a:p>
          <a:p>
            <a:r>
              <a:rPr lang="en-US" sz="1400" dirty="0"/>
              <a:t>alt = 30000 ft</a:t>
            </a:r>
          </a:p>
          <a:p>
            <a:r>
              <a:rPr lang="en-US" sz="1400" dirty="0"/>
              <a:t>MN = 0.78</a:t>
            </a:r>
          </a:p>
        </p:txBody>
      </p:sp>
      <p:sp>
        <p:nvSpPr>
          <p:cNvPr id="6" name="TextBox 5">
            <a:extLst>
              <a:ext uri="{FF2B5EF4-FFF2-40B4-BE49-F238E27FC236}">
                <a16:creationId xmlns:a16="http://schemas.microsoft.com/office/drawing/2014/main" id="{B7D3BCD2-9D29-42DC-B105-7431DD4C00B5}"/>
              </a:ext>
            </a:extLst>
          </p:cNvPr>
          <p:cNvSpPr txBox="1"/>
          <p:nvPr/>
        </p:nvSpPr>
        <p:spPr>
          <a:xfrm>
            <a:off x="450272" y="2204307"/>
            <a:ext cx="5273872" cy="1600438"/>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Inlet (</a:t>
            </a:r>
            <a:r>
              <a:rPr lang="en-US" sz="1400" b="1" dirty="0" err="1"/>
              <a:t>InEng</a:t>
            </a:r>
            <a:r>
              <a:rPr lang="en-US" sz="1400" b="1" dirty="0"/>
              <a:t>):</a:t>
            </a:r>
          </a:p>
          <a:p>
            <a:r>
              <a:rPr lang="en-US" sz="1400" dirty="0"/>
              <a:t>FL_O.MN = 0.6</a:t>
            </a:r>
          </a:p>
          <a:p>
            <a:r>
              <a:rPr lang="en-US" sz="1400" dirty="0"/>
              <a:t>Ram Recovery:</a:t>
            </a:r>
          </a:p>
          <a:p>
            <a:r>
              <a:rPr lang="en-US" sz="1400" dirty="0"/>
              <a:t>Mach = { 0.000,  0.025,  0.100,  0.200,  0.250,  0.300,  0.400,  0.500,  0.600,  0.700,  0.900 }</a:t>
            </a:r>
          </a:p>
          <a:p>
            <a:r>
              <a:rPr lang="en-US" sz="1400" dirty="0" err="1"/>
              <a:t>etar</a:t>
            </a:r>
            <a:r>
              <a:rPr lang="en-US" sz="1400" dirty="0"/>
              <a:t> = { 0.993,  0.996,  0.995,  0.993,  0.9925, 0.992,  0.998,  0.998,  0.997,  0.997,  0.997 } </a:t>
            </a:r>
          </a:p>
        </p:txBody>
      </p:sp>
      <p:sp>
        <p:nvSpPr>
          <p:cNvPr id="7" name="TextBox 6">
            <a:extLst>
              <a:ext uri="{FF2B5EF4-FFF2-40B4-BE49-F238E27FC236}">
                <a16:creationId xmlns:a16="http://schemas.microsoft.com/office/drawing/2014/main" id="{726601D8-13B9-A867-F26A-3DA2AF7AB071}"/>
              </a:ext>
            </a:extLst>
          </p:cNvPr>
          <p:cNvSpPr txBox="1"/>
          <p:nvPr/>
        </p:nvSpPr>
        <p:spPr>
          <a:xfrm>
            <a:off x="450272" y="3860063"/>
            <a:ext cx="3335343" cy="1815882"/>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Compressor (CmpFan):</a:t>
            </a:r>
          </a:p>
          <a:p>
            <a:r>
              <a:rPr lang="en-US" sz="1400" dirty="0"/>
              <a:t>FL_O.MN = 0.45</a:t>
            </a:r>
          </a:p>
          <a:p>
            <a:r>
              <a:rPr lang="en-US" sz="1400" dirty="0"/>
              <a:t>Map Design Params:</a:t>
            </a:r>
          </a:p>
          <a:p>
            <a:r>
              <a:rPr lang="en-US" sz="1400" dirty="0"/>
              <a:t>Alpha = 0.00</a:t>
            </a:r>
          </a:p>
          <a:p>
            <a:r>
              <a:rPr lang="en-US" sz="1400" dirty="0" err="1"/>
              <a:t>RlineMap</a:t>
            </a:r>
            <a:r>
              <a:rPr lang="en-US" sz="1400" dirty="0"/>
              <a:t> = 1.60</a:t>
            </a:r>
          </a:p>
          <a:p>
            <a:r>
              <a:rPr lang="en-US" sz="1400" dirty="0" err="1"/>
              <a:t>NcDes</a:t>
            </a:r>
            <a:r>
              <a:rPr lang="en-US" sz="1400" dirty="0"/>
              <a:t> = 0.90</a:t>
            </a:r>
          </a:p>
          <a:p>
            <a:r>
              <a:rPr lang="en-US" sz="1400" dirty="0" err="1"/>
              <a:t>PRdes</a:t>
            </a:r>
            <a:r>
              <a:rPr lang="en-US" sz="1400" dirty="0"/>
              <a:t> = 15.0</a:t>
            </a:r>
          </a:p>
          <a:p>
            <a:r>
              <a:rPr lang="en-US" sz="1400" dirty="0" err="1"/>
              <a:t>effDes</a:t>
            </a:r>
            <a:r>
              <a:rPr lang="en-US" sz="1400" dirty="0"/>
              <a:t> = 0.89</a:t>
            </a:r>
          </a:p>
        </p:txBody>
      </p:sp>
      <p:sp>
        <p:nvSpPr>
          <p:cNvPr id="8" name="TextBox 7">
            <a:extLst>
              <a:ext uri="{FF2B5EF4-FFF2-40B4-BE49-F238E27FC236}">
                <a16:creationId xmlns:a16="http://schemas.microsoft.com/office/drawing/2014/main" id="{DEF153B1-2C8D-37A5-152A-AB0531AF1CC9}"/>
              </a:ext>
            </a:extLst>
          </p:cNvPr>
          <p:cNvSpPr txBox="1"/>
          <p:nvPr/>
        </p:nvSpPr>
        <p:spPr>
          <a:xfrm>
            <a:off x="450271" y="5731263"/>
            <a:ext cx="3335343" cy="954107"/>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Splitter (</a:t>
            </a:r>
            <a:r>
              <a:rPr lang="en-US" sz="1400" b="1" dirty="0" err="1"/>
              <a:t>SpltFan</a:t>
            </a:r>
            <a:r>
              <a:rPr lang="en-US" sz="1400" b="1" dirty="0"/>
              <a:t>):</a:t>
            </a:r>
          </a:p>
          <a:p>
            <a:r>
              <a:rPr lang="en-US" sz="1400" dirty="0"/>
              <a:t>BPR = 1.8687</a:t>
            </a:r>
          </a:p>
          <a:p>
            <a:r>
              <a:rPr lang="en-US" sz="1400" dirty="0"/>
              <a:t>Fl_01.MN = 05</a:t>
            </a:r>
          </a:p>
          <a:p>
            <a:r>
              <a:rPr lang="en-US" sz="1400" dirty="0"/>
              <a:t>Fl_02.MN = 0.5</a:t>
            </a:r>
          </a:p>
        </p:txBody>
      </p:sp>
      <p:sp>
        <p:nvSpPr>
          <p:cNvPr id="9" name="TextBox 8">
            <a:extLst>
              <a:ext uri="{FF2B5EF4-FFF2-40B4-BE49-F238E27FC236}">
                <a16:creationId xmlns:a16="http://schemas.microsoft.com/office/drawing/2014/main" id="{82C14A54-88FC-4511-031D-100D87372404}"/>
              </a:ext>
            </a:extLst>
          </p:cNvPr>
          <p:cNvSpPr txBox="1"/>
          <p:nvPr/>
        </p:nvSpPr>
        <p:spPr>
          <a:xfrm>
            <a:off x="5851328" y="1259986"/>
            <a:ext cx="3335343" cy="738664"/>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Duct (D022):</a:t>
            </a:r>
          </a:p>
          <a:p>
            <a:r>
              <a:rPr lang="en-US" sz="1400" dirty="0"/>
              <a:t>Fl_O.MN = 0.30</a:t>
            </a:r>
          </a:p>
          <a:p>
            <a:r>
              <a:rPr lang="en-US" sz="1400" dirty="0" err="1"/>
              <a:t>dPqPbase</a:t>
            </a:r>
            <a:r>
              <a:rPr lang="en-US" sz="1400" dirty="0"/>
              <a:t> = 0.005</a:t>
            </a:r>
          </a:p>
        </p:txBody>
      </p:sp>
      <p:sp>
        <p:nvSpPr>
          <p:cNvPr id="10" name="TextBox 9">
            <a:extLst>
              <a:ext uri="{FF2B5EF4-FFF2-40B4-BE49-F238E27FC236}">
                <a16:creationId xmlns:a16="http://schemas.microsoft.com/office/drawing/2014/main" id="{185EEA7C-53A6-067B-1CDE-C5A7DFDC287D}"/>
              </a:ext>
            </a:extLst>
          </p:cNvPr>
          <p:cNvSpPr txBox="1"/>
          <p:nvPr/>
        </p:nvSpPr>
        <p:spPr>
          <a:xfrm>
            <a:off x="5851328" y="2084009"/>
            <a:ext cx="3335343" cy="1815882"/>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Compressor (CmpL):</a:t>
            </a:r>
          </a:p>
          <a:p>
            <a:r>
              <a:rPr lang="en-US" sz="1400" dirty="0"/>
              <a:t>FL_O.MN = 0.40</a:t>
            </a:r>
          </a:p>
          <a:p>
            <a:r>
              <a:rPr lang="en-US" sz="1400" dirty="0"/>
              <a:t>Map Design Params:</a:t>
            </a:r>
          </a:p>
          <a:p>
            <a:r>
              <a:rPr lang="en-US" sz="1400" dirty="0"/>
              <a:t>Alpha = 0.00</a:t>
            </a:r>
          </a:p>
          <a:p>
            <a:r>
              <a:rPr lang="en-US" sz="1400" dirty="0" err="1"/>
              <a:t>RlineMap</a:t>
            </a:r>
            <a:r>
              <a:rPr lang="en-US" sz="1400" dirty="0"/>
              <a:t> = 1.80</a:t>
            </a:r>
          </a:p>
          <a:p>
            <a:r>
              <a:rPr lang="en-US" sz="1400" dirty="0" err="1"/>
              <a:t>NcDes</a:t>
            </a:r>
            <a:r>
              <a:rPr lang="en-US" sz="1400" dirty="0"/>
              <a:t> = 1.0</a:t>
            </a:r>
          </a:p>
          <a:p>
            <a:r>
              <a:rPr lang="en-US" sz="1400" dirty="0" err="1"/>
              <a:t>PRdes</a:t>
            </a:r>
            <a:r>
              <a:rPr lang="en-US" sz="1400" dirty="0"/>
              <a:t> = 1.30</a:t>
            </a:r>
          </a:p>
          <a:p>
            <a:r>
              <a:rPr lang="en-US" sz="1400" dirty="0" err="1"/>
              <a:t>effDes</a:t>
            </a:r>
            <a:r>
              <a:rPr lang="en-US" sz="1400" dirty="0"/>
              <a:t> = 0.90</a:t>
            </a:r>
          </a:p>
        </p:txBody>
      </p:sp>
      <p:sp>
        <p:nvSpPr>
          <p:cNvPr id="11" name="TextBox 10">
            <a:extLst>
              <a:ext uri="{FF2B5EF4-FFF2-40B4-BE49-F238E27FC236}">
                <a16:creationId xmlns:a16="http://schemas.microsoft.com/office/drawing/2014/main" id="{3866B338-A295-08EE-ECF5-2BB36E9EF881}"/>
              </a:ext>
            </a:extLst>
          </p:cNvPr>
          <p:cNvSpPr txBox="1"/>
          <p:nvPr/>
        </p:nvSpPr>
        <p:spPr>
          <a:xfrm>
            <a:off x="5851328" y="3983418"/>
            <a:ext cx="3335343" cy="738664"/>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Duct (D024):</a:t>
            </a:r>
          </a:p>
          <a:p>
            <a:r>
              <a:rPr lang="en-US" sz="1400" dirty="0"/>
              <a:t>Fl_O.MN = 0.35</a:t>
            </a:r>
          </a:p>
          <a:p>
            <a:r>
              <a:rPr lang="en-US" sz="1400" dirty="0" err="1"/>
              <a:t>dPqPbase</a:t>
            </a:r>
            <a:r>
              <a:rPr lang="en-US" sz="1400" dirty="0"/>
              <a:t> = 0.015</a:t>
            </a:r>
          </a:p>
        </p:txBody>
      </p:sp>
      <p:grpSp>
        <p:nvGrpSpPr>
          <p:cNvPr id="15" name="Group 14">
            <a:extLst>
              <a:ext uri="{FF2B5EF4-FFF2-40B4-BE49-F238E27FC236}">
                <a16:creationId xmlns:a16="http://schemas.microsoft.com/office/drawing/2014/main" id="{1034950C-25AF-ACE5-EF64-ABCFC57810AE}"/>
              </a:ext>
            </a:extLst>
          </p:cNvPr>
          <p:cNvGrpSpPr/>
          <p:nvPr/>
        </p:nvGrpSpPr>
        <p:grpSpPr>
          <a:xfrm>
            <a:off x="5851328" y="4823322"/>
            <a:ext cx="4880264" cy="1815882"/>
            <a:chOff x="3888832" y="4805610"/>
            <a:chExt cx="4880264" cy="1815882"/>
          </a:xfrm>
          <a:solidFill>
            <a:schemeClr val="accent1">
              <a:lumMod val="20000"/>
              <a:lumOff val="80000"/>
            </a:schemeClr>
          </a:solidFill>
        </p:grpSpPr>
        <p:sp>
          <p:nvSpPr>
            <p:cNvPr id="12" name="TextBox 11">
              <a:extLst>
                <a:ext uri="{FF2B5EF4-FFF2-40B4-BE49-F238E27FC236}">
                  <a16:creationId xmlns:a16="http://schemas.microsoft.com/office/drawing/2014/main" id="{90FE6621-45DA-EDCD-75B6-C9B800A28854}"/>
                </a:ext>
              </a:extLst>
            </p:cNvPr>
            <p:cNvSpPr txBox="1"/>
            <p:nvPr/>
          </p:nvSpPr>
          <p:spPr>
            <a:xfrm>
              <a:off x="3888832" y="4805610"/>
              <a:ext cx="4880264" cy="1815882"/>
            </a:xfrm>
            <a:prstGeom prst="rect">
              <a:avLst/>
            </a:prstGeom>
            <a:grpFill/>
            <a:ln>
              <a:solidFill>
                <a:schemeClr val="tx1"/>
              </a:solidFill>
            </a:ln>
          </p:spPr>
          <p:txBody>
            <a:bodyPr wrap="square" rtlCol="0">
              <a:spAutoFit/>
            </a:bodyPr>
            <a:lstStyle/>
            <a:p>
              <a:r>
                <a:rPr lang="en-US" sz="1400" b="1" dirty="0"/>
                <a:t>Compressor (CmpH):</a:t>
              </a:r>
            </a:p>
            <a:p>
              <a:r>
                <a:rPr lang="en-US" sz="1400" dirty="0"/>
                <a:t>FL_O.MN = 0.30</a:t>
              </a:r>
            </a:p>
            <a:p>
              <a:r>
                <a:rPr lang="en-US" sz="1400" dirty="0"/>
                <a:t>Map Design Params:</a:t>
              </a:r>
            </a:p>
            <a:p>
              <a:r>
                <a:rPr lang="en-US" sz="1400" dirty="0"/>
                <a:t>Alpha = 0.00</a:t>
              </a:r>
            </a:p>
            <a:p>
              <a:r>
                <a:rPr lang="en-US" sz="1400" dirty="0" err="1"/>
                <a:t>RlineMap</a:t>
              </a:r>
              <a:r>
                <a:rPr lang="en-US" sz="1400" dirty="0"/>
                <a:t> = 2.00</a:t>
              </a:r>
            </a:p>
            <a:p>
              <a:r>
                <a:rPr lang="en-US" sz="1400" dirty="0" err="1"/>
                <a:t>NcDes</a:t>
              </a:r>
              <a:r>
                <a:rPr lang="en-US" sz="1400" dirty="0"/>
                <a:t> = 0.985</a:t>
              </a:r>
            </a:p>
            <a:p>
              <a:r>
                <a:rPr lang="en-US" sz="1400" dirty="0" err="1"/>
                <a:t>PRdes</a:t>
              </a:r>
              <a:r>
                <a:rPr lang="en-US" sz="1400" dirty="0"/>
                <a:t> = 20.00</a:t>
              </a:r>
            </a:p>
            <a:p>
              <a:r>
                <a:rPr lang="en-US" sz="1400" dirty="0" err="1"/>
                <a:t>effDes</a:t>
              </a:r>
              <a:r>
                <a:rPr lang="en-US" sz="1400" dirty="0"/>
                <a:t> = 0.8650</a:t>
              </a:r>
            </a:p>
          </p:txBody>
        </p:sp>
        <p:sp>
          <p:nvSpPr>
            <p:cNvPr id="13" name="TextBox 12">
              <a:extLst>
                <a:ext uri="{FF2B5EF4-FFF2-40B4-BE49-F238E27FC236}">
                  <a16:creationId xmlns:a16="http://schemas.microsoft.com/office/drawing/2014/main" id="{801CC701-6219-647B-9EA1-34DA18543674}"/>
                </a:ext>
              </a:extLst>
            </p:cNvPr>
            <p:cNvSpPr txBox="1"/>
            <p:nvPr/>
          </p:nvSpPr>
          <p:spPr>
            <a:xfrm>
              <a:off x="6093344" y="4844948"/>
              <a:ext cx="2596942" cy="830997"/>
            </a:xfrm>
            <a:prstGeom prst="rect">
              <a:avLst/>
            </a:prstGeom>
            <a:grpFill/>
            <a:ln>
              <a:solidFill>
                <a:schemeClr val="tx1"/>
              </a:solidFill>
            </a:ln>
          </p:spPr>
          <p:txBody>
            <a:bodyPr wrap="square" rtlCol="0">
              <a:spAutoFit/>
            </a:bodyPr>
            <a:lstStyle/>
            <a:p>
              <a:r>
                <a:rPr lang="en-US" sz="1200" dirty="0" err="1"/>
                <a:t>InterStageBleedOutPort</a:t>
              </a:r>
              <a:r>
                <a:rPr lang="en-US" sz="1200" dirty="0"/>
                <a:t>  (B028_NC):</a:t>
              </a:r>
            </a:p>
            <a:p>
              <a:r>
                <a:rPr lang="en-US" sz="1200" dirty="0" err="1"/>
                <a:t>fracBldWork</a:t>
              </a:r>
              <a:r>
                <a:rPr lang="en-US" sz="1200" dirty="0"/>
                <a:t> = 0.45</a:t>
              </a:r>
            </a:p>
            <a:p>
              <a:r>
                <a:rPr lang="en-US" sz="1200" dirty="0" err="1"/>
                <a:t>fracBldP</a:t>
              </a:r>
              <a:r>
                <a:rPr lang="en-US" sz="1200" dirty="0"/>
                <a:t> = 0.5000</a:t>
              </a:r>
            </a:p>
            <a:p>
              <a:r>
                <a:rPr lang="en-US" sz="1200" dirty="0" err="1"/>
                <a:t>fracBldW</a:t>
              </a:r>
              <a:r>
                <a:rPr lang="en-US" sz="1200" dirty="0"/>
                <a:t> = 0.065</a:t>
              </a:r>
            </a:p>
          </p:txBody>
        </p:sp>
        <p:sp>
          <p:nvSpPr>
            <p:cNvPr id="14" name="TextBox 13">
              <a:extLst>
                <a:ext uri="{FF2B5EF4-FFF2-40B4-BE49-F238E27FC236}">
                  <a16:creationId xmlns:a16="http://schemas.microsoft.com/office/drawing/2014/main" id="{270D9732-B4E2-97CA-2818-DA2BFC53A7EB}"/>
                </a:ext>
              </a:extLst>
            </p:cNvPr>
            <p:cNvSpPr txBox="1"/>
            <p:nvPr/>
          </p:nvSpPr>
          <p:spPr>
            <a:xfrm>
              <a:off x="6093344" y="5761304"/>
              <a:ext cx="2596942" cy="830997"/>
            </a:xfrm>
            <a:prstGeom prst="rect">
              <a:avLst/>
            </a:prstGeom>
            <a:grpFill/>
            <a:ln>
              <a:solidFill>
                <a:schemeClr val="tx1"/>
              </a:solidFill>
            </a:ln>
          </p:spPr>
          <p:txBody>
            <a:bodyPr wrap="square" rtlCol="0">
              <a:spAutoFit/>
            </a:bodyPr>
            <a:lstStyle/>
            <a:p>
              <a:r>
                <a:rPr lang="en-US" sz="1200" dirty="0" err="1"/>
                <a:t>InterStageBleedOutPort</a:t>
              </a:r>
              <a:r>
                <a:rPr lang="en-US" sz="1200" dirty="0"/>
                <a:t>  (B028_CH):</a:t>
              </a:r>
            </a:p>
            <a:p>
              <a:r>
                <a:rPr lang="en-US" sz="1200" dirty="0" err="1"/>
                <a:t>fracBldWork</a:t>
              </a:r>
              <a:r>
                <a:rPr lang="en-US" sz="1200" dirty="0"/>
                <a:t> = 0.45</a:t>
              </a:r>
            </a:p>
            <a:p>
              <a:r>
                <a:rPr lang="en-US" sz="1200" dirty="0" err="1"/>
                <a:t>fracBldP</a:t>
              </a:r>
              <a:r>
                <a:rPr lang="en-US" sz="1200" dirty="0"/>
                <a:t> = 0.5000</a:t>
              </a:r>
            </a:p>
            <a:p>
              <a:r>
                <a:rPr lang="en-US" sz="1200" dirty="0" err="1"/>
                <a:t>fracBldW</a:t>
              </a:r>
              <a:r>
                <a:rPr lang="en-US" sz="1200" dirty="0"/>
                <a:t> = 0.065</a:t>
              </a:r>
            </a:p>
          </p:txBody>
        </p:sp>
      </p:grpSp>
      <p:grpSp>
        <p:nvGrpSpPr>
          <p:cNvPr id="21" name="Group 20">
            <a:extLst>
              <a:ext uri="{FF2B5EF4-FFF2-40B4-BE49-F238E27FC236}">
                <a16:creationId xmlns:a16="http://schemas.microsoft.com/office/drawing/2014/main" id="{ADCDAAA6-EF46-A62B-1EFC-2D4D5979E0DC}"/>
              </a:ext>
            </a:extLst>
          </p:cNvPr>
          <p:cNvGrpSpPr/>
          <p:nvPr/>
        </p:nvGrpSpPr>
        <p:grpSpPr>
          <a:xfrm>
            <a:off x="9948053" y="2240890"/>
            <a:ext cx="2081393" cy="2031325"/>
            <a:chOff x="9494910" y="424477"/>
            <a:chExt cx="2081393" cy="2031325"/>
          </a:xfrm>
          <a:solidFill>
            <a:schemeClr val="accent1">
              <a:lumMod val="20000"/>
              <a:lumOff val="80000"/>
            </a:schemeClr>
          </a:solidFill>
        </p:grpSpPr>
        <p:sp>
          <p:nvSpPr>
            <p:cNvPr id="17" name="TextBox 16">
              <a:extLst>
                <a:ext uri="{FF2B5EF4-FFF2-40B4-BE49-F238E27FC236}">
                  <a16:creationId xmlns:a16="http://schemas.microsoft.com/office/drawing/2014/main" id="{AE00B02D-EE32-6CB9-17CE-68C25DB527A1}"/>
                </a:ext>
              </a:extLst>
            </p:cNvPr>
            <p:cNvSpPr txBox="1"/>
            <p:nvPr/>
          </p:nvSpPr>
          <p:spPr>
            <a:xfrm>
              <a:off x="9494910" y="424477"/>
              <a:ext cx="2081393" cy="2031325"/>
            </a:xfrm>
            <a:prstGeom prst="rect">
              <a:avLst/>
            </a:prstGeom>
            <a:grpFill/>
            <a:ln>
              <a:solidFill>
                <a:schemeClr val="tx1"/>
              </a:solidFill>
            </a:ln>
          </p:spPr>
          <p:txBody>
            <a:bodyPr wrap="square" rtlCol="0">
              <a:spAutoFit/>
            </a:bodyPr>
            <a:lstStyle/>
            <a:p>
              <a:r>
                <a:rPr lang="en-US" sz="1400" b="1" dirty="0"/>
                <a:t>Bleed (B030):</a:t>
              </a:r>
            </a:p>
            <a:p>
              <a:r>
                <a:rPr lang="en-US" sz="1400" dirty="0"/>
                <a:t>FL_O.MN = 0.30</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8" name="TextBox 17">
              <a:extLst>
                <a:ext uri="{FF2B5EF4-FFF2-40B4-BE49-F238E27FC236}">
                  <a16:creationId xmlns:a16="http://schemas.microsoft.com/office/drawing/2014/main" id="{37C4E54A-FC25-D30F-F81A-BB80B5E60AC0}"/>
                </a:ext>
              </a:extLst>
            </p:cNvPr>
            <p:cNvSpPr txBox="1"/>
            <p:nvPr/>
          </p:nvSpPr>
          <p:spPr>
            <a:xfrm>
              <a:off x="9558919" y="1442075"/>
              <a:ext cx="1932780" cy="461665"/>
            </a:xfrm>
            <a:prstGeom prst="rect">
              <a:avLst/>
            </a:prstGeom>
            <a:grpFill/>
            <a:ln>
              <a:solidFill>
                <a:schemeClr val="tx1"/>
              </a:solidFill>
            </a:ln>
          </p:spPr>
          <p:txBody>
            <a:bodyPr wrap="square" rtlCol="0">
              <a:spAutoFit/>
            </a:bodyPr>
            <a:lstStyle/>
            <a:p>
              <a:r>
                <a:rPr lang="en-US" sz="1200" dirty="0" err="1"/>
                <a:t>BleedOutPort</a:t>
              </a:r>
              <a:r>
                <a:rPr lang="en-US" sz="1200" dirty="0"/>
                <a:t>  (B030_NC):</a:t>
              </a:r>
            </a:p>
            <a:p>
              <a:r>
                <a:rPr lang="en-US" sz="1200" dirty="0" err="1"/>
                <a:t>fracW</a:t>
              </a:r>
              <a:r>
                <a:rPr lang="en-US" sz="1200" dirty="0"/>
                <a:t> = 0.080</a:t>
              </a:r>
            </a:p>
          </p:txBody>
        </p:sp>
        <p:sp>
          <p:nvSpPr>
            <p:cNvPr id="19" name="TextBox 18">
              <a:extLst>
                <a:ext uri="{FF2B5EF4-FFF2-40B4-BE49-F238E27FC236}">
                  <a16:creationId xmlns:a16="http://schemas.microsoft.com/office/drawing/2014/main" id="{F848F026-04BA-8F1A-7CFF-DC4D202C0F4F}"/>
                </a:ext>
              </a:extLst>
            </p:cNvPr>
            <p:cNvSpPr txBox="1"/>
            <p:nvPr/>
          </p:nvSpPr>
          <p:spPr>
            <a:xfrm>
              <a:off x="9558919" y="933276"/>
              <a:ext cx="1932781" cy="461665"/>
            </a:xfrm>
            <a:prstGeom prst="rect">
              <a:avLst/>
            </a:prstGeom>
            <a:grpFill/>
            <a:ln>
              <a:solidFill>
                <a:schemeClr val="tx1"/>
              </a:solidFill>
            </a:ln>
          </p:spPr>
          <p:txBody>
            <a:bodyPr wrap="square" rtlCol="0">
              <a:spAutoFit/>
            </a:bodyPr>
            <a:lstStyle/>
            <a:p>
              <a:r>
                <a:rPr lang="en-US" sz="1200" dirty="0" err="1"/>
                <a:t>BleedOutPort</a:t>
              </a:r>
              <a:r>
                <a:rPr lang="en-US" sz="1200" dirty="0"/>
                <a:t>  (B030_CH):</a:t>
              </a:r>
            </a:p>
            <a:p>
              <a:r>
                <a:rPr lang="en-US" sz="1200" dirty="0" err="1"/>
                <a:t>fracW</a:t>
              </a:r>
              <a:r>
                <a:rPr lang="en-US" sz="1200" dirty="0"/>
                <a:t> = 0.055</a:t>
              </a:r>
            </a:p>
          </p:txBody>
        </p:sp>
        <p:sp>
          <p:nvSpPr>
            <p:cNvPr id="20" name="TextBox 19">
              <a:extLst>
                <a:ext uri="{FF2B5EF4-FFF2-40B4-BE49-F238E27FC236}">
                  <a16:creationId xmlns:a16="http://schemas.microsoft.com/office/drawing/2014/main" id="{6847DA8B-E4AA-0830-8E1A-FBC78F914BFB}"/>
                </a:ext>
              </a:extLst>
            </p:cNvPr>
            <p:cNvSpPr txBox="1"/>
            <p:nvPr/>
          </p:nvSpPr>
          <p:spPr>
            <a:xfrm>
              <a:off x="9569216" y="1948938"/>
              <a:ext cx="1932780" cy="461665"/>
            </a:xfrm>
            <a:prstGeom prst="rect">
              <a:avLst/>
            </a:prstGeom>
            <a:grpFill/>
            <a:ln>
              <a:solidFill>
                <a:schemeClr val="tx1"/>
              </a:solidFill>
            </a:ln>
          </p:spPr>
          <p:txBody>
            <a:bodyPr wrap="square" rtlCol="0">
              <a:spAutoFit/>
            </a:bodyPr>
            <a:lstStyle/>
            <a:p>
              <a:r>
                <a:rPr lang="en-US" sz="1200" dirty="0" err="1"/>
                <a:t>BleedOutPort</a:t>
              </a:r>
              <a:r>
                <a:rPr lang="en-US" sz="1200" dirty="0"/>
                <a:t>  (</a:t>
              </a:r>
              <a:r>
                <a:rPr lang="en-US" sz="1200" dirty="0" err="1"/>
                <a:t>CbldECS</a:t>
              </a:r>
              <a:r>
                <a:rPr lang="en-US" sz="1200" dirty="0"/>
                <a:t>):</a:t>
              </a:r>
            </a:p>
            <a:p>
              <a:r>
                <a:rPr lang="en-US" sz="1200" dirty="0" err="1"/>
                <a:t>fracW</a:t>
              </a:r>
              <a:r>
                <a:rPr lang="en-US" sz="1200" dirty="0"/>
                <a:t> = 0.045</a:t>
              </a:r>
            </a:p>
          </p:txBody>
        </p:sp>
      </p:grpSp>
      <p:sp>
        <p:nvSpPr>
          <p:cNvPr id="4" name="Oval 3">
            <a:extLst>
              <a:ext uri="{FF2B5EF4-FFF2-40B4-BE49-F238E27FC236}">
                <a16:creationId xmlns:a16="http://schemas.microsoft.com/office/drawing/2014/main" id="{0CEA9E3B-E639-C695-BE5D-FDCEA4649DD7}"/>
              </a:ext>
            </a:extLst>
          </p:cNvPr>
          <p:cNvSpPr/>
          <p:nvPr/>
        </p:nvSpPr>
        <p:spPr>
          <a:xfrm>
            <a:off x="4818471" y="6194514"/>
            <a:ext cx="863910" cy="582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D015</a:t>
            </a:r>
          </a:p>
        </p:txBody>
      </p:sp>
      <p:cxnSp>
        <p:nvCxnSpPr>
          <p:cNvPr id="24" name="Connector: Elbow 23">
            <a:extLst>
              <a:ext uri="{FF2B5EF4-FFF2-40B4-BE49-F238E27FC236}">
                <a16:creationId xmlns:a16="http://schemas.microsoft.com/office/drawing/2014/main" id="{B4807BD1-4CCD-20C1-4A05-16722B21A59A}"/>
              </a:ext>
            </a:extLst>
          </p:cNvPr>
          <p:cNvCxnSpPr>
            <a:stCxn id="8" idx="3"/>
            <a:endCxn id="4" idx="2"/>
          </p:cNvCxnSpPr>
          <p:nvPr/>
        </p:nvCxnSpPr>
        <p:spPr>
          <a:xfrm>
            <a:off x="3785614" y="6208317"/>
            <a:ext cx="1032857" cy="277464"/>
          </a:xfrm>
          <a:prstGeom prst="bentConnector3">
            <a:avLst>
              <a:gd name="adj1" fmla="val 64279"/>
            </a:avLst>
          </a:prstGeom>
          <a:ln w="571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194FE0B6-A217-2F06-B430-2B08C0C3059E}"/>
              </a:ext>
            </a:extLst>
          </p:cNvPr>
          <p:cNvCxnSpPr>
            <a:cxnSpLocks/>
          </p:cNvCxnSpPr>
          <p:nvPr/>
        </p:nvCxnSpPr>
        <p:spPr>
          <a:xfrm>
            <a:off x="2851354" y="1918142"/>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D62339F-1E21-8919-94E5-CB306B2E5DB5}"/>
              </a:ext>
            </a:extLst>
          </p:cNvPr>
          <p:cNvCxnSpPr>
            <a:cxnSpLocks/>
          </p:cNvCxnSpPr>
          <p:nvPr/>
        </p:nvCxnSpPr>
        <p:spPr>
          <a:xfrm>
            <a:off x="2851354" y="3565295"/>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4CE04827-BA1F-14B0-32D6-4B11A92C67F6}"/>
              </a:ext>
            </a:extLst>
          </p:cNvPr>
          <p:cNvCxnSpPr>
            <a:cxnSpLocks/>
          </p:cNvCxnSpPr>
          <p:nvPr/>
        </p:nvCxnSpPr>
        <p:spPr>
          <a:xfrm>
            <a:off x="2851354" y="5491813"/>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6A70E584-5472-A7E2-3178-15B19210A130}"/>
              </a:ext>
            </a:extLst>
          </p:cNvPr>
          <p:cNvCxnSpPr>
            <a:cxnSpLocks/>
          </p:cNvCxnSpPr>
          <p:nvPr/>
        </p:nvCxnSpPr>
        <p:spPr>
          <a:xfrm>
            <a:off x="7795283" y="1779716"/>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22F67459-E1EE-E6C6-6DE3-C8CD29674F72}"/>
              </a:ext>
            </a:extLst>
          </p:cNvPr>
          <p:cNvCxnSpPr>
            <a:cxnSpLocks/>
          </p:cNvCxnSpPr>
          <p:nvPr/>
        </p:nvCxnSpPr>
        <p:spPr>
          <a:xfrm>
            <a:off x="7795283" y="3679367"/>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6E393F08-60E3-0EF5-3E46-954E7775C274}"/>
              </a:ext>
            </a:extLst>
          </p:cNvPr>
          <p:cNvCxnSpPr>
            <a:cxnSpLocks/>
          </p:cNvCxnSpPr>
          <p:nvPr/>
        </p:nvCxnSpPr>
        <p:spPr>
          <a:xfrm>
            <a:off x="7795283" y="4583872"/>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Connector: Elbow 33">
            <a:extLst>
              <a:ext uri="{FF2B5EF4-FFF2-40B4-BE49-F238E27FC236}">
                <a16:creationId xmlns:a16="http://schemas.microsoft.com/office/drawing/2014/main" id="{5724DFB5-4A55-83C2-4D89-6B50EE6B6859}"/>
              </a:ext>
            </a:extLst>
          </p:cNvPr>
          <p:cNvCxnSpPr>
            <a:cxnSpLocks/>
            <a:stCxn id="12" idx="3"/>
            <a:endCxn id="17" idx="2"/>
          </p:cNvCxnSpPr>
          <p:nvPr/>
        </p:nvCxnSpPr>
        <p:spPr>
          <a:xfrm flipV="1">
            <a:off x="10731592" y="4272215"/>
            <a:ext cx="257158" cy="1459048"/>
          </a:xfrm>
          <a:prstGeom prst="bentConnector2">
            <a:avLst/>
          </a:prstGeom>
          <a:ln w="57150">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5A69BBD7-AD9C-7719-C963-6FC3F84927A8}"/>
              </a:ext>
            </a:extLst>
          </p:cNvPr>
          <p:cNvSpPr/>
          <p:nvPr/>
        </p:nvSpPr>
        <p:spPr>
          <a:xfrm>
            <a:off x="10471458" y="1214075"/>
            <a:ext cx="1034585" cy="582533"/>
          </a:xfrm>
          <a:prstGeom prst="ellipse">
            <a:avLst/>
          </a:prstGeom>
          <a:solidFill>
            <a:schemeClr val="accent2"/>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t>BrnPri</a:t>
            </a:r>
            <a:endParaRPr lang="en-US" sz="1400" b="1" dirty="0"/>
          </a:p>
        </p:txBody>
      </p:sp>
      <p:cxnSp>
        <p:nvCxnSpPr>
          <p:cNvPr id="38" name="Straight Arrow Connector 37">
            <a:extLst>
              <a:ext uri="{FF2B5EF4-FFF2-40B4-BE49-F238E27FC236}">
                <a16:creationId xmlns:a16="http://schemas.microsoft.com/office/drawing/2014/main" id="{A6495581-24D0-7DA1-E5A4-D6BA2F1271FE}"/>
              </a:ext>
            </a:extLst>
          </p:cNvPr>
          <p:cNvCxnSpPr>
            <a:cxnSpLocks/>
            <a:stCxn id="17" idx="0"/>
            <a:endCxn id="37" idx="4"/>
          </p:cNvCxnSpPr>
          <p:nvPr/>
        </p:nvCxnSpPr>
        <p:spPr>
          <a:xfrm flipV="1">
            <a:off x="10988750" y="1796608"/>
            <a:ext cx="1" cy="44428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aphicFrame>
        <p:nvGraphicFramePr>
          <p:cNvPr id="46" name="Table 45">
            <a:extLst>
              <a:ext uri="{FF2B5EF4-FFF2-40B4-BE49-F238E27FC236}">
                <a16:creationId xmlns:a16="http://schemas.microsoft.com/office/drawing/2014/main" id="{5EF041FC-4036-D6E9-091D-957EE3AA21CD}"/>
              </a:ext>
            </a:extLst>
          </p:cNvPr>
          <p:cNvGraphicFramePr>
            <a:graphicFrameLocks noGrp="1"/>
          </p:cNvGraphicFramePr>
          <p:nvPr>
            <p:extLst>
              <p:ext uri="{D42A27DB-BD31-4B8C-83A1-F6EECF244321}">
                <p14:modId xmlns:p14="http://schemas.microsoft.com/office/powerpoint/2010/main" val="2858772619"/>
              </p:ext>
            </p:extLst>
          </p:nvPr>
        </p:nvGraphicFramePr>
        <p:xfrm>
          <a:off x="9289292" y="94979"/>
          <a:ext cx="2722919" cy="914400"/>
        </p:xfrm>
        <a:graphic>
          <a:graphicData uri="http://schemas.openxmlformats.org/drawingml/2006/table">
            <a:tbl>
              <a:tblPr firstRow="1" bandRow="1">
                <a:tableStyleId>{5C22544A-7EE6-4342-B048-85BDC9FD1C3A}</a:tableStyleId>
              </a:tblPr>
              <a:tblGrid>
                <a:gridCol w="2722919">
                  <a:extLst>
                    <a:ext uri="{9D8B030D-6E8A-4147-A177-3AD203B41FA5}">
                      <a16:colId xmlns:a16="http://schemas.microsoft.com/office/drawing/2014/main" val="883276999"/>
                    </a:ext>
                  </a:extLst>
                </a:gridCol>
              </a:tblGrid>
              <a:tr h="252380">
                <a:tc>
                  <a:txBody>
                    <a:bodyPr/>
                    <a:lstStyle/>
                    <a:p>
                      <a:r>
                        <a:rPr lang="en-US" sz="1400" b="0" dirty="0">
                          <a:solidFill>
                            <a:schemeClr val="tx1"/>
                          </a:solidFill>
                        </a:rPr>
                        <a:t>Cold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35852829"/>
                  </a:ext>
                </a:extLst>
              </a:tr>
              <a:tr h="252380">
                <a:tc>
                  <a:txBody>
                    <a:bodyPr/>
                    <a:lstStyle/>
                    <a:p>
                      <a:r>
                        <a:rPr lang="en-US" sz="1400" dirty="0"/>
                        <a:t>Hot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78814334"/>
                  </a:ext>
                </a:extLst>
              </a:tr>
              <a:tr h="252380">
                <a:tc>
                  <a:txBody>
                    <a:bodyPr/>
                    <a:lstStyle/>
                    <a:p>
                      <a:r>
                        <a:rPr lang="en-US" sz="1400" dirty="0"/>
                        <a:t>Connected to Hot/Cold Element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49832"/>
                  </a:ext>
                </a:extLst>
              </a:tr>
            </a:tbl>
          </a:graphicData>
        </a:graphic>
      </p:graphicFrame>
    </p:spTree>
    <p:extLst>
      <p:ext uri="{BB962C8B-B14F-4D97-AF65-F5344CB8AC3E}">
        <p14:creationId xmlns:p14="http://schemas.microsoft.com/office/powerpoint/2010/main" val="331774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34F4-6846-6866-79D5-A2CE7E485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2AAFE-705F-44B7-3919-449D6D102F7E}"/>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Element Definitions (2)</a:t>
            </a:r>
            <a:endParaRPr lang="en-US" sz="3600" b="0" dirty="0"/>
          </a:p>
        </p:txBody>
      </p:sp>
      <p:sp>
        <p:nvSpPr>
          <p:cNvPr id="3" name="TextBox 2">
            <a:extLst>
              <a:ext uri="{FF2B5EF4-FFF2-40B4-BE49-F238E27FC236}">
                <a16:creationId xmlns:a16="http://schemas.microsoft.com/office/drawing/2014/main" id="{BFABDD67-B046-FB72-CEC2-5AC5FBCCD592}"/>
              </a:ext>
            </a:extLst>
          </p:cNvPr>
          <p:cNvSpPr txBox="1"/>
          <p:nvPr/>
        </p:nvSpPr>
        <p:spPr>
          <a:xfrm>
            <a:off x="256086" y="1220396"/>
            <a:ext cx="1522438"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err="1"/>
              <a:t>FuelStart</a:t>
            </a:r>
            <a:r>
              <a:rPr lang="en-US" sz="1400" b="1" dirty="0"/>
              <a:t> (Fuel):</a:t>
            </a:r>
          </a:p>
          <a:p>
            <a:r>
              <a:rPr lang="en-US" sz="1400" dirty="0" err="1"/>
              <a:t>Tfuel</a:t>
            </a:r>
            <a:r>
              <a:rPr lang="en-US" sz="1400" dirty="0"/>
              <a:t> = 518.67</a:t>
            </a:r>
          </a:p>
          <a:p>
            <a:r>
              <a:rPr lang="en-US" sz="1400" dirty="0"/>
              <a:t>LHV = 18580.0</a:t>
            </a:r>
          </a:p>
        </p:txBody>
      </p:sp>
      <p:sp>
        <p:nvSpPr>
          <p:cNvPr id="6" name="TextBox 5">
            <a:extLst>
              <a:ext uri="{FF2B5EF4-FFF2-40B4-BE49-F238E27FC236}">
                <a16:creationId xmlns:a16="http://schemas.microsoft.com/office/drawing/2014/main" id="{F198FE38-426A-0C10-3802-5A27F7FCC882}"/>
              </a:ext>
            </a:extLst>
          </p:cNvPr>
          <p:cNvSpPr txBox="1"/>
          <p:nvPr/>
        </p:nvSpPr>
        <p:spPr>
          <a:xfrm>
            <a:off x="2514471" y="1410325"/>
            <a:ext cx="1780865" cy="1384995"/>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Burner (</a:t>
            </a:r>
            <a:r>
              <a:rPr lang="en-US" sz="1400" b="1" dirty="0" err="1"/>
              <a:t>BrnPri</a:t>
            </a:r>
            <a:r>
              <a:rPr lang="en-US" sz="1400" b="1" dirty="0"/>
              <a:t>):</a:t>
            </a:r>
          </a:p>
          <a:p>
            <a:r>
              <a:rPr lang="en-US" sz="1400" dirty="0"/>
              <a:t>FL_O.MN = 0.6</a:t>
            </a:r>
          </a:p>
          <a:p>
            <a:r>
              <a:rPr lang="en-US" sz="1400" dirty="0"/>
              <a:t>FAR = 0.035</a:t>
            </a:r>
          </a:p>
          <a:p>
            <a:r>
              <a:rPr lang="en-US" sz="1400" dirty="0" err="1"/>
              <a:t>effBase</a:t>
            </a:r>
            <a:r>
              <a:rPr lang="en-US" sz="1400" dirty="0"/>
              <a:t> = 0.997</a:t>
            </a:r>
          </a:p>
          <a:p>
            <a:r>
              <a:rPr lang="en-US" sz="1400" dirty="0" err="1"/>
              <a:t>dPqPBase</a:t>
            </a:r>
            <a:r>
              <a:rPr lang="en-US" sz="1400" dirty="0"/>
              <a:t> = 0.035</a:t>
            </a:r>
          </a:p>
          <a:p>
            <a:r>
              <a:rPr lang="en-US" sz="1400" dirty="0"/>
              <a:t>Fl_O.MN = 0.10</a:t>
            </a:r>
          </a:p>
        </p:txBody>
      </p:sp>
      <p:sp>
        <p:nvSpPr>
          <p:cNvPr id="9" name="TextBox 8">
            <a:extLst>
              <a:ext uri="{FF2B5EF4-FFF2-40B4-BE49-F238E27FC236}">
                <a16:creationId xmlns:a16="http://schemas.microsoft.com/office/drawing/2014/main" id="{9AEAF283-4E27-BBA6-603C-8FF6FC49E21B}"/>
              </a:ext>
            </a:extLst>
          </p:cNvPr>
          <p:cNvSpPr txBox="1"/>
          <p:nvPr/>
        </p:nvSpPr>
        <p:spPr>
          <a:xfrm>
            <a:off x="10434536" y="1733491"/>
            <a:ext cx="1577675"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Duct (D048):</a:t>
            </a:r>
          </a:p>
          <a:p>
            <a:r>
              <a:rPr lang="en-US" sz="1400" dirty="0"/>
              <a:t>Fl_O.MN = 0.40</a:t>
            </a:r>
          </a:p>
          <a:p>
            <a:r>
              <a:rPr lang="en-US" sz="1400" dirty="0" err="1"/>
              <a:t>dPqPbase</a:t>
            </a:r>
            <a:r>
              <a:rPr lang="en-US" sz="1400" dirty="0"/>
              <a:t> = 0.005</a:t>
            </a:r>
          </a:p>
        </p:txBody>
      </p:sp>
      <p:grpSp>
        <p:nvGrpSpPr>
          <p:cNvPr id="5" name="Group 4">
            <a:extLst>
              <a:ext uri="{FF2B5EF4-FFF2-40B4-BE49-F238E27FC236}">
                <a16:creationId xmlns:a16="http://schemas.microsoft.com/office/drawing/2014/main" id="{AB17F1E1-4A6D-6514-DFCD-F28C71D97275}"/>
              </a:ext>
            </a:extLst>
          </p:cNvPr>
          <p:cNvGrpSpPr/>
          <p:nvPr/>
        </p:nvGrpSpPr>
        <p:grpSpPr>
          <a:xfrm>
            <a:off x="5141187" y="1194882"/>
            <a:ext cx="4880264" cy="1815882"/>
            <a:chOff x="6513160" y="4805986"/>
            <a:chExt cx="4880264" cy="1815882"/>
          </a:xfrm>
          <a:solidFill>
            <a:schemeClr val="accent2">
              <a:lumMod val="40000"/>
              <a:lumOff val="60000"/>
            </a:schemeClr>
          </a:solidFill>
        </p:grpSpPr>
        <p:sp>
          <p:nvSpPr>
            <p:cNvPr id="12" name="TextBox 11">
              <a:extLst>
                <a:ext uri="{FF2B5EF4-FFF2-40B4-BE49-F238E27FC236}">
                  <a16:creationId xmlns:a16="http://schemas.microsoft.com/office/drawing/2014/main" id="{A5B70637-A6BF-8224-0987-6AD7B9E80A94}"/>
                </a:ext>
              </a:extLst>
            </p:cNvPr>
            <p:cNvSpPr txBox="1"/>
            <p:nvPr/>
          </p:nvSpPr>
          <p:spPr>
            <a:xfrm>
              <a:off x="6513160" y="4805986"/>
              <a:ext cx="4880264" cy="1815882"/>
            </a:xfrm>
            <a:prstGeom prst="rect">
              <a:avLst/>
            </a:prstGeom>
            <a:grpFill/>
            <a:ln>
              <a:solidFill>
                <a:schemeClr val="accent2">
                  <a:lumMod val="75000"/>
                </a:schemeClr>
              </a:solidFill>
            </a:ln>
          </p:spPr>
          <p:txBody>
            <a:bodyPr wrap="square" rtlCol="0">
              <a:spAutoFit/>
            </a:bodyPr>
            <a:lstStyle/>
            <a:p>
              <a:r>
                <a:rPr lang="en-US" sz="1400" b="1" dirty="0"/>
                <a:t>Turbine (TrbH):</a:t>
              </a:r>
            </a:p>
            <a:p>
              <a:r>
                <a:rPr lang="en-US" sz="1400" dirty="0"/>
                <a:t>Fl_O.MN = 0.30</a:t>
              </a:r>
            </a:p>
            <a:p>
              <a:r>
                <a:rPr lang="en-US" sz="1400" dirty="0"/>
                <a:t>Map Design Params:</a:t>
              </a:r>
            </a:p>
            <a:p>
              <a:r>
                <a:rPr lang="en-US" sz="1400" dirty="0" err="1"/>
                <a:t>effDes</a:t>
              </a:r>
              <a:r>
                <a:rPr lang="en-US" sz="1400" dirty="0"/>
                <a:t> = 0.9200</a:t>
              </a:r>
            </a:p>
            <a:p>
              <a:r>
                <a:rPr lang="en-US" sz="1400" dirty="0"/>
                <a:t>Map = 5.280</a:t>
              </a:r>
            </a:p>
            <a:p>
              <a:r>
                <a:rPr lang="en-US" sz="1400" dirty="0" err="1"/>
                <a:t>GeomDes</a:t>
              </a:r>
              <a:r>
                <a:rPr lang="en-US" sz="1400" dirty="0"/>
                <a:t> = 1.0</a:t>
              </a:r>
            </a:p>
            <a:p>
              <a:r>
                <a:rPr lang="en-US" sz="1400" dirty="0" err="1"/>
                <a:t>MapDes</a:t>
              </a:r>
              <a:r>
                <a:rPr lang="en-US" sz="1400" dirty="0"/>
                <a:t> = 4.800</a:t>
              </a:r>
            </a:p>
            <a:p>
              <a:r>
                <a:rPr lang="en-US" sz="1400" dirty="0" err="1"/>
                <a:t>NcDes</a:t>
              </a:r>
              <a:r>
                <a:rPr lang="en-US" sz="1400" dirty="0"/>
                <a:t> = 100.0</a:t>
              </a:r>
            </a:p>
          </p:txBody>
        </p:sp>
        <p:sp>
          <p:nvSpPr>
            <p:cNvPr id="13" name="TextBox 12">
              <a:extLst>
                <a:ext uri="{FF2B5EF4-FFF2-40B4-BE49-F238E27FC236}">
                  <a16:creationId xmlns:a16="http://schemas.microsoft.com/office/drawing/2014/main" id="{665B175A-E6B6-8437-95F6-59F235655EAE}"/>
                </a:ext>
              </a:extLst>
            </p:cNvPr>
            <p:cNvSpPr txBox="1"/>
            <p:nvPr/>
          </p:nvSpPr>
          <p:spPr>
            <a:xfrm>
              <a:off x="8503920" y="4961469"/>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(B030TrbHNC):</a:t>
              </a:r>
            </a:p>
            <a:p>
              <a:r>
                <a:rPr lang="en-US" sz="1200" dirty="0" err="1"/>
                <a:t>Pfract</a:t>
              </a:r>
              <a:r>
                <a:rPr lang="en-US" sz="1200" dirty="0"/>
                <a:t> = 1.0</a:t>
              </a:r>
            </a:p>
            <a:p>
              <a:r>
                <a:rPr lang="en-US" sz="1200" dirty="0" err="1"/>
                <a:t>diaPump</a:t>
              </a:r>
              <a:r>
                <a:rPr lang="en-US" sz="1200" dirty="0"/>
                <a:t> = 0.0</a:t>
              </a:r>
            </a:p>
          </p:txBody>
        </p:sp>
        <p:sp>
          <p:nvSpPr>
            <p:cNvPr id="14" name="TextBox 13">
              <a:extLst>
                <a:ext uri="{FF2B5EF4-FFF2-40B4-BE49-F238E27FC236}">
                  <a16:creationId xmlns:a16="http://schemas.microsoft.com/office/drawing/2014/main" id="{110E39FD-1687-86EF-9B72-B791C2523FB0}"/>
                </a:ext>
              </a:extLst>
            </p:cNvPr>
            <p:cNvSpPr txBox="1"/>
            <p:nvPr/>
          </p:nvSpPr>
          <p:spPr>
            <a:xfrm>
              <a:off x="8503920" y="5791668"/>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(B030TrbHCh):</a:t>
              </a:r>
            </a:p>
            <a:p>
              <a:r>
                <a:rPr lang="en-US" sz="1200" dirty="0" err="1"/>
                <a:t>Pfract</a:t>
              </a:r>
              <a:r>
                <a:rPr lang="en-US" sz="1200" dirty="0"/>
                <a:t> = 0.0</a:t>
              </a:r>
            </a:p>
            <a:p>
              <a:r>
                <a:rPr lang="en-US" sz="1200" dirty="0" err="1"/>
                <a:t>diaPump</a:t>
              </a:r>
              <a:r>
                <a:rPr lang="en-US" sz="1200" dirty="0"/>
                <a:t> = 0.0</a:t>
              </a:r>
            </a:p>
          </p:txBody>
        </p:sp>
      </p:grpSp>
      <p:grpSp>
        <p:nvGrpSpPr>
          <p:cNvPr id="16" name="Group 15">
            <a:extLst>
              <a:ext uri="{FF2B5EF4-FFF2-40B4-BE49-F238E27FC236}">
                <a16:creationId xmlns:a16="http://schemas.microsoft.com/office/drawing/2014/main" id="{971133BB-AC46-A728-FFE0-0F2D5AA3A48E}"/>
              </a:ext>
            </a:extLst>
          </p:cNvPr>
          <p:cNvGrpSpPr/>
          <p:nvPr/>
        </p:nvGrpSpPr>
        <p:grpSpPr>
          <a:xfrm>
            <a:off x="7186079" y="3154127"/>
            <a:ext cx="4880264" cy="1815882"/>
            <a:chOff x="6513160" y="4805986"/>
            <a:chExt cx="4880264" cy="1815882"/>
          </a:xfrm>
          <a:solidFill>
            <a:schemeClr val="accent2">
              <a:lumMod val="40000"/>
              <a:lumOff val="60000"/>
            </a:schemeClr>
          </a:solidFill>
        </p:grpSpPr>
        <p:sp>
          <p:nvSpPr>
            <p:cNvPr id="22" name="TextBox 21">
              <a:extLst>
                <a:ext uri="{FF2B5EF4-FFF2-40B4-BE49-F238E27FC236}">
                  <a16:creationId xmlns:a16="http://schemas.microsoft.com/office/drawing/2014/main" id="{48A9A7FA-29B6-BC55-AD93-2791259A3D4B}"/>
                </a:ext>
              </a:extLst>
            </p:cNvPr>
            <p:cNvSpPr txBox="1"/>
            <p:nvPr/>
          </p:nvSpPr>
          <p:spPr>
            <a:xfrm>
              <a:off x="6513160" y="4805986"/>
              <a:ext cx="4880264" cy="1815882"/>
            </a:xfrm>
            <a:prstGeom prst="rect">
              <a:avLst/>
            </a:prstGeom>
            <a:grpFill/>
            <a:ln>
              <a:solidFill>
                <a:schemeClr val="accent2">
                  <a:lumMod val="75000"/>
                </a:schemeClr>
              </a:solidFill>
            </a:ln>
          </p:spPr>
          <p:txBody>
            <a:bodyPr wrap="square" rtlCol="0">
              <a:spAutoFit/>
            </a:bodyPr>
            <a:lstStyle/>
            <a:p>
              <a:r>
                <a:rPr lang="en-US" sz="1400" b="1" dirty="0"/>
                <a:t>Turbine (TrbL):</a:t>
              </a:r>
            </a:p>
            <a:p>
              <a:r>
                <a:rPr lang="en-US" sz="1400" dirty="0"/>
                <a:t>Fl_O.MN = 0.35</a:t>
              </a:r>
            </a:p>
            <a:p>
              <a:r>
                <a:rPr lang="en-US" sz="1400" dirty="0"/>
                <a:t>Map Design Params:</a:t>
              </a:r>
            </a:p>
            <a:p>
              <a:r>
                <a:rPr lang="en-US" sz="1400" dirty="0" err="1"/>
                <a:t>effDes</a:t>
              </a:r>
              <a:r>
                <a:rPr lang="en-US" sz="1400" dirty="0"/>
                <a:t> = 0.9300</a:t>
              </a:r>
            </a:p>
            <a:p>
              <a:r>
                <a:rPr lang="en-US" sz="1400" dirty="0"/>
                <a:t>Map = 5.010</a:t>
              </a:r>
            </a:p>
            <a:p>
              <a:r>
                <a:rPr lang="en-US" sz="1400" dirty="0" err="1"/>
                <a:t>GeomDes</a:t>
              </a:r>
              <a:r>
                <a:rPr lang="en-US" sz="1400" dirty="0"/>
                <a:t> = 1.0</a:t>
              </a:r>
            </a:p>
            <a:p>
              <a:r>
                <a:rPr lang="en-US" sz="1400" dirty="0" err="1"/>
                <a:t>MapDes</a:t>
              </a:r>
              <a:r>
                <a:rPr lang="en-US" sz="1400" dirty="0"/>
                <a:t> = 5.500</a:t>
              </a:r>
            </a:p>
            <a:p>
              <a:r>
                <a:rPr lang="en-US" sz="1400" dirty="0" err="1"/>
                <a:t>NcDes</a:t>
              </a:r>
              <a:r>
                <a:rPr lang="en-US" sz="1400" dirty="0"/>
                <a:t> = 100.0</a:t>
              </a:r>
            </a:p>
          </p:txBody>
        </p:sp>
        <p:sp>
          <p:nvSpPr>
            <p:cNvPr id="23" name="TextBox 22">
              <a:extLst>
                <a:ext uri="{FF2B5EF4-FFF2-40B4-BE49-F238E27FC236}">
                  <a16:creationId xmlns:a16="http://schemas.microsoft.com/office/drawing/2014/main" id="{CE197007-1CF9-AB57-14E2-C3505AF87EB8}"/>
                </a:ext>
              </a:extLst>
            </p:cNvPr>
            <p:cNvSpPr txBox="1"/>
            <p:nvPr/>
          </p:nvSpPr>
          <p:spPr>
            <a:xfrm>
              <a:off x="8503920" y="4961469"/>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(B028TrbLNC):</a:t>
              </a:r>
            </a:p>
            <a:p>
              <a:r>
                <a:rPr lang="en-US" sz="1200" dirty="0" err="1"/>
                <a:t>Pfract</a:t>
              </a:r>
              <a:r>
                <a:rPr lang="en-US" sz="1200" dirty="0"/>
                <a:t> = 1.0</a:t>
              </a:r>
            </a:p>
            <a:p>
              <a:r>
                <a:rPr lang="en-US" sz="1200" dirty="0" err="1"/>
                <a:t>diaPump</a:t>
              </a:r>
              <a:r>
                <a:rPr lang="en-US" sz="1200" dirty="0"/>
                <a:t> = 0.0</a:t>
              </a:r>
            </a:p>
          </p:txBody>
        </p:sp>
        <p:sp>
          <p:nvSpPr>
            <p:cNvPr id="24" name="TextBox 23">
              <a:extLst>
                <a:ext uri="{FF2B5EF4-FFF2-40B4-BE49-F238E27FC236}">
                  <a16:creationId xmlns:a16="http://schemas.microsoft.com/office/drawing/2014/main" id="{BFA21E74-EF6E-D6EA-66AE-21CB86899707}"/>
                </a:ext>
              </a:extLst>
            </p:cNvPr>
            <p:cNvSpPr txBox="1"/>
            <p:nvPr/>
          </p:nvSpPr>
          <p:spPr>
            <a:xfrm>
              <a:off x="8503920" y="5791668"/>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(B028TrbLCh):</a:t>
              </a:r>
            </a:p>
            <a:p>
              <a:r>
                <a:rPr lang="en-US" sz="1200" dirty="0" err="1"/>
                <a:t>Pfract</a:t>
              </a:r>
              <a:r>
                <a:rPr lang="en-US" sz="1200" dirty="0"/>
                <a:t> = 0.0</a:t>
              </a:r>
            </a:p>
            <a:p>
              <a:r>
                <a:rPr lang="en-US" sz="1200" dirty="0" err="1"/>
                <a:t>diaPump</a:t>
              </a:r>
              <a:r>
                <a:rPr lang="en-US" sz="1200" dirty="0"/>
                <a:t> = 0.0</a:t>
              </a:r>
            </a:p>
          </p:txBody>
        </p:sp>
      </p:grpSp>
      <p:sp>
        <p:nvSpPr>
          <p:cNvPr id="25" name="TextBox 24">
            <a:extLst>
              <a:ext uri="{FF2B5EF4-FFF2-40B4-BE49-F238E27FC236}">
                <a16:creationId xmlns:a16="http://schemas.microsoft.com/office/drawing/2014/main" id="{512D1C6F-AC4E-8512-B777-E3BF932A460B}"/>
              </a:ext>
            </a:extLst>
          </p:cNvPr>
          <p:cNvSpPr txBox="1"/>
          <p:nvPr/>
        </p:nvSpPr>
        <p:spPr>
          <a:xfrm>
            <a:off x="5137201" y="3703262"/>
            <a:ext cx="1735561"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Duct (D070):</a:t>
            </a:r>
          </a:p>
          <a:p>
            <a:r>
              <a:rPr lang="en-US" sz="1400" dirty="0"/>
              <a:t>Fl_O.MN = 0.60</a:t>
            </a:r>
          </a:p>
          <a:p>
            <a:r>
              <a:rPr lang="en-US" sz="1400" dirty="0" err="1"/>
              <a:t>dPqPbase</a:t>
            </a:r>
            <a:r>
              <a:rPr lang="en-US" sz="1400" dirty="0"/>
              <a:t> = 0.01</a:t>
            </a:r>
          </a:p>
        </p:txBody>
      </p:sp>
      <p:sp>
        <p:nvSpPr>
          <p:cNvPr id="26" name="TextBox 25">
            <a:extLst>
              <a:ext uri="{FF2B5EF4-FFF2-40B4-BE49-F238E27FC236}">
                <a16:creationId xmlns:a16="http://schemas.microsoft.com/office/drawing/2014/main" id="{FCF20695-3828-2F64-7A8D-8963DBDD0DAA}"/>
              </a:ext>
            </a:extLst>
          </p:cNvPr>
          <p:cNvSpPr txBox="1"/>
          <p:nvPr/>
        </p:nvSpPr>
        <p:spPr>
          <a:xfrm>
            <a:off x="5185501" y="4970009"/>
            <a:ext cx="1735561" cy="738664"/>
          </a:xfrm>
          <a:prstGeom prst="rect">
            <a:avLst/>
          </a:prstGeom>
          <a:solidFill>
            <a:schemeClr val="accent1">
              <a:lumMod val="20000"/>
              <a:lumOff val="80000"/>
            </a:schemeClr>
          </a:solidFill>
          <a:ln>
            <a:solidFill>
              <a:schemeClr val="tx1"/>
            </a:solidFill>
          </a:ln>
        </p:spPr>
        <p:txBody>
          <a:bodyPr wrap="square" rtlCol="0">
            <a:spAutoFit/>
          </a:bodyPr>
          <a:lstStyle>
            <a:defPPr>
              <a:defRPr lang="en-US"/>
            </a:defPPr>
            <a:lvl1pPr>
              <a:defRPr sz="1400" b="1"/>
            </a:lvl1pPr>
          </a:lstStyle>
          <a:p>
            <a:r>
              <a:rPr lang="en-US" dirty="0"/>
              <a:t>Duct (D015):</a:t>
            </a:r>
          </a:p>
          <a:p>
            <a:r>
              <a:rPr lang="en-US" b="0" dirty="0"/>
              <a:t>Fl_O.MN = 0.30</a:t>
            </a:r>
          </a:p>
          <a:p>
            <a:r>
              <a:rPr lang="en-US" b="0" dirty="0" err="1"/>
              <a:t>dPqPbase</a:t>
            </a:r>
            <a:r>
              <a:rPr lang="en-US" b="0" dirty="0"/>
              <a:t> = 0.02</a:t>
            </a:r>
          </a:p>
        </p:txBody>
      </p:sp>
      <p:sp>
        <p:nvSpPr>
          <p:cNvPr id="27" name="TextBox 26">
            <a:extLst>
              <a:ext uri="{FF2B5EF4-FFF2-40B4-BE49-F238E27FC236}">
                <a16:creationId xmlns:a16="http://schemas.microsoft.com/office/drawing/2014/main" id="{CC4E57B3-A7CC-58C2-2E45-80E1C757CC10}"/>
              </a:ext>
            </a:extLst>
          </p:cNvPr>
          <p:cNvSpPr txBox="1"/>
          <p:nvPr/>
        </p:nvSpPr>
        <p:spPr>
          <a:xfrm>
            <a:off x="7240234" y="5475347"/>
            <a:ext cx="2204516" cy="954107"/>
          </a:xfrm>
          <a:prstGeom prst="rect">
            <a:avLst/>
          </a:prstGeom>
          <a:solidFill>
            <a:schemeClr val="accent3">
              <a:lumMod val="20000"/>
              <a:lumOff val="80000"/>
            </a:schemeClr>
          </a:solidFill>
          <a:ln>
            <a:solidFill>
              <a:schemeClr val="accent6"/>
            </a:solidFill>
          </a:ln>
        </p:spPr>
        <p:txBody>
          <a:bodyPr wrap="square" rtlCol="0">
            <a:spAutoFit/>
          </a:bodyPr>
          <a:lstStyle/>
          <a:p>
            <a:r>
              <a:rPr lang="en-US" sz="1400" b="1" dirty="0"/>
              <a:t>Shaft (</a:t>
            </a:r>
            <a:r>
              <a:rPr lang="en-US" sz="1400" b="1" dirty="0" err="1"/>
              <a:t>ShH</a:t>
            </a:r>
            <a:r>
              <a:rPr lang="en-US" sz="1400" b="1" dirty="0"/>
              <a:t>):</a:t>
            </a:r>
          </a:p>
          <a:p>
            <a:r>
              <a:rPr lang="en-US" sz="1400" dirty="0" err="1"/>
              <a:t>ShaftInputPort</a:t>
            </a:r>
            <a:r>
              <a:rPr lang="en-US" sz="1400" dirty="0"/>
              <a:t> HPC, HPT</a:t>
            </a:r>
          </a:p>
          <a:p>
            <a:r>
              <a:rPr lang="en-US" sz="1400" dirty="0"/>
              <a:t>HPX = 0.0</a:t>
            </a:r>
          </a:p>
          <a:p>
            <a:r>
              <a:rPr lang="en-US" sz="1400" dirty="0" err="1"/>
              <a:t>Nmech</a:t>
            </a:r>
            <a:r>
              <a:rPr lang="en-US" sz="1400" dirty="0"/>
              <a:t> = 8600.0</a:t>
            </a:r>
          </a:p>
        </p:txBody>
      </p:sp>
      <p:sp>
        <p:nvSpPr>
          <p:cNvPr id="28" name="TextBox 27">
            <a:extLst>
              <a:ext uri="{FF2B5EF4-FFF2-40B4-BE49-F238E27FC236}">
                <a16:creationId xmlns:a16="http://schemas.microsoft.com/office/drawing/2014/main" id="{0C15B14A-3AC6-1ADB-72D6-CF08B67EE760}"/>
              </a:ext>
            </a:extLst>
          </p:cNvPr>
          <p:cNvSpPr txBox="1"/>
          <p:nvPr/>
        </p:nvSpPr>
        <p:spPr>
          <a:xfrm>
            <a:off x="9626013" y="5475347"/>
            <a:ext cx="2440330" cy="954107"/>
          </a:xfrm>
          <a:prstGeom prst="rect">
            <a:avLst/>
          </a:prstGeom>
          <a:solidFill>
            <a:schemeClr val="accent3">
              <a:lumMod val="20000"/>
              <a:lumOff val="80000"/>
            </a:schemeClr>
          </a:solidFill>
          <a:ln>
            <a:solidFill>
              <a:schemeClr val="accent6"/>
            </a:solidFill>
          </a:ln>
        </p:spPr>
        <p:txBody>
          <a:bodyPr wrap="square" rtlCol="0">
            <a:spAutoFit/>
          </a:bodyPr>
          <a:lstStyle/>
          <a:p>
            <a:r>
              <a:rPr lang="en-US" sz="1400" b="1" dirty="0"/>
              <a:t>Shaft (</a:t>
            </a:r>
            <a:r>
              <a:rPr lang="en-US" sz="1400" b="1" dirty="0" err="1"/>
              <a:t>ShL</a:t>
            </a:r>
            <a:r>
              <a:rPr lang="en-US" sz="1400" b="1" dirty="0"/>
              <a:t>):</a:t>
            </a:r>
          </a:p>
          <a:p>
            <a:r>
              <a:rPr lang="en-US" sz="1400" dirty="0" err="1"/>
              <a:t>ShaftInputPort</a:t>
            </a:r>
            <a:r>
              <a:rPr lang="en-US" sz="1400" dirty="0"/>
              <a:t> FAN, LPC, LPT</a:t>
            </a:r>
          </a:p>
          <a:p>
            <a:r>
              <a:rPr lang="en-US" sz="1400" dirty="0"/>
              <a:t>HPX = 0.0</a:t>
            </a:r>
          </a:p>
          <a:p>
            <a:r>
              <a:rPr lang="en-US" sz="1400" dirty="0" err="1"/>
              <a:t>Nmech</a:t>
            </a:r>
            <a:r>
              <a:rPr lang="en-US" sz="1400" dirty="0"/>
              <a:t> = 2200.0</a:t>
            </a:r>
          </a:p>
        </p:txBody>
      </p:sp>
      <p:sp>
        <p:nvSpPr>
          <p:cNvPr id="4" name="TextBox 3">
            <a:extLst>
              <a:ext uri="{FF2B5EF4-FFF2-40B4-BE49-F238E27FC236}">
                <a16:creationId xmlns:a16="http://schemas.microsoft.com/office/drawing/2014/main" id="{D06B8E9D-5DD3-3B51-CEE2-BCF1297DD9DD}"/>
              </a:ext>
            </a:extLst>
          </p:cNvPr>
          <p:cNvSpPr txBox="1"/>
          <p:nvPr/>
        </p:nvSpPr>
        <p:spPr>
          <a:xfrm>
            <a:off x="125459" y="2867001"/>
            <a:ext cx="4615924" cy="3970318"/>
          </a:xfrm>
          <a:prstGeom prst="rect">
            <a:avLst/>
          </a:prstGeom>
          <a:solidFill>
            <a:schemeClr val="accent3">
              <a:lumMod val="20000"/>
              <a:lumOff val="80000"/>
            </a:schemeClr>
          </a:solidFill>
          <a:ln>
            <a:solidFill>
              <a:schemeClr val="accent6"/>
            </a:solidFill>
          </a:ln>
        </p:spPr>
        <p:txBody>
          <a:bodyPr wrap="square" rtlCol="0">
            <a:spAutoFit/>
          </a:bodyPr>
          <a:lstStyle>
            <a:defPPr>
              <a:defRPr lang="en-US"/>
            </a:defPPr>
            <a:lvl1pPr>
              <a:defRPr sz="1400" b="1"/>
            </a:lvl1pPr>
          </a:lstStyle>
          <a:p>
            <a:r>
              <a:rPr lang="en-US" dirty="0"/>
              <a:t>Nozzle (</a:t>
            </a:r>
            <a:r>
              <a:rPr lang="en-US" dirty="0" err="1"/>
              <a:t>NozPri</a:t>
            </a:r>
            <a:r>
              <a:rPr lang="en-US" dirty="0"/>
              <a:t> &amp; </a:t>
            </a:r>
            <a:r>
              <a:rPr lang="en-US" dirty="0" err="1"/>
              <a:t>NozSec</a:t>
            </a:r>
            <a:r>
              <a:rPr lang="en-US" dirty="0"/>
              <a:t>):</a:t>
            </a:r>
          </a:p>
          <a:p>
            <a:r>
              <a:rPr lang="en-US" b="0" dirty="0" err="1"/>
              <a:t>switchType</a:t>
            </a:r>
            <a:r>
              <a:rPr lang="en-US" b="0" dirty="0"/>
              <a:t> = "CONIC"</a:t>
            </a:r>
          </a:p>
          <a:p>
            <a:r>
              <a:rPr lang="en-US" b="0" dirty="0" err="1"/>
              <a:t>switchCoef</a:t>
            </a:r>
            <a:r>
              <a:rPr lang="en-US" b="0" dirty="0"/>
              <a:t> = "CV"</a:t>
            </a:r>
          </a:p>
          <a:p>
            <a:r>
              <a:rPr lang="en-US" b="0" dirty="0"/>
              <a:t>Cang = 0.997</a:t>
            </a:r>
          </a:p>
          <a:p>
            <a:r>
              <a:rPr lang="en-US" b="0" dirty="0"/>
              <a:t>Table </a:t>
            </a:r>
            <a:r>
              <a:rPr lang="en-US" b="0" dirty="0" err="1"/>
              <a:t>DischargeCoeff</a:t>
            </a:r>
            <a:r>
              <a:rPr lang="en-US" b="0" dirty="0"/>
              <a:t>( real PR ) { </a:t>
            </a:r>
          </a:p>
          <a:p>
            <a:r>
              <a:rPr lang="en-US" b="0" dirty="0"/>
              <a:t>PR =   {1.0, 1.08, 1.25, 1.6, 2, 2.25,  2.5,   3.0,  4.0, 5.0, 7.0}</a:t>
            </a:r>
          </a:p>
          <a:p>
            <a:r>
              <a:rPr lang="en-US" b="0" dirty="0" err="1"/>
              <a:t>CdTh</a:t>
            </a:r>
            <a:r>
              <a:rPr lang="en-US" b="0" dirty="0"/>
              <a:t> = {0.89, 0.907, 0.922, 0.945, 0.96, 0.966, 0.968, 0.97, 0.9725, 0.974, 0.975}</a:t>
            </a:r>
          </a:p>
          <a:p>
            <a:r>
              <a:rPr lang="en-US" b="0" dirty="0" err="1"/>
              <a:t>PR.interp</a:t>
            </a:r>
            <a:r>
              <a:rPr lang="en-US" b="0" dirty="0"/>
              <a:t> = "linear"}</a:t>
            </a:r>
          </a:p>
          <a:p>
            <a:r>
              <a:rPr lang="en-US" b="0" dirty="0"/>
              <a:t>Subelement CDTH </a:t>
            </a:r>
            <a:r>
              <a:rPr lang="en-US" b="0" dirty="0" err="1"/>
              <a:t>S_CdTh</a:t>
            </a:r>
            <a:r>
              <a:rPr lang="en-US" b="0" dirty="0"/>
              <a:t> {}</a:t>
            </a:r>
          </a:p>
          <a:p>
            <a:r>
              <a:rPr lang="en-US" b="0" dirty="0"/>
              <a:t>Table </a:t>
            </a:r>
            <a:r>
              <a:rPr lang="en-US" b="0" dirty="0" err="1"/>
              <a:t>VelCoeff</a:t>
            </a:r>
            <a:r>
              <a:rPr lang="en-US" b="0" dirty="0"/>
              <a:t>( real PR ) { </a:t>
            </a:r>
          </a:p>
          <a:p>
            <a:r>
              <a:rPr lang="en-US" b="0" dirty="0"/>
              <a:t>PR = {1.0,  2.1, 2.6444, 3.1889, 3.7333, 4.2778, 4.8222, 5.3667, 5.9111, 6.4556, 7.0}</a:t>
            </a:r>
          </a:p>
          <a:p>
            <a:r>
              <a:rPr lang="en-US" b="0" dirty="0" err="1"/>
              <a:t>Cv</a:t>
            </a:r>
            <a:r>
              <a:rPr lang="en-US" b="0" dirty="0"/>
              <a:t> = {0.9962, 0.9952, 0.9936, 0.9886, 0.9825, 0.9757, 0.9691, 0.9631, 0.9574, 0.952, 0.947}</a:t>
            </a:r>
          </a:p>
          <a:p>
            <a:r>
              <a:rPr lang="en-US" b="0" dirty="0" err="1"/>
              <a:t>PR.interp</a:t>
            </a:r>
            <a:r>
              <a:rPr lang="en-US" b="0" dirty="0"/>
              <a:t> = "linear"} </a:t>
            </a:r>
          </a:p>
          <a:p>
            <a:r>
              <a:rPr lang="en-US" b="0" dirty="0"/>
              <a:t>Subelement CVELOCITY </a:t>
            </a:r>
            <a:r>
              <a:rPr lang="en-US" b="0" dirty="0" err="1"/>
              <a:t>S_Cv</a:t>
            </a:r>
            <a:r>
              <a:rPr lang="en-US" b="0" dirty="0"/>
              <a:t> {}</a:t>
            </a:r>
          </a:p>
          <a:p>
            <a:r>
              <a:rPr lang="en-US" b="0" dirty="0" err="1"/>
              <a:t>PsExhName</a:t>
            </a:r>
            <a:r>
              <a:rPr lang="en-US" b="0" dirty="0"/>
              <a:t> = "</a:t>
            </a:r>
            <a:r>
              <a:rPr lang="en-US" b="0" dirty="0" err="1"/>
              <a:t>Amb.Ps</a:t>
            </a:r>
            <a:r>
              <a:rPr lang="en-US" b="0" dirty="0"/>
              <a:t>"</a:t>
            </a:r>
          </a:p>
        </p:txBody>
      </p:sp>
      <p:sp>
        <p:nvSpPr>
          <p:cNvPr id="7" name="Oval 6">
            <a:extLst>
              <a:ext uri="{FF2B5EF4-FFF2-40B4-BE49-F238E27FC236}">
                <a16:creationId xmlns:a16="http://schemas.microsoft.com/office/drawing/2014/main" id="{F49C54AA-E81A-7F69-9328-F155852E3832}"/>
              </a:ext>
            </a:extLst>
          </p:cNvPr>
          <p:cNvSpPr/>
          <p:nvPr/>
        </p:nvSpPr>
        <p:spPr>
          <a:xfrm>
            <a:off x="5466391" y="6127639"/>
            <a:ext cx="1173779" cy="5027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t>SpltFan</a:t>
            </a:r>
            <a:endParaRPr lang="en-US" sz="1400" b="1" dirty="0"/>
          </a:p>
        </p:txBody>
      </p:sp>
      <p:sp>
        <p:nvSpPr>
          <p:cNvPr id="8" name="Oval 7">
            <a:extLst>
              <a:ext uri="{FF2B5EF4-FFF2-40B4-BE49-F238E27FC236}">
                <a16:creationId xmlns:a16="http://schemas.microsoft.com/office/drawing/2014/main" id="{F9EB350D-512C-4F2A-ABA3-31F18BE32F09}"/>
              </a:ext>
            </a:extLst>
          </p:cNvPr>
          <p:cNvSpPr/>
          <p:nvPr/>
        </p:nvSpPr>
        <p:spPr>
          <a:xfrm>
            <a:off x="430416" y="2125822"/>
            <a:ext cx="1173779" cy="5027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B030</a:t>
            </a:r>
          </a:p>
        </p:txBody>
      </p:sp>
      <p:cxnSp>
        <p:nvCxnSpPr>
          <p:cNvPr id="10" name="Straight Arrow Connector 9">
            <a:extLst>
              <a:ext uri="{FF2B5EF4-FFF2-40B4-BE49-F238E27FC236}">
                <a16:creationId xmlns:a16="http://schemas.microsoft.com/office/drawing/2014/main" id="{895B5BAD-EA1E-8A48-01D8-BC9B9A011EEB}"/>
              </a:ext>
            </a:extLst>
          </p:cNvPr>
          <p:cNvCxnSpPr>
            <a:cxnSpLocks/>
            <a:stCxn id="6" idx="3"/>
            <a:endCxn id="12" idx="1"/>
          </p:cNvCxnSpPr>
          <p:nvPr/>
        </p:nvCxnSpPr>
        <p:spPr>
          <a:xfrm>
            <a:off x="4295336" y="2102823"/>
            <a:ext cx="845851"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E3499584-F6A8-4716-4A34-907392486D3E}"/>
              </a:ext>
            </a:extLst>
          </p:cNvPr>
          <p:cNvCxnSpPr>
            <a:cxnSpLocks/>
            <a:stCxn id="8" idx="6"/>
            <a:endCxn id="6" idx="1"/>
          </p:cNvCxnSpPr>
          <p:nvPr/>
        </p:nvCxnSpPr>
        <p:spPr>
          <a:xfrm flipV="1">
            <a:off x="1604195" y="2102823"/>
            <a:ext cx="910276" cy="274367"/>
          </a:xfrm>
          <a:prstGeom prst="bentConnector3">
            <a:avLst>
              <a:gd name="adj1" fmla="val 5972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Connector: Elbow 30">
            <a:extLst>
              <a:ext uri="{FF2B5EF4-FFF2-40B4-BE49-F238E27FC236}">
                <a16:creationId xmlns:a16="http://schemas.microsoft.com/office/drawing/2014/main" id="{067A3FB8-C321-CEA6-B2DB-B129D4A2066F}"/>
              </a:ext>
            </a:extLst>
          </p:cNvPr>
          <p:cNvCxnSpPr>
            <a:cxnSpLocks/>
            <a:stCxn id="3" idx="3"/>
            <a:endCxn id="6" idx="1"/>
          </p:cNvCxnSpPr>
          <p:nvPr/>
        </p:nvCxnSpPr>
        <p:spPr>
          <a:xfrm>
            <a:off x="1778524" y="1589728"/>
            <a:ext cx="735947" cy="513095"/>
          </a:xfrm>
          <a:prstGeom prst="bentConnector3">
            <a:avLst>
              <a:gd name="adj1" fmla="val 50000"/>
            </a:avLst>
          </a:prstGeom>
          <a:ln w="57150">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FA31CE9-871F-2EA4-BBCC-4AD121901494}"/>
              </a:ext>
            </a:extLst>
          </p:cNvPr>
          <p:cNvCxnSpPr>
            <a:cxnSpLocks/>
            <a:stCxn id="12" idx="3"/>
            <a:endCxn id="9" idx="1"/>
          </p:cNvCxnSpPr>
          <p:nvPr/>
        </p:nvCxnSpPr>
        <p:spPr>
          <a:xfrm>
            <a:off x="10021451" y="2102823"/>
            <a:ext cx="413085"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59BF5D7C-D6D2-1603-B03E-769F87D1FEE6}"/>
              </a:ext>
            </a:extLst>
          </p:cNvPr>
          <p:cNvCxnSpPr>
            <a:cxnSpLocks/>
            <a:stCxn id="9" idx="2"/>
          </p:cNvCxnSpPr>
          <p:nvPr/>
        </p:nvCxnSpPr>
        <p:spPr>
          <a:xfrm>
            <a:off x="11223374" y="2472155"/>
            <a:ext cx="0" cy="68197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CFBEDCB7-CFD1-50A1-31A4-93459923AC46}"/>
              </a:ext>
            </a:extLst>
          </p:cNvPr>
          <p:cNvCxnSpPr>
            <a:cxnSpLocks/>
            <a:stCxn id="22" idx="1"/>
            <a:endCxn id="25" idx="3"/>
          </p:cNvCxnSpPr>
          <p:nvPr/>
        </p:nvCxnSpPr>
        <p:spPr>
          <a:xfrm flipH="1">
            <a:off x="6872762" y="4062068"/>
            <a:ext cx="313317" cy="105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618CD466-E28B-43C3-5535-788BDDF7BE29}"/>
              </a:ext>
            </a:extLst>
          </p:cNvPr>
          <p:cNvCxnSpPr>
            <a:cxnSpLocks/>
            <a:stCxn id="25" idx="1"/>
          </p:cNvCxnSpPr>
          <p:nvPr/>
        </p:nvCxnSpPr>
        <p:spPr>
          <a:xfrm flipH="1" flipV="1">
            <a:off x="4741383" y="4062068"/>
            <a:ext cx="395818" cy="105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79814F5-4864-8945-B6FA-27331B25EF05}"/>
              </a:ext>
            </a:extLst>
          </p:cNvPr>
          <p:cNvCxnSpPr>
            <a:cxnSpLocks/>
            <a:stCxn id="7" idx="0"/>
            <a:endCxn id="26" idx="2"/>
          </p:cNvCxnSpPr>
          <p:nvPr/>
        </p:nvCxnSpPr>
        <p:spPr>
          <a:xfrm flipV="1">
            <a:off x="6053281" y="5708673"/>
            <a:ext cx="1" cy="41896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14C78DA8-76EE-48FD-3106-3A4918BBFA0F}"/>
              </a:ext>
            </a:extLst>
          </p:cNvPr>
          <p:cNvCxnSpPr>
            <a:cxnSpLocks/>
            <a:stCxn id="26" idx="1"/>
          </p:cNvCxnSpPr>
          <p:nvPr/>
        </p:nvCxnSpPr>
        <p:spPr>
          <a:xfrm flipH="1">
            <a:off x="4741383" y="5339341"/>
            <a:ext cx="444118"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aphicFrame>
        <p:nvGraphicFramePr>
          <p:cNvPr id="76" name="Table 75">
            <a:extLst>
              <a:ext uri="{FF2B5EF4-FFF2-40B4-BE49-F238E27FC236}">
                <a16:creationId xmlns:a16="http://schemas.microsoft.com/office/drawing/2014/main" id="{5EB340BA-F32B-F6F8-FA28-268149144664}"/>
              </a:ext>
            </a:extLst>
          </p:cNvPr>
          <p:cNvGraphicFramePr>
            <a:graphicFrameLocks noGrp="1"/>
          </p:cNvGraphicFramePr>
          <p:nvPr>
            <p:extLst>
              <p:ext uri="{D42A27DB-BD31-4B8C-83A1-F6EECF244321}">
                <p14:modId xmlns:p14="http://schemas.microsoft.com/office/powerpoint/2010/main" val="1849833765"/>
              </p:ext>
            </p:extLst>
          </p:nvPr>
        </p:nvGraphicFramePr>
        <p:xfrm>
          <a:off x="9289292" y="94979"/>
          <a:ext cx="2722919" cy="914400"/>
        </p:xfrm>
        <a:graphic>
          <a:graphicData uri="http://schemas.openxmlformats.org/drawingml/2006/table">
            <a:tbl>
              <a:tblPr firstRow="1" bandRow="1">
                <a:tableStyleId>{5C22544A-7EE6-4342-B048-85BDC9FD1C3A}</a:tableStyleId>
              </a:tblPr>
              <a:tblGrid>
                <a:gridCol w="2722919">
                  <a:extLst>
                    <a:ext uri="{9D8B030D-6E8A-4147-A177-3AD203B41FA5}">
                      <a16:colId xmlns:a16="http://schemas.microsoft.com/office/drawing/2014/main" val="883276999"/>
                    </a:ext>
                  </a:extLst>
                </a:gridCol>
              </a:tblGrid>
              <a:tr h="252380">
                <a:tc>
                  <a:txBody>
                    <a:bodyPr/>
                    <a:lstStyle/>
                    <a:p>
                      <a:r>
                        <a:rPr lang="en-US" sz="1400" b="0" dirty="0">
                          <a:solidFill>
                            <a:schemeClr val="tx1"/>
                          </a:solidFill>
                        </a:rPr>
                        <a:t>Cold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35852829"/>
                  </a:ext>
                </a:extLst>
              </a:tr>
              <a:tr h="252380">
                <a:tc>
                  <a:txBody>
                    <a:bodyPr/>
                    <a:lstStyle/>
                    <a:p>
                      <a:r>
                        <a:rPr lang="en-US" sz="1400" dirty="0"/>
                        <a:t>Hot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78814334"/>
                  </a:ext>
                </a:extLst>
              </a:tr>
              <a:tr h="252380">
                <a:tc>
                  <a:txBody>
                    <a:bodyPr/>
                    <a:lstStyle/>
                    <a:p>
                      <a:r>
                        <a:rPr lang="en-US" sz="1400" dirty="0"/>
                        <a:t>Connected to Hot/Cold Element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49832"/>
                  </a:ext>
                </a:extLst>
              </a:tr>
            </a:tbl>
          </a:graphicData>
        </a:graphic>
      </p:graphicFrame>
    </p:spTree>
    <p:extLst>
      <p:ext uri="{BB962C8B-B14F-4D97-AF65-F5344CB8AC3E}">
        <p14:creationId xmlns:p14="http://schemas.microsoft.com/office/powerpoint/2010/main" val="183346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D3C39-BB79-48A0-6CCA-86EF7C65E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8952C-E91F-F7FC-BA49-73BD4770E184}"/>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Turbomachinery Map Integration</a:t>
            </a:r>
            <a:endParaRPr lang="en-US" sz="3600" b="0" dirty="0"/>
          </a:p>
        </p:txBody>
      </p:sp>
      <p:sp>
        <p:nvSpPr>
          <p:cNvPr id="18" name="TextBox 17">
            <a:extLst>
              <a:ext uri="{FF2B5EF4-FFF2-40B4-BE49-F238E27FC236}">
                <a16:creationId xmlns:a16="http://schemas.microsoft.com/office/drawing/2014/main" id="{5F484AA9-3FD1-B4D0-9CA2-6F622E68654B}"/>
              </a:ext>
            </a:extLst>
          </p:cNvPr>
          <p:cNvSpPr txBox="1"/>
          <p:nvPr/>
        </p:nvSpPr>
        <p:spPr>
          <a:xfrm>
            <a:off x="285134" y="1190744"/>
            <a:ext cx="11641394" cy="923330"/>
          </a:xfrm>
          <a:prstGeom prst="rect">
            <a:avLst/>
          </a:prstGeom>
          <a:noFill/>
          <a:ln>
            <a:solidFill>
              <a:schemeClr val="tx1"/>
            </a:solidFill>
          </a:ln>
        </p:spPr>
        <p:txBody>
          <a:bodyPr wrap="square" rtlCol="0">
            <a:spAutoFit/>
          </a:bodyPr>
          <a:lstStyle/>
          <a:p>
            <a:r>
              <a:rPr lang="en-US" dirty="0"/>
              <a:t>The compressor and turbine maps are added to the corresponding element definition in the model file. Maps are defined as a subelement consisting of tables, each with nested data for corrected speed, corrected flow, pressure ratio, and efficiency.</a:t>
            </a:r>
          </a:p>
        </p:txBody>
      </p:sp>
      <p:sp>
        <p:nvSpPr>
          <p:cNvPr id="19" name="Rectangle 18">
            <a:extLst>
              <a:ext uri="{FF2B5EF4-FFF2-40B4-BE49-F238E27FC236}">
                <a16:creationId xmlns:a16="http://schemas.microsoft.com/office/drawing/2014/main" id="{FC1C64A6-E8D5-B18F-1774-27A67A0678FC}"/>
              </a:ext>
            </a:extLst>
          </p:cNvPr>
          <p:cNvSpPr/>
          <p:nvPr/>
        </p:nvSpPr>
        <p:spPr>
          <a:xfrm>
            <a:off x="265472" y="2243811"/>
            <a:ext cx="3125201" cy="2339845"/>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Compressor Map</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21" name="Rectangle 20">
            <a:extLst>
              <a:ext uri="{FF2B5EF4-FFF2-40B4-BE49-F238E27FC236}">
                <a16:creationId xmlns:a16="http://schemas.microsoft.com/office/drawing/2014/main" id="{FDA32321-25E0-18C6-553C-1B5A95E479B2}"/>
              </a:ext>
            </a:extLst>
          </p:cNvPr>
          <p:cNvSpPr/>
          <p:nvPr/>
        </p:nvSpPr>
        <p:spPr>
          <a:xfrm>
            <a:off x="636633" y="2686099"/>
            <a:ext cx="2844977" cy="205305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Table (</a:t>
            </a:r>
            <a:r>
              <a:rPr lang="en-US" dirty="0" err="1"/>
              <a:t>Wc</a:t>
            </a:r>
            <a:r>
              <a:rPr lang="en-US" dirty="0"/>
              <a:t>, PR, eff)</a:t>
            </a:r>
          </a:p>
          <a:p>
            <a:endParaRPr lang="en-US" dirty="0"/>
          </a:p>
          <a:p>
            <a:endParaRPr lang="en-US" dirty="0"/>
          </a:p>
          <a:p>
            <a:endParaRPr lang="en-US" dirty="0"/>
          </a:p>
          <a:p>
            <a:endParaRPr lang="en-US" dirty="0"/>
          </a:p>
          <a:p>
            <a:endParaRPr lang="en-US" dirty="0"/>
          </a:p>
          <a:p>
            <a:endParaRPr lang="en-US" dirty="0"/>
          </a:p>
        </p:txBody>
      </p:sp>
      <p:sp>
        <p:nvSpPr>
          <p:cNvPr id="22" name="Rectangle 21">
            <a:extLst>
              <a:ext uri="{FF2B5EF4-FFF2-40B4-BE49-F238E27FC236}">
                <a16:creationId xmlns:a16="http://schemas.microsoft.com/office/drawing/2014/main" id="{3863508C-06DF-0830-6E99-94AF05A8D6FD}"/>
              </a:ext>
            </a:extLst>
          </p:cNvPr>
          <p:cNvSpPr/>
          <p:nvPr/>
        </p:nvSpPr>
        <p:spPr>
          <a:xfrm>
            <a:off x="1095864" y="3177874"/>
            <a:ext cx="2498261" cy="173122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Alpha</a:t>
            </a:r>
          </a:p>
          <a:p>
            <a:endParaRPr lang="en-US" dirty="0"/>
          </a:p>
          <a:p>
            <a:endParaRPr lang="en-US" dirty="0"/>
          </a:p>
          <a:p>
            <a:endParaRPr lang="en-US" dirty="0"/>
          </a:p>
          <a:p>
            <a:endParaRPr lang="en-US" dirty="0"/>
          </a:p>
          <a:p>
            <a:endParaRPr lang="en-US" dirty="0"/>
          </a:p>
        </p:txBody>
      </p:sp>
      <p:sp>
        <p:nvSpPr>
          <p:cNvPr id="23" name="Rectangle 22">
            <a:extLst>
              <a:ext uri="{FF2B5EF4-FFF2-40B4-BE49-F238E27FC236}">
                <a16:creationId xmlns:a16="http://schemas.microsoft.com/office/drawing/2014/main" id="{03BD343E-2EE2-5BCC-8B67-DF0FEBBA645C}"/>
              </a:ext>
            </a:extLst>
          </p:cNvPr>
          <p:cNvSpPr/>
          <p:nvPr/>
        </p:nvSpPr>
        <p:spPr>
          <a:xfrm>
            <a:off x="1429282" y="3733508"/>
            <a:ext cx="2246533" cy="1372399"/>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Nc</a:t>
            </a:r>
          </a:p>
          <a:p>
            <a:endParaRPr lang="en-US" dirty="0"/>
          </a:p>
          <a:p>
            <a:endParaRPr lang="en-US" dirty="0"/>
          </a:p>
          <a:p>
            <a:endParaRPr lang="en-US" dirty="0"/>
          </a:p>
          <a:p>
            <a:endParaRPr lang="en-US" dirty="0"/>
          </a:p>
        </p:txBody>
      </p:sp>
      <p:sp>
        <p:nvSpPr>
          <p:cNvPr id="24" name="Rectangle 23">
            <a:extLst>
              <a:ext uri="{FF2B5EF4-FFF2-40B4-BE49-F238E27FC236}">
                <a16:creationId xmlns:a16="http://schemas.microsoft.com/office/drawing/2014/main" id="{751CC100-B5E5-5343-606A-2F9AA3083819}"/>
              </a:ext>
            </a:extLst>
          </p:cNvPr>
          <p:cNvSpPr/>
          <p:nvPr/>
        </p:nvSpPr>
        <p:spPr>
          <a:xfrm>
            <a:off x="1775844" y="4279088"/>
            <a:ext cx="1984881" cy="101473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R-line</a:t>
            </a:r>
          </a:p>
          <a:p>
            <a:r>
              <a:rPr lang="en-US" dirty="0" err="1"/>
              <a:t>Wc</a:t>
            </a:r>
            <a:r>
              <a:rPr lang="en-US" dirty="0"/>
              <a:t>, PR, eff</a:t>
            </a:r>
          </a:p>
          <a:p>
            <a:endParaRPr lang="en-US" dirty="0"/>
          </a:p>
        </p:txBody>
      </p:sp>
      <p:sp>
        <p:nvSpPr>
          <p:cNvPr id="25" name="Rectangle 24">
            <a:extLst>
              <a:ext uri="{FF2B5EF4-FFF2-40B4-BE49-F238E27FC236}">
                <a16:creationId xmlns:a16="http://schemas.microsoft.com/office/drawing/2014/main" id="{1CE3C81D-1F67-ED59-4D43-7ACD83AC35F0}"/>
              </a:ext>
            </a:extLst>
          </p:cNvPr>
          <p:cNvSpPr/>
          <p:nvPr/>
        </p:nvSpPr>
        <p:spPr>
          <a:xfrm>
            <a:off x="8357407" y="2274656"/>
            <a:ext cx="3241505" cy="2320764"/>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Turbine Map</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26" name="Rectangle 25">
            <a:extLst>
              <a:ext uri="{FF2B5EF4-FFF2-40B4-BE49-F238E27FC236}">
                <a16:creationId xmlns:a16="http://schemas.microsoft.com/office/drawing/2014/main" id="{401ACD86-8DEF-8116-5DD2-B93113B8C51E}"/>
              </a:ext>
            </a:extLst>
          </p:cNvPr>
          <p:cNvSpPr/>
          <p:nvPr/>
        </p:nvSpPr>
        <p:spPr>
          <a:xfrm>
            <a:off x="8728568" y="2716943"/>
            <a:ext cx="2950853" cy="203630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Table (Wp, eff)</a:t>
            </a:r>
          </a:p>
          <a:p>
            <a:endParaRPr lang="en-US" dirty="0"/>
          </a:p>
          <a:p>
            <a:endParaRPr lang="en-US" dirty="0"/>
          </a:p>
          <a:p>
            <a:endParaRPr lang="en-US" dirty="0"/>
          </a:p>
          <a:p>
            <a:endParaRPr lang="en-US" dirty="0"/>
          </a:p>
          <a:p>
            <a:endParaRPr lang="en-US" dirty="0"/>
          </a:p>
          <a:p>
            <a:endParaRPr lang="en-US" dirty="0"/>
          </a:p>
        </p:txBody>
      </p:sp>
      <p:sp>
        <p:nvSpPr>
          <p:cNvPr id="27" name="Rectangle 26">
            <a:extLst>
              <a:ext uri="{FF2B5EF4-FFF2-40B4-BE49-F238E27FC236}">
                <a16:creationId xmlns:a16="http://schemas.microsoft.com/office/drawing/2014/main" id="{AE200724-4F33-C822-80A1-A64FDD0BCA01}"/>
              </a:ext>
            </a:extLst>
          </p:cNvPr>
          <p:cNvSpPr/>
          <p:nvPr/>
        </p:nvSpPr>
        <p:spPr>
          <a:xfrm>
            <a:off x="9187800" y="3208719"/>
            <a:ext cx="2591234" cy="171710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Geometry (Swirl)</a:t>
            </a:r>
          </a:p>
          <a:p>
            <a:endParaRPr lang="en-US" dirty="0"/>
          </a:p>
          <a:p>
            <a:endParaRPr lang="en-US" dirty="0"/>
          </a:p>
          <a:p>
            <a:endParaRPr lang="en-US" dirty="0"/>
          </a:p>
          <a:p>
            <a:endParaRPr lang="en-US" dirty="0"/>
          </a:p>
          <a:p>
            <a:endParaRPr lang="en-US" dirty="0"/>
          </a:p>
        </p:txBody>
      </p:sp>
      <p:sp>
        <p:nvSpPr>
          <p:cNvPr id="28" name="Rectangle 27">
            <a:extLst>
              <a:ext uri="{FF2B5EF4-FFF2-40B4-BE49-F238E27FC236}">
                <a16:creationId xmlns:a16="http://schemas.microsoft.com/office/drawing/2014/main" id="{4D6E98FB-4C4B-A530-21FF-C4052E845D65}"/>
              </a:ext>
            </a:extLst>
          </p:cNvPr>
          <p:cNvSpPr/>
          <p:nvPr/>
        </p:nvSpPr>
        <p:spPr>
          <a:xfrm>
            <a:off x="9521218" y="3764353"/>
            <a:ext cx="2330138" cy="136120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Nc</a:t>
            </a:r>
          </a:p>
          <a:p>
            <a:endParaRPr lang="en-US" dirty="0"/>
          </a:p>
          <a:p>
            <a:endParaRPr lang="en-US" dirty="0"/>
          </a:p>
          <a:p>
            <a:endParaRPr lang="en-US" dirty="0"/>
          </a:p>
          <a:p>
            <a:endParaRPr lang="en-US" dirty="0"/>
          </a:p>
        </p:txBody>
      </p:sp>
      <p:sp>
        <p:nvSpPr>
          <p:cNvPr id="29" name="Rectangle 28">
            <a:extLst>
              <a:ext uri="{FF2B5EF4-FFF2-40B4-BE49-F238E27FC236}">
                <a16:creationId xmlns:a16="http://schemas.microsoft.com/office/drawing/2014/main" id="{48A2C493-A7E3-514F-5FA2-3F3790C969A0}"/>
              </a:ext>
            </a:extLst>
          </p:cNvPr>
          <p:cNvSpPr/>
          <p:nvPr/>
        </p:nvSpPr>
        <p:spPr>
          <a:xfrm>
            <a:off x="9867779" y="4309933"/>
            <a:ext cx="2058749" cy="100645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PR</a:t>
            </a:r>
          </a:p>
          <a:p>
            <a:r>
              <a:rPr lang="en-US" dirty="0" err="1"/>
              <a:t>Wc</a:t>
            </a:r>
            <a:r>
              <a:rPr lang="en-US" dirty="0"/>
              <a:t>, eff</a:t>
            </a:r>
          </a:p>
          <a:p>
            <a:endParaRPr lang="en-US" dirty="0"/>
          </a:p>
        </p:txBody>
      </p:sp>
      <p:sp>
        <p:nvSpPr>
          <p:cNvPr id="30" name="TextBox 29">
            <a:extLst>
              <a:ext uri="{FF2B5EF4-FFF2-40B4-BE49-F238E27FC236}">
                <a16:creationId xmlns:a16="http://schemas.microsoft.com/office/drawing/2014/main" id="{260D7DE2-D0F7-2378-0BD8-7FC871430793}"/>
              </a:ext>
            </a:extLst>
          </p:cNvPr>
          <p:cNvSpPr txBox="1"/>
          <p:nvPr/>
        </p:nvSpPr>
        <p:spPr>
          <a:xfrm>
            <a:off x="265473" y="5659367"/>
            <a:ext cx="11641392" cy="646331"/>
          </a:xfrm>
          <a:prstGeom prst="rect">
            <a:avLst/>
          </a:prstGeom>
          <a:noFill/>
          <a:ln>
            <a:solidFill>
              <a:schemeClr val="tx1"/>
            </a:solidFill>
          </a:ln>
        </p:spPr>
        <p:txBody>
          <a:bodyPr wrap="square" rtlCol="0">
            <a:spAutoFit/>
          </a:bodyPr>
          <a:lstStyle/>
          <a:p>
            <a:r>
              <a:rPr lang="en-US" dirty="0"/>
              <a:t>A python script is used to parse each nested block using regular expressions. Once separated, data is zipped together and plotted across common speed lines and R-lines. </a:t>
            </a:r>
          </a:p>
        </p:txBody>
      </p:sp>
      <p:pic>
        <p:nvPicPr>
          <p:cNvPr id="34" name="Picture 33">
            <a:extLst>
              <a:ext uri="{FF2B5EF4-FFF2-40B4-BE49-F238E27FC236}">
                <a16:creationId xmlns:a16="http://schemas.microsoft.com/office/drawing/2014/main" id="{8D78EC18-7CF8-E433-E63E-F4E066D8C710}"/>
              </a:ext>
            </a:extLst>
          </p:cNvPr>
          <p:cNvPicPr>
            <a:picLocks noChangeAspect="1"/>
          </p:cNvPicPr>
          <p:nvPr/>
        </p:nvPicPr>
        <p:blipFill>
          <a:blip r:embed="rId2"/>
          <a:stretch>
            <a:fillRect/>
          </a:stretch>
        </p:blipFill>
        <p:spPr>
          <a:xfrm>
            <a:off x="3948216" y="4015467"/>
            <a:ext cx="4242591" cy="1384425"/>
          </a:xfrm>
          <a:prstGeom prst="rect">
            <a:avLst/>
          </a:prstGeom>
        </p:spPr>
      </p:pic>
      <p:pic>
        <p:nvPicPr>
          <p:cNvPr id="36" name="Picture 35">
            <a:extLst>
              <a:ext uri="{FF2B5EF4-FFF2-40B4-BE49-F238E27FC236}">
                <a16:creationId xmlns:a16="http://schemas.microsoft.com/office/drawing/2014/main" id="{5E5459EF-99B8-4EF0-01EE-37EA5E70BC7E}"/>
              </a:ext>
            </a:extLst>
          </p:cNvPr>
          <p:cNvPicPr>
            <a:picLocks noChangeAspect="1"/>
          </p:cNvPicPr>
          <p:nvPr/>
        </p:nvPicPr>
        <p:blipFill>
          <a:blip r:embed="rId3"/>
          <a:stretch>
            <a:fillRect/>
          </a:stretch>
        </p:blipFill>
        <p:spPr>
          <a:xfrm>
            <a:off x="3948216" y="2258829"/>
            <a:ext cx="4205739" cy="1411197"/>
          </a:xfrm>
          <a:prstGeom prst="rect">
            <a:avLst/>
          </a:prstGeom>
        </p:spPr>
      </p:pic>
    </p:spTree>
    <p:extLst>
      <p:ext uri="{BB962C8B-B14F-4D97-AF65-F5344CB8AC3E}">
        <p14:creationId xmlns:p14="http://schemas.microsoft.com/office/powerpoint/2010/main" val="170936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31E91-074A-3C6E-ED7C-0024379E587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3AE52EA0-2482-58B6-3551-428F5E45A8BB}"/>
              </a:ext>
            </a:extLst>
          </p:cNvPr>
          <p:cNvPicPr>
            <a:picLocks noChangeAspect="1"/>
          </p:cNvPicPr>
          <p:nvPr/>
        </p:nvPicPr>
        <p:blipFill>
          <a:blip r:embed="rId2"/>
          <a:srcRect t="3524"/>
          <a:stretch>
            <a:fillRect/>
          </a:stretch>
        </p:blipFill>
        <p:spPr>
          <a:xfrm>
            <a:off x="224349" y="2234359"/>
            <a:ext cx="3650539" cy="2330965"/>
          </a:xfrm>
          <a:prstGeom prst="rect">
            <a:avLst/>
          </a:prstGeom>
        </p:spPr>
      </p:pic>
      <p:pic>
        <p:nvPicPr>
          <p:cNvPr id="16" name="Picture 15">
            <a:extLst>
              <a:ext uri="{FF2B5EF4-FFF2-40B4-BE49-F238E27FC236}">
                <a16:creationId xmlns:a16="http://schemas.microsoft.com/office/drawing/2014/main" id="{F5400029-F086-F81F-8DC8-DD3BDAF5EE7C}"/>
              </a:ext>
            </a:extLst>
          </p:cNvPr>
          <p:cNvPicPr>
            <a:picLocks noChangeAspect="1"/>
          </p:cNvPicPr>
          <p:nvPr/>
        </p:nvPicPr>
        <p:blipFill>
          <a:blip r:embed="rId3"/>
          <a:stretch>
            <a:fillRect/>
          </a:stretch>
        </p:blipFill>
        <p:spPr>
          <a:xfrm>
            <a:off x="4270730" y="2257903"/>
            <a:ext cx="3650539" cy="2315404"/>
          </a:xfrm>
          <a:prstGeom prst="rect">
            <a:avLst/>
          </a:prstGeom>
        </p:spPr>
      </p:pic>
      <p:pic>
        <p:nvPicPr>
          <p:cNvPr id="14" name="Picture 13">
            <a:extLst>
              <a:ext uri="{FF2B5EF4-FFF2-40B4-BE49-F238E27FC236}">
                <a16:creationId xmlns:a16="http://schemas.microsoft.com/office/drawing/2014/main" id="{C2992CA8-F54E-FB7B-14ED-9DC65EA6EDD6}"/>
              </a:ext>
            </a:extLst>
          </p:cNvPr>
          <p:cNvPicPr>
            <a:picLocks noChangeAspect="1"/>
          </p:cNvPicPr>
          <p:nvPr/>
        </p:nvPicPr>
        <p:blipFill>
          <a:blip r:embed="rId4"/>
          <a:srcRect t="2370"/>
          <a:stretch>
            <a:fillRect/>
          </a:stretch>
        </p:blipFill>
        <p:spPr>
          <a:xfrm>
            <a:off x="8228371" y="2226411"/>
            <a:ext cx="3761515" cy="2409219"/>
          </a:xfrm>
          <a:prstGeom prst="rect">
            <a:avLst/>
          </a:prstGeom>
        </p:spPr>
      </p:pic>
      <p:pic>
        <p:nvPicPr>
          <p:cNvPr id="13" name="Picture 12">
            <a:extLst>
              <a:ext uri="{FF2B5EF4-FFF2-40B4-BE49-F238E27FC236}">
                <a16:creationId xmlns:a16="http://schemas.microsoft.com/office/drawing/2014/main" id="{C3F5FDAB-5E10-6F29-E9F5-8F75EA74D42A}"/>
              </a:ext>
            </a:extLst>
          </p:cNvPr>
          <p:cNvPicPr>
            <a:picLocks noChangeAspect="1"/>
          </p:cNvPicPr>
          <p:nvPr/>
        </p:nvPicPr>
        <p:blipFill>
          <a:blip r:embed="rId5"/>
          <a:stretch>
            <a:fillRect/>
          </a:stretch>
        </p:blipFill>
        <p:spPr>
          <a:xfrm>
            <a:off x="6474710" y="4633732"/>
            <a:ext cx="3369646" cy="2178061"/>
          </a:xfrm>
          <a:prstGeom prst="rect">
            <a:avLst/>
          </a:prstGeom>
        </p:spPr>
      </p:pic>
      <p:pic>
        <p:nvPicPr>
          <p:cNvPr id="3" name="Picture 2">
            <a:extLst>
              <a:ext uri="{FF2B5EF4-FFF2-40B4-BE49-F238E27FC236}">
                <a16:creationId xmlns:a16="http://schemas.microsoft.com/office/drawing/2014/main" id="{043343AE-F983-7BAC-C48F-CDD594FA05AA}"/>
              </a:ext>
            </a:extLst>
          </p:cNvPr>
          <p:cNvPicPr>
            <a:picLocks noChangeAspect="1"/>
          </p:cNvPicPr>
          <p:nvPr/>
        </p:nvPicPr>
        <p:blipFill>
          <a:blip r:embed="rId6"/>
          <a:stretch>
            <a:fillRect/>
          </a:stretch>
        </p:blipFill>
        <p:spPr>
          <a:xfrm>
            <a:off x="2347644" y="4635630"/>
            <a:ext cx="3369646" cy="2176163"/>
          </a:xfrm>
          <a:prstGeom prst="rect">
            <a:avLst/>
          </a:prstGeom>
        </p:spPr>
      </p:pic>
      <p:sp>
        <p:nvSpPr>
          <p:cNvPr id="8" name="TextBox 7">
            <a:extLst>
              <a:ext uri="{FF2B5EF4-FFF2-40B4-BE49-F238E27FC236}">
                <a16:creationId xmlns:a16="http://schemas.microsoft.com/office/drawing/2014/main" id="{2C26C5CC-E487-CEBA-118E-95F7B0A61138}"/>
              </a:ext>
            </a:extLst>
          </p:cNvPr>
          <p:cNvSpPr txBox="1"/>
          <p:nvPr/>
        </p:nvSpPr>
        <p:spPr>
          <a:xfrm>
            <a:off x="216685" y="1204129"/>
            <a:ext cx="11758629" cy="861774"/>
          </a:xfrm>
          <a:prstGeom prst="rect">
            <a:avLst/>
          </a:prstGeom>
          <a:noFill/>
          <a:ln>
            <a:solidFill>
              <a:schemeClr val="tx1"/>
            </a:solidFill>
          </a:ln>
        </p:spPr>
        <p:txBody>
          <a:bodyPr wrap="square" rtlCol="0">
            <a:spAutoFit/>
          </a:bodyPr>
          <a:lstStyle/>
          <a:p>
            <a:r>
              <a:rPr lang="en-US" sz="1600" dirty="0"/>
              <a:t>The efficiency contour is made with linear interpolation across the grid of corrected flow and pressure ratios. The only data available in the NPSS compressor map exists on the plotted speed lines and r-lines. The turbine maps are defined to linearly interpolate on more limited datasets with no extrapolation.</a:t>
            </a:r>
          </a:p>
        </p:txBody>
      </p:sp>
      <p:sp>
        <p:nvSpPr>
          <p:cNvPr id="2" name="Title 1">
            <a:extLst>
              <a:ext uri="{FF2B5EF4-FFF2-40B4-BE49-F238E27FC236}">
                <a16:creationId xmlns:a16="http://schemas.microsoft.com/office/drawing/2014/main" id="{6A68851C-4562-4FEC-4100-5BA4581CCB38}"/>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Turbomachinery Maps</a:t>
            </a:r>
            <a:endParaRPr lang="en-US" sz="3600" b="0" dirty="0"/>
          </a:p>
        </p:txBody>
      </p:sp>
      <p:sp>
        <p:nvSpPr>
          <p:cNvPr id="5" name="TextBox 4">
            <a:extLst>
              <a:ext uri="{FF2B5EF4-FFF2-40B4-BE49-F238E27FC236}">
                <a16:creationId xmlns:a16="http://schemas.microsoft.com/office/drawing/2014/main" id="{047FEB53-A2F3-D2A3-38FB-BAB1E132C495}"/>
              </a:ext>
            </a:extLst>
          </p:cNvPr>
          <p:cNvSpPr txBox="1"/>
          <p:nvPr/>
        </p:nvSpPr>
        <p:spPr>
          <a:xfrm>
            <a:off x="570269" y="2389889"/>
            <a:ext cx="1173927" cy="369332"/>
          </a:xfrm>
          <a:prstGeom prst="rect">
            <a:avLst/>
          </a:prstGeom>
          <a:noFill/>
        </p:spPr>
        <p:txBody>
          <a:bodyPr wrap="square" rtlCol="0">
            <a:spAutoFit/>
          </a:bodyPr>
          <a:lstStyle/>
          <a:p>
            <a:r>
              <a:rPr lang="en-US" b="1" dirty="0"/>
              <a:t>CmpFan</a:t>
            </a:r>
          </a:p>
        </p:txBody>
      </p:sp>
      <p:sp>
        <p:nvSpPr>
          <p:cNvPr id="6" name="TextBox 5">
            <a:extLst>
              <a:ext uri="{FF2B5EF4-FFF2-40B4-BE49-F238E27FC236}">
                <a16:creationId xmlns:a16="http://schemas.microsoft.com/office/drawing/2014/main" id="{FCCBFEC3-29C3-E1AC-2224-D61B3E0644B1}"/>
              </a:ext>
            </a:extLst>
          </p:cNvPr>
          <p:cNvSpPr txBox="1"/>
          <p:nvPr/>
        </p:nvSpPr>
        <p:spPr>
          <a:xfrm>
            <a:off x="4591251" y="2345173"/>
            <a:ext cx="1173927" cy="369332"/>
          </a:xfrm>
          <a:prstGeom prst="rect">
            <a:avLst/>
          </a:prstGeom>
          <a:noFill/>
        </p:spPr>
        <p:txBody>
          <a:bodyPr wrap="square" rtlCol="0">
            <a:spAutoFit/>
          </a:bodyPr>
          <a:lstStyle/>
          <a:p>
            <a:r>
              <a:rPr lang="en-US" b="1" dirty="0"/>
              <a:t>CmpL</a:t>
            </a:r>
          </a:p>
        </p:txBody>
      </p:sp>
      <p:sp>
        <p:nvSpPr>
          <p:cNvPr id="7" name="TextBox 6">
            <a:extLst>
              <a:ext uri="{FF2B5EF4-FFF2-40B4-BE49-F238E27FC236}">
                <a16:creationId xmlns:a16="http://schemas.microsoft.com/office/drawing/2014/main" id="{49F5154F-C22C-6855-261F-5BEF695BCE7C}"/>
              </a:ext>
            </a:extLst>
          </p:cNvPr>
          <p:cNvSpPr txBox="1"/>
          <p:nvPr/>
        </p:nvSpPr>
        <p:spPr>
          <a:xfrm>
            <a:off x="8652386" y="2360544"/>
            <a:ext cx="1173927" cy="369332"/>
          </a:xfrm>
          <a:prstGeom prst="rect">
            <a:avLst/>
          </a:prstGeom>
          <a:noFill/>
        </p:spPr>
        <p:txBody>
          <a:bodyPr wrap="square" rtlCol="0">
            <a:spAutoFit/>
          </a:bodyPr>
          <a:lstStyle/>
          <a:p>
            <a:r>
              <a:rPr lang="en-US" b="1" dirty="0"/>
              <a:t>CmpH</a:t>
            </a:r>
          </a:p>
        </p:txBody>
      </p:sp>
      <p:sp>
        <p:nvSpPr>
          <p:cNvPr id="11" name="TextBox 10">
            <a:extLst>
              <a:ext uri="{FF2B5EF4-FFF2-40B4-BE49-F238E27FC236}">
                <a16:creationId xmlns:a16="http://schemas.microsoft.com/office/drawing/2014/main" id="{E7C3C612-5C14-F4F0-7F0D-8D367B5C1578}"/>
              </a:ext>
            </a:extLst>
          </p:cNvPr>
          <p:cNvSpPr txBox="1"/>
          <p:nvPr/>
        </p:nvSpPr>
        <p:spPr>
          <a:xfrm>
            <a:off x="2893228" y="4804086"/>
            <a:ext cx="790265" cy="369332"/>
          </a:xfrm>
          <a:prstGeom prst="rect">
            <a:avLst/>
          </a:prstGeom>
          <a:noFill/>
        </p:spPr>
        <p:txBody>
          <a:bodyPr wrap="square" rtlCol="0">
            <a:spAutoFit/>
          </a:bodyPr>
          <a:lstStyle/>
          <a:p>
            <a:r>
              <a:rPr lang="en-US" b="1" dirty="0"/>
              <a:t>TrbH</a:t>
            </a:r>
          </a:p>
        </p:txBody>
      </p:sp>
      <p:sp>
        <p:nvSpPr>
          <p:cNvPr id="12" name="TextBox 11">
            <a:extLst>
              <a:ext uri="{FF2B5EF4-FFF2-40B4-BE49-F238E27FC236}">
                <a16:creationId xmlns:a16="http://schemas.microsoft.com/office/drawing/2014/main" id="{40DA5901-16FE-06F9-B451-E16407F41B24}"/>
              </a:ext>
            </a:extLst>
          </p:cNvPr>
          <p:cNvSpPr txBox="1"/>
          <p:nvPr/>
        </p:nvSpPr>
        <p:spPr>
          <a:xfrm>
            <a:off x="6672573" y="4722347"/>
            <a:ext cx="1173927" cy="369332"/>
          </a:xfrm>
          <a:prstGeom prst="rect">
            <a:avLst/>
          </a:prstGeom>
          <a:noFill/>
        </p:spPr>
        <p:txBody>
          <a:bodyPr wrap="square" rtlCol="0">
            <a:spAutoFit/>
          </a:bodyPr>
          <a:lstStyle/>
          <a:p>
            <a:r>
              <a:rPr lang="en-US" b="1" dirty="0"/>
              <a:t>TrbL</a:t>
            </a:r>
          </a:p>
        </p:txBody>
      </p:sp>
    </p:spTree>
    <p:extLst>
      <p:ext uri="{BB962C8B-B14F-4D97-AF65-F5344CB8AC3E}">
        <p14:creationId xmlns:p14="http://schemas.microsoft.com/office/powerpoint/2010/main" val="2197141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2A29-CA34-267B-99C9-9E239611513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E17FB9C-4F08-7F9D-76D3-102007647FB6}"/>
              </a:ext>
            </a:extLst>
          </p:cNvPr>
          <p:cNvSpPr/>
          <p:nvPr/>
        </p:nvSpPr>
        <p:spPr>
          <a:xfrm>
            <a:off x="6167006" y="1219200"/>
            <a:ext cx="5839112" cy="45593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Off-Design</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p:txBody>
      </p:sp>
      <p:sp>
        <p:nvSpPr>
          <p:cNvPr id="11" name="Rectangle 10">
            <a:extLst>
              <a:ext uri="{FF2B5EF4-FFF2-40B4-BE49-F238E27FC236}">
                <a16:creationId xmlns:a16="http://schemas.microsoft.com/office/drawing/2014/main" id="{9528123D-D59F-5F6E-41B9-CF0B665E6FD9}"/>
              </a:ext>
            </a:extLst>
          </p:cNvPr>
          <p:cNvSpPr/>
          <p:nvPr/>
        </p:nvSpPr>
        <p:spPr>
          <a:xfrm>
            <a:off x="254001" y="1219200"/>
            <a:ext cx="5766378" cy="45593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On-Design</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p:txBody>
      </p:sp>
      <p:sp>
        <p:nvSpPr>
          <p:cNvPr id="2" name="Title 1">
            <a:extLst>
              <a:ext uri="{FF2B5EF4-FFF2-40B4-BE49-F238E27FC236}">
                <a16:creationId xmlns:a16="http://schemas.microsoft.com/office/drawing/2014/main" id="{13BBAE60-077C-56A7-BE5F-CC5E7FCAD979}"/>
              </a:ext>
            </a:extLst>
          </p:cNvPr>
          <p:cNvSpPr>
            <a:spLocks noGrp="1"/>
          </p:cNvSpPr>
          <p:nvPr>
            <p:ph type="title"/>
          </p:nvPr>
        </p:nvSpPr>
        <p:spPr>
          <a:xfrm>
            <a:off x="450272" y="412955"/>
            <a:ext cx="11206018" cy="919579"/>
          </a:xfrm>
        </p:spPr>
        <p:txBody>
          <a:bodyPr>
            <a:normAutofit/>
          </a:bodyPr>
          <a:lstStyle/>
          <a:p>
            <a:r>
              <a:rPr lang="en-US" sz="3600" dirty="0"/>
              <a:t>Solver Setup</a:t>
            </a:r>
            <a:endParaRPr lang="en-US" sz="3600" b="0" dirty="0"/>
          </a:p>
        </p:txBody>
      </p:sp>
      <p:sp>
        <p:nvSpPr>
          <p:cNvPr id="4" name="TextBox 3">
            <a:extLst>
              <a:ext uri="{FF2B5EF4-FFF2-40B4-BE49-F238E27FC236}">
                <a16:creationId xmlns:a16="http://schemas.microsoft.com/office/drawing/2014/main" id="{1304C4F7-D19D-DC50-3F2C-F834F4EC8E63}"/>
              </a:ext>
            </a:extLst>
          </p:cNvPr>
          <p:cNvSpPr txBox="1"/>
          <p:nvPr/>
        </p:nvSpPr>
        <p:spPr>
          <a:xfrm>
            <a:off x="7069496" y="4101192"/>
            <a:ext cx="3967163" cy="461665"/>
          </a:xfrm>
          <a:prstGeom prst="rect">
            <a:avLst/>
          </a:prstGeom>
          <a:noFill/>
        </p:spPr>
        <p:txBody>
          <a:bodyPr wrap="square">
            <a:spAutoFit/>
          </a:bodyPr>
          <a:lstStyle/>
          <a:p>
            <a:r>
              <a:rPr lang="en-US" sz="2400" dirty="0"/>
              <a:t>Take Off: M0.0/0.0kft/+27dTs</a:t>
            </a:r>
          </a:p>
        </p:txBody>
      </p:sp>
      <p:sp>
        <p:nvSpPr>
          <p:cNvPr id="9" name="TextBox 8">
            <a:extLst>
              <a:ext uri="{FF2B5EF4-FFF2-40B4-BE49-F238E27FC236}">
                <a16:creationId xmlns:a16="http://schemas.microsoft.com/office/drawing/2014/main" id="{D0B30501-381E-949F-86B3-931269C08FA6}"/>
              </a:ext>
            </a:extLst>
          </p:cNvPr>
          <p:cNvSpPr txBox="1"/>
          <p:nvPr/>
        </p:nvSpPr>
        <p:spPr>
          <a:xfrm>
            <a:off x="6364431" y="1720703"/>
            <a:ext cx="5377295" cy="2308324"/>
          </a:xfrm>
          <a:prstGeom prst="rect">
            <a:avLst/>
          </a:prstGeom>
          <a:noFill/>
          <a:ln>
            <a:solidFill>
              <a:schemeClr val="tx1"/>
            </a:solidFill>
          </a:ln>
        </p:spPr>
        <p:txBody>
          <a:bodyPr wrap="square" rtlCol="0">
            <a:spAutoFit/>
          </a:bodyPr>
          <a:lstStyle/>
          <a:p>
            <a:r>
              <a:rPr lang="en-US" dirty="0"/>
              <a:t>Off-design analysis uses the sized, engine on-design parameters to calculate engine performance across an entire flight envelope.</a:t>
            </a:r>
          </a:p>
          <a:p>
            <a:endParaRPr lang="en-US" dirty="0"/>
          </a:p>
          <a:p>
            <a:r>
              <a:rPr lang="en-US" dirty="0"/>
              <a:t>The engine is stepped down from top of climb to take-off conditions in order to satisfy provided requirements. The flight envelope may then be analyzed resulting in a full engine deck.</a:t>
            </a:r>
          </a:p>
        </p:txBody>
      </p:sp>
      <p:graphicFrame>
        <p:nvGraphicFramePr>
          <p:cNvPr id="10" name="Table 9">
            <a:extLst>
              <a:ext uri="{FF2B5EF4-FFF2-40B4-BE49-F238E27FC236}">
                <a16:creationId xmlns:a16="http://schemas.microsoft.com/office/drawing/2014/main" id="{B9318D2F-9CB1-6C1B-F997-A5F877A0B96E}"/>
              </a:ext>
            </a:extLst>
          </p:cNvPr>
          <p:cNvGraphicFramePr>
            <a:graphicFrameLocks noGrp="1"/>
          </p:cNvGraphicFramePr>
          <p:nvPr>
            <p:extLst>
              <p:ext uri="{D42A27DB-BD31-4B8C-83A1-F6EECF244321}">
                <p14:modId xmlns:p14="http://schemas.microsoft.com/office/powerpoint/2010/main" val="3253338937"/>
              </p:ext>
            </p:extLst>
          </p:nvPr>
        </p:nvGraphicFramePr>
        <p:xfrm>
          <a:off x="6969162" y="4530530"/>
          <a:ext cx="4234800" cy="1112520"/>
        </p:xfrm>
        <a:graphic>
          <a:graphicData uri="http://schemas.openxmlformats.org/drawingml/2006/table">
            <a:tbl>
              <a:tblPr firstRow="1" bandRow="1">
                <a:tableStyleId>{5C22544A-7EE6-4342-B048-85BDC9FD1C3A}</a:tableStyleId>
              </a:tblPr>
              <a:tblGrid>
                <a:gridCol w="2117400">
                  <a:extLst>
                    <a:ext uri="{9D8B030D-6E8A-4147-A177-3AD203B41FA5}">
                      <a16:colId xmlns:a16="http://schemas.microsoft.com/office/drawing/2014/main" val="3799009906"/>
                    </a:ext>
                  </a:extLst>
                </a:gridCol>
                <a:gridCol w="2117400">
                  <a:extLst>
                    <a:ext uri="{9D8B030D-6E8A-4147-A177-3AD203B41FA5}">
                      <a16:colId xmlns:a16="http://schemas.microsoft.com/office/drawing/2014/main" val="1505222642"/>
                    </a:ext>
                  </a:extLst>
                </a:gridCol>
              </a:tblGrid>
              <a:tr h="370840">
                <a:tc gridSpan="2">
                  <a:txBody>
                    <a:bodyPr/>
                    <a:lstStyle/>
                    <a:p>
                      <a:pPr algn="ctr"/>
                      <a:r>
                        <a:rPr lang="en-US" dirty="0"/>
                        <a:t>Solver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extLst>
                  <a:ext uri="{0D108BD9-81ED-4DB2-BD59-A6C34878D82A}">
                    <a16:rowId xmlns:a16="http://schemas.microsoft.com/office/drawing/2014/main" val="2864513754"/>
                  </a:ext>
                </a:extLst>
              </a:tr>
              <a:tr h="370840">
                <a:tc>
                  <a:txBody>
                    <a:bodyPr/>
                    <a:lstStyle/>
                    <a:p>
                      <a:pPr algn="ctr"/>
                      <a:r>
                        <a:rPr lang="en-US" dirty="0"/>
                        <a:t>Independents</a:t>
                      </a:r>
                    </a:p>
                  </a:txBody>
                  <a:tcPr anchor="ctr">
                    <a:lnL w="12700" cap="flat" cmpd="sng" algn="ctr">
                      <a:solidFill>
                        <a:schemeClr val="tx1"/>
                      </a:solidFill>
                      <a:prstDash val="solid"/>
                      <a:round/>
                      <a:headEnd type="none" w="med" len="med"/>
                      <a:tailEnd type="none" w="med" len="med"/>
                    </a:lnL>
                    <a:solidFill>
                      <a:schemeClr val="tx2">
                        <a:lumMod val="25000"/>
                        <a:lumOff val="75000"/>
                      </a:schemeClr>
                    </a:solidFill>
                  </a:tcPr>
                </a:tc>
                <a:tc>
                  <a:txBody>
                    <a:bodyPr/>
                    <a:lstStyle/>
                    <a:p>
                      <a:pPr algn="ctr"/>
                      <a:r>
                        <a:rPr lang="en-US" dirty="0"/>
                        <a:t>Dependents</a:t>
                      </a:r>
                    </a:p>
                  </a:txBody>
                  <a:tcPr anchor="ctr">
                    <a:lnR w="12700" cap="flat" cmpd="sng" algn="ctr">
                      <a:solidFill>
                        <a:schemeClr val="tx1"/>
                      </a:solidFill>
                      <a:prstDash val="solid"/>
                      <a:round/>
                      <a:headEnd type="none" w="med" len="med"/>
                      <a:tailEnd type="none" w="med" len="med"/>
                    </a:lnR>
                    <a:solidFill>
                      <a:schemeClr val="tx2">
                        <a:lumMod val="25000"/>
                        <a:lumOff val="75000"/>
                      </a:schemeClr>
                    </a:solidFill>
                  </a:tcPr>
                </a:tc>
                <a:extLst>
                  <a:ext uri="{0D108BD9-81ED-4DB2-BD59-A6C34878D82A}">
                    <a16:rowId xmlns:a16="http://schemas.microsoft.com/office/drawing/2014/main" val="2593709441"/>
                  </a:ext>
                </a:extLst>
              </a:tr>
              <a:tr h="370840">
                <a:tc>
                  <a:txBody>
                    <a:bodyPr/>
                    <a:lstStyle/>
                    <a:p>
                      <a:pPr algn="ctr"/>
                      <a:r>
                        <a:rPr lang="en-US" dirty="0"/>
                        <a:t>FAR</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Thrust Rated Tt41</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828339"/>
                  </a:ext>
                </a:extLst>
              </a:tr>
            </a:tbl>
          </a:graphicData>
        </a:graphic>
      </p:graphicFrame>
      <p:sp>
        <p:nvSpPr>
          <p:cNvPr id="3" name="TextBox 2">
            <a:extLst>
              <a:ext uri="{FF2B5EF4-FFF2-40B4-BE49-F238E27FC236}">
                <a16:creationId xmlns:a16="http://schemas.microsoft.com/office/drawing/2014/main" id="{14375D9F-8DA7-75AA-D0E1-BB2E24518878}"/>
              </a:ext>
            </a:extLst>
          </p:cNvPr>
          <p:cNvSpPr txBox="1"/>
          <p:nvPr/>
        </p:nvSpPr>
        <p:spPr>
          <a:xfrm>
            <a:off x="603828" y="3023678"/>
            <a:ext cx="5416550" cy="461665"/>
          </a:xfrm>
          <a:prstGeom prst="rect">
            <a:avLst/>
          </a:prstGeom>
          <a:noFill/>
        </p:spPr>
        <p:txBody>
          <a:bodyPr wrap="square" rtlCol="0">
            <a:spAutoFit/>
          </a:bodyPr>
          <a:lstStyle/>
          <a:p>
            <a:r>
              <a:rPr lang="en-US" sz="2400" dirty="0"/>
              <a:t>Top of Climb (Cruise): M0.80/35kft/0dTs</a:t>
            </a:r>
          </a:p>
        </p:txBody>
      </p:sp>
      <p:graphicFrame>
        <p:nvGraphicFramePr>
          <p:cNvPr id="6" name="Table 5">
            <a:extLst>
              <a:ext uri="{FF2B5EF4-FFF2-40B4-BE49-F238E27FC236}">
                <a16:creationId xmlns:a16="http://schemas.microsoft.com/office/drawing/2014/main" id="{F61A25E9-4183-1194-04AE-80E831B992EE}"/>
              </a:ext>
            </a:extLst>
          </p:cNvPr>
          <p:cNvGraphicFramePr>
            <a:graphicFrameLocks noGrp="1"/>
          </p:cNvGraphicFramePr>
          <p:nvPr>
            <p:extLst>
              <p:ext uri="{D42A27DB-BD31-4B8C-83A1-F6EECF244321}">
                <p14:modId xmlns:p14="http://schemas.microsoft.com/office/powerpoint/2010/main" val="2695204625"/>
              </p:ext>
            </p:extLst>
          </p:nvPr>
        </p:nvGraphicFramePr>
        <p:xfrm>
          <a:off x="579133" y="3784600"/>
          <a:ext cx="5186795" cy="1854200"/>
        </p:xfrm>
        <a:graphic>
          <a:graphicData uri="http://schemas.openxmlformats.org/drawingml/2006/table">
            <a:tbl>
              <a:tblPr firstRow="1" bandRow="1">
                <a:tableStyleId>{5C22544A-7EE6-4342-B048-85BDC9FD1C3A}</a:tableStyleId>
              </a:tblPr>
              <a:tblGrid>
                <a:gridCol w="2084557">
                  <a:extLst>
                    <a:ext uri="{9D8B030D-6E8A-4147-A177-3AD203B41FA5}">
                      <a16:colId xmlns:a16="http://schemas.microsoft.com/office/drawing/2014/main" val="3799009906"/>
                    </a:ext>
                  </a:extLst>
                </a:gridCol>
                <a:gridCol w="3102238">
                  <a:extLst>
                    <a:ext uri="{9D8B030D-6E8A-4147-A177-3AD203B41FA5}">
                      <a16:colId xmlns:a16="http://schemas.microsoft.com/office/drawing/2014/main" val="1505222642"/>
                    </a:ext>
                  </a:extLst>
                </a:gridCol>
              </a:tblGrid>
              <a:tr h="370840">
                <a:tc gridSpan="2">
                  <a:txBody>
                    <a:bodyPr/>
                    <a:lstStyle/>
                    <a:p>
                      <a:pPr algn="ctr"/>
                      <a:r>
                        <a:rPr lang="en-US" dirty="0"/>
                        <a:t>Solver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extLst>
                  <a:ext uri="{0D108BD9-81ED-4DB2-BD59-A6C34878D82A}">
                    <a16:rowId xmlns:a16="http://schemas.microsoft.com/office/drawing/2014/main" val="2864513754"/>
                  </a:ext>
                </a:extLst>
              </a:tr>
              <a:tr h="370840">
                <a:tc>
                  <a:txBody>
                    <a:bodyPr/>
                    <a:lstStyle/>
                    <a:p>
                      <a:pPr algn="ctr"/>
                      <a:r>
                        <a:rPr lang="en-US" dirty="0"/>
                        <a:t>Independents</a:t>
                      </a:r>
                    </a:p>
                  </a:txBody>
                  <a:tcPr anchor="ctr">
                    <a:lnL w="12700" cap="flat" cmpd="sng" algn="ctr">
                      <a:solidFill>
                        <a:schemeClr val="tx1"/>
                      </a:solidFill>
                      <a:prstDash val="solid"/>
                      <a:round/>
                      <a:headEnd type="none" w="med" len="med"/>
                      <a:tailEnd type="none" w="med" len="med"/>
                    </a:lnL>
                    <a:solidFill>
                      <a:schemeClr val="tx2">
                        <a:lumMod val="25000"/>
                        <a:lumOff val="75000"/>
                      </a:schemeClr>
                    </a:solidFill>
                  </a:tcPr>
                </a:tc>
                <a:tc>
                  <a:txBody>
                    <a:bodyPr/>
                    <a:lstStyle/>
                    <a:p>
                      <a:pPr algn="ctr"/>
                      <a:r>
                        <a:rPr lang="en-US" dirty="0"/>
                        <a:t>Dependents</a:t>
                      </a:r>
                    </a:p>
                  </a:txBody>
                  <a:tcPr anchor="ctr">
                    <a:lnR w="12700" cap="flat" cmpd="sng" algn="ctr">
                      <a:solidFill>
                        <a:schemeClr val="tx1"/>
                      </a:solidFill>
                      <a:prstDash val="solid"/>
                      <a:round/>
                      <a:headEnd type="none" w="med" len="med"/>
                      <a:tailEnd type="none" w="med" len="med"/>
                    </a:lnR>
                    <a:solidFill>
                      <a:schemeClr val="tx2">
                        <a:lumMod val="25000"/>
                        <a:lumOff val="75000"/>
                      </a:schemeClr>
                    </a:solidFill>
                  </a:tcPr>
                </a:tc>
                <a:extLst>
                  <a:ext uri="{0D108BD9-81ED-4DB2-BD59-A6C34878D82A}">
                    <a16:rowId xmlns:a16="http://schemas.microsoft.com/office/drawing/2014/main" val="2593709441"/>
                  </a:ext>
                </a:extLst>
              </a:tr>
              <a:tr h="370840">
                <a:tc>
                  <a:txBody>
                    <a:bodyPr/>
                    <a:lstStyle/>
                    <a:p>
                      <a:pPr algn="ctr"/>
                      <a:r>
                        <a:rPr lang="en-US" dirty="0"/>
                        <a:t>W1</a:t>
                      </a:r>
                    </a:p>
                  </a:txBody>
                  <a:tcPr anchor="ctr">
                    <a:lnL w="12700" cap="flat" cmpd="sng" algn="ctr">
                      <a:solidFill>
                        <a:schemeClr val="tx1"/>
                      </a:solidFill>
                      <a:prstDash val="solid"/>
                      <a:round/>
                      <a:headEnd type="none" w="med" len="med"/>
                      <a:tailEnd type="none" w="med" len="med"/>
                    </a:lnL>
                  </a:tcPr>
                </a:tc>
                <a:tc>
                  <a:txBody>
                    <a:bodyPr/>
                    <a:lstStyle/>
                    <a:p>
                      <a:pPr algn="ctr"/>
                      <a:r>
                        <a:rPr lang="en-US" dirty="0"/>
                        <a:t>Design Net Thrust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90828339"/>
                  </a:ext>
                </a:extLst>
              </a:tr>
              <a:tr h="370840">
                <a:tc>
                  <a:txBody>
                    <a:bodyPr/>
                    <a:lstStyle/>
                    <a:p>
                      <a:pPr algn="ctr"/>
                      <a:r>
                        <a:rPr lang="en-US" dirty="0"/>
                        <a:t>FAR</a:t>
                      </a:r>
                    </a:p>
                  </a:txBody>
                  <a:tcPr anchor="ctr">
                    <a:lnL w="12700" cap="flat" cmpd="sng" algn="ctr">
                      <a:solidFill>
                        <a:schemeClr val="tx1"/>
                      </a:solidFill>
                      <a:prstDash val="solid"/>
                      <a:round/>
                      <a:headEnd type="none" w="med" len="med"/>
                      <a:tailEnd type="none" w="med" len="med"/>
                    </a:lnL>
                  </a:tcPr>
                </a:tc>
                <a:tc>
                  <a:txBody>
                    <a:bodyPr/>
                    <a:lstStyle/>
                    <a:p>
                      <a:pPr algn="ctr"/>
                      <a:r>
                        <a:rPr lang="en-US" dirty="0"/>
                        <a:t>Design Tt4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87014885"/>
                  </a:ext>
                </a:extLst>
              </a:tr>
              <a:tr h="370840">
                <a:tc>
                  <a:txBody>
                    <a:bodyPr/>
                    <a:lstStyle/>
                    <a:p>
                      <a:pPr algn="ctr"/>
                      <a:r>
                        <a:rPr lang="en-US" dirty="0"/>
                        <a:t>BPR</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Design Extraction Ratio</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312010"/>
                  </a:ext>
                </a:extLst>
              </a:tr>
            </a:tbl>
          </a:graphicData>
        </a:graphic>
      </p:graphicFrame>
      <p:sp>
        <p:nvSpPr>
          <p:cNvPr id="7" name="TextBox 6">
            <a:extLst>
              <a:ext uri="{FF2B5EF4-FFF2-40B4-BE49-F238E27FC236}">
                <a16:creationId xmlns:a16="http://schemas.microsoft.com/office/drawing/2014/main" id="{90C99491-265A-B04E-0825-ED6CFBEF2B21}"/>
              </a:ext>
            </a:extLst>
          </p:cNvPr>
          <p:cNvSpPr txBox="1"/>
          <p:nvPr/>
        </p:nvSpPr>
        <p:spPr>
          <a:xfrm>
            <a:off x="531958" y="1720703"/>
            <a:ext cx="5178998" cy="1200329"/>
          </a:xfrm>
          <a:prstGeom prst="rect">
            <a:avLst/>
          </a:prstGeom>
          <a:noFill/>
          <a:ln>
            <a:solidFill>
              <a:schemeClr val="tx1"/>
            </a:solidFill>
          </a:ln>
        </p:spPr>
        <p:txBody>
          <a:bodyPr wrap="square" rtlCol="0">
            <a:spAutoFit/>
          </a:bodyPr>
          <a:lstStyle/>
          <a:p>
            <a:r>
              <a:rPr lang="en-US" dirty="0"/>
              <a:t>On-design analysis typically sizes the engine given a specific operating conditions or “design point”. In this case, the design point is defined as the top of climb or cruise condition.</a:t>
            </a:r>
          </a:p>
        </p:txBody>
      </p:sp>
      <p:sp>
        <p:nvSpPr>
          <p:cNvPr id="13" name="TextBox 12">
            <a:extLst>
              <a:ext uri="{FF2B5EF4-FFF2-40B4-BE49-F238E27FC236}">
                <a16:creationId xmlns:a16="http://schemas.microsoft.com/office/drawing/2014/main" id="{529120AE-9968-1613-82E6-C690A82B9EAC}"/>
              </a:ext>
            </a:extLst>
          </p:cNvPr>
          <p:cNvSpPr txBox="1"/>
          <p:nvPr/>
        </p:nvSpPr>
        <p:spPr>
          <a:xfrm>
            <a:off x="811934" y="6004315"/>
            <a:ext cx="10710144" cy="646331"/>
          </a:xfrm>
          <a:prstGeom prst="rect">
            <a:avLst/>
          </a:prstGeom>
          <a:noFill/>
          <a:ln>
            <a:solidFill>
              <a:schemeClr val="tx1"/>
            </a:solidFill>
          </a:ln>
        </p:spPr>
        <p:txBody>
          <a:bodyPr wrap="square">
            <a:spAutoFit/>
          </a:bodyPr>
          <a:lstStyle/>
          <a:p>
            <a:pPr algn="ctr"/>
            <a:r>
              <a:rPr lang="en-US" dirty="0"/>
              <a:t>Solvers are implemented using the “</a:t>
            </a:r>
            <a:r>
              <a:rPr lang="en-US" dirty="0" err="1"/>
              <a:t>autoSolverSetup</a:t>
            </a:r>
            <a:r>
              <a:rPr lang="en-US" dirty="0"/>
              <a:t>()”, “</a:t>
            </a:r>
            <a:r>
              <a:rPr lang="en-US" dirty="0" err="1"/>
              <a:t>addIndependent</a:t>
            </a:r>
            <a:r>
              <a:rPr lang="en-US" dirty="0"/>
              <a:t>”, and “</a:t>
            </a:r>
            <a:r>
              <a:rPr lang="en-US" dirty="0" err="1"/>
              <a:t>addDependent</a:t>
            </a:r>
            <a:r>
              <a:rPr lang="en-US" dirty="0"/>
              <a:t>” functions given the independent and dependent variable definitions.</a:t>
            </a:r>
          </a:p>
        </p:txBody>
      </p:sp>
    </p:spTree>
    <p:extLst>
      <p:ext uri="{BB962C8B-B14F-4D97-AF65-F5344CB8AC3E}">
        <p14:creationId xmlns:p14="http://schemas.microsoft.com/office/powerpoint/2010/main" val="149113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686E-9389-0D22-66DB-8BB1C64AF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989AA-FE7A-0961-1E95-80DA2A1F80DC}"/>
              </a:ext>
            </a:extLst>
          </p:cNvPr>
          <p:cNvSpPr>
            <a:spLocks noGrp="1"/>
          </p:cNvSpPr>
          <p:nvPr>
            <p:ph type="title"/>
          </p:nvPr>
        </p:nvSpPr>
        <p:spPr>
          <a:xfrm>
            <a:off x="450272" y="412955"/>
            <a:ext cx="11206018" cy="919579"/>
          </a:xfrm>
        </p:spPr>
        <p:txBody>
          <a:bodyPr>
            <a:normAutofit/>
          </a:bodyPr>
          <a:lstStyle/>
          <a:p>
            <a:r>
              <a:rPr lang="en-US" sz="3600" dirty="0"/>
              <a:t>The Optimization Problem</a:t>
            </a:r>
            <a:endParaRPr lang="en-US" sz="3600" b="0" dirty="0"/>
          </a:p>
        </p:txBody>
      </p:sp>
      <p:sp>
        <p:nvSpPr>
          <p:cNvPr id="7" name="TextBox 6">
            <a:extLst>
              <a:ext uri="{FF2B5EF4-FFF2-40B4-BE49-F238E27FC236}">
                <a16:creationId xmlns:a16="http://schemas.microsoft.com/office/drawing/2014/main" id="{0F267018-EBCB-0D99-6F4A-6A630086D65C}"/>
              </a:ext>
            </a:extLst>
          </p:cNvPr>
          <p:cNvSpPr txBox="1"/>
          <p:nvPr/>
        </p:nvSpPr>
        <p:spPr>
          <a:xfrm>
            <a:off x="330200" y="1231900"/>
            <a:ext cx="11595100" cy="1754326"/>
          </a:xfrm>
          <a:prstGeom prst="rect">
            <a:avLst/>
          </a:prstGeom>
          <a:noFill/>
          <a:ln>
            <a:solidFill>
              <a:schemeClr val="tx1"/>
            </a:solidFill>
          </a:ln>
        </p:spPr>
        <p:txBody>
          <a:bodyPr wrap="square" rtlCol="0">
            <a:spAutoFit/>
          </a:bodyPr>
          <a:lstStyle/>
          <a:p>
            <a:pPr marL="285750" indent="-285750">
              <a:buFontTx/>
              <a:buChar char="-"/>
            </a:pPr>
            <a:r>
              <a:rPr lang="en-US" dirty="0"/>
              <a:t>The NPSS model is optimized manually to determine the set of design variables which maximum cruise range.</a:t>
            </a:r>
          </a:p>
          <a:p>
            <a:pPr marL="285750" indent="-285750">
              <a:buFontTx/>
              <a:buChar char="-"/>
            </a:pPr>
            <a:r>
              <a:rPr lang="en-US" dirty="0"/>
              <a:t>Design variables:</a:t>
            </a:r>
          </a:p>
          <a:p>
            <a:pPr marL="742950" lvl="1" indent="-285750">
              <a:buFontTx/>
              <a:buChar char="-"/>
            </a:pPr>
            <a:r>
              <a:rPr lang="en-US" dirty="0"/>
              <a:t>Pressure ratios for the fan, LPC, and HPC which effect the technology curves for each compressor and the extraction ratio.</a:t>
            </a:r>
          </a:p>
          <a:p>
            <a:pPr marL="742950" lvl="1" indent="-285750">
              <a:buFontTx/>
              <a:buChar char="-"/>
            </a:pPr>
            <a:r>
              <a:rPr lang="en-US" b="0" dirty="0"/>
              <a:t>%non-chargeable cooling</a:t>
            </a:r>
          </a:p>
          <a:p>
            <a:pPr marL="742950" lvl="1" indent="-285750">
              <a:buFontTx/>
              <a:buChar char="-"/>
            </a:pPr>
            <a:r>
              <a:rPr lang="en-US" dirty="0"/>
              <a:t>Design Tt4</a:t>
            </a:r>
            <a:endParaRPr lang="en-US" b="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490C3BB-2F63-BDB1-9361-DA7919FA61F3}"/>
                  </a:ext>
                </a:extLst>
              </p:cNvPr>
              <p:cNvSpPr txBox="1"/>
              <p:nvPr/>
            </p:nvSpPr>
            <p:spPr>
              <a:xfrm>
                <a:off x="330200" y="3962400"/>
                <a:ext cx="6504923" cy="27943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𝜂</m:t>
                          </m:r>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𝐶𝑚𝑝𝐹𝑎𝑛</m:t>
                          </m:r>
                        </m:sub>
                      </m:sSub>
                      <m:r>
                        <a:rPr lang="en-US" sz="1600" b="0" i="1" smtClean="0">
                          <a:latin typeface="Cambria Math" panose="02040503050406030204" pitchFamily="18" charset="0"/>
                        </a:rPr>
                        <m:t>=−1.60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𝐶𝑚𝑝𝐹𝑎𝑛</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+4.59 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𝐶𝑚𝑝𝐹𝑎𝑛</m:t>
                          </m:r>
                        </m:sub>
                      </m:sSub>
                      <m:r>
                        <a:rPr lang="en-US" sz="1600" b="0" i="1" smtClean="0">
                          <a:latin typeface="Cambria Math" panose="02040503050406030204" pitchFamily="18" charset="0"/>
                        </a:rPr>
                        <m:t>−2.39</m:t>
                      </m:r>
                    </m:oMath>
                  </m:oMathPara>
                </a14:m>
                <a:endParaRPr lang="en-US" sz="1600" dirty="0"/>
              </a:p>
            </p:txBody>
          </p:sp>
        </mc:Choice>
        <mc:Fallback xmlns="">
          <p:sp>
            <p:nvSpPr>
              <p:cNvPr id="11" name="TextBox 10">
                <a:extLst>
                  <a:ext uri="{FF2B5EF4-FFF2-40B4-BE49-F238E27FC236}">
                    <a16:creationId xmlns:a16="http://schemas.microsoft.com/office/drawing/2014/main" id="{C490C3BB-2F63-BDB1-9361-DA7919FA61F3}"/>
                  </a:ext>
                </a:extLst>
              </p:cNvPr>
              <p:cNvSpPr txBox="1">
                <a:spLocks noRot="1" noChangeAspect="1" noMove="1" noResize="1" noEditPoints="1" noAdjustHandles="1" noChangeArrowheads="1" noChangeShapeType="1" noTextEdit="1"/>
              </p:cNvSpPr>
              <p:nvPr/>
            </p:nvSpPr>
            <p:spPr>
              <a:xfrm>
                <a:off x="330200" y="3962400"/>
                <a:ext cx="6504923" cy="279435"/>
              </a:xfrm>
              <a:prstGeom prst="rect">
                <a:avLst/>
              </a:prstGeom>
              <a:blipFill>
                <a:blip r:embed="rId2"/>
                <a:stretch>
                  <a:fillRect l="-1406"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B9FF44-ABDF-B125-3E60-04E31F673D50}"/>
                  </a:ext>
                </a:extLst>
              </p:cNvPr>
              <p:cNvSpPr txBox="1"/>
              <p:nvPr/>
            </p:nvSpPr>
            <p:spPr>
              <a:xfrm>
                <a:off x="330200" y="4375269"/>
                <a:ext cx="6385094" cy="27943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a:rPr lang="en-US" sz="1600" i="1">
                              <a:latin typeface="Cambria Math" panose="02040503050406030204" pitchFamily="18" charset="0"/>
                            </a:rPr>
                            <m:t>𝜂</m:t>
                          </m:r>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𝐶𝑚𝑝𝐿</m:t>
                          </m:r>
                        </m:sub>
                      </m:sSub>
                      <m:r>
                        <a:rPr lang="en-US" sz="1600" b="0" i="1" smtClean="0">
                          <a:latin typeface="Cambria Math" panose="02040503050406030204" pitchFamily="18" charset="0"/>
                        </a:rPr>
                        <m:t>=−0.0265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𝐶𝑚𝑝𝐿</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+0.0599 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𝑠</m:t>
                          </m:r>
                        </m:e>
                        <m:sub>
                          <m:r>
                            <a:rPr lang="en-US" sz="1600" b="0" i="1" smtClean="0">
                              <a:latin typeface="Cambria Math" panose="02040503050406030204" pitchFamily="18" charset="0"/>
                            </a:rPr>
                            <m:t>𝐶𝑚𝑝𝐿</m:t>
                          </m:r>
                        </m:sub>
                      </m:sSub>
                      <m:r>
                        <a:rPr lang="en-US" sz="1600" b="0" i="0" smtClean="0">
                          <a:latin typeface="Cambria Math" panose="02040503050406030204" pitchFamily="18" charset="0"/>
                        </a:rPr>
                        <m:t>+0.816</m:t>
                      </m:r>
                    </m:oMath>
                  </m:oMathPara>
                </a14:m>
                <a:endParaRPr lang="en-US" sz="1600" dirty="0"/>
              </a:p>
            </p:txBody>
          </p:sp>
        </mc:Choice>
        <mc:Fallback xmlns="">
          <p:sp>
            <p:nvSpPr>
              <p:cNvPr id="12" name="TextBox 11">
                <a:extLst>
                  <a:ext uri="{FF2B5EF4-FFF2-40B4-BE49-F238E27FC236}">
                    <a16:creationId xmlns:a16="http://schemas.microsoft.com/office/drawing/2014/main" id="{25B9FF44-ABDF-B125-3E60-04E31F673D50}"/>
                  </a:ext>
                </a:extLst>
              </p:cNvPr>
              <p:cNvSpPr txBox="1">
                <a:spLocks noRot="1" noChangeAspect="1" noMove="1" noResize="1" noEditPoints="1" noAdjustHandles="1" noChangeArrowheads="1" noChangeShapeType="1" noTextEdit="1"/>
              </p:cNvSpPr>
              <p:nvPr/>
            </p:nvSpPr>
            <p:spPr>
              <a:xfrm>
                <a:off x="330200" y="4375269"/>
                <a:ext cx="6385094" cy="279435"/>
              </a:xfrm>
              <a:prstGeom prst="rect">
                <a:avLst/>
              </a:prstGeom>
              <a:blipFill>
                <a:blip r:embed="rId3"/>
                <a:stretch>
                  <a:fillRect l="-1145"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AA6D851-F7E1-DBB1-8798-828130D73442}"/>
                  </a:ext>
                </a:extLst>
              </p:cNvPr>
              <p:cNvSpPr txBox="1"/>
              <p:nvPr/>
            </p:nvSpPr>
            <p:spPr>
              <a:xfrm>
                <a:off x="330200" y="4759172"/>
                <a:ext cx="6515823" cy="279435"/>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600" i="1">
                          <a:latin typeface="Cambria Math" panose="02040503050406030204" pitchFamily="18" charset="0"/>
                        </a:rPr>
                        <m:t>𝜂</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𝐶𝑚𝑝𝐻</m:t>
                          </m:r>
                        </m:sub>
                      </m:sSub>
                      <m:r>
                        <a:rPr lang="en-US" sz="1600" b="0" i="1" smtClean="0">
                          <a:latin typeface="Cambria Math" panose="02040503050406030204" pitchFamily="18" charset="0"/>
                        </a:rPr>
                        <m:t>=−0.00024206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𝐶𝑚𝑝𝐻</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+0.0048033 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𝐶𝑚𝑝𝐻</m:t>
                          </m:r>
                        </m:sub>
                      </m:sSub>
                      <m:r>
                        <a:rPr lang="en-US" sz="1600" b="0" i="0" smtClean="0">
                          <a:latin typeface="Cambria Math" panose="02040503050406030204" pitchFamily="18" charset="0"/>
                        </a:rPr>
                        <m:t>+0.90</m:t>
                      </m:r>
                    </m:oMath>
                  </m:oMathPara>
                </a14:m>
                <a:endParaRPr lang="en-US" sz="1600" dirty="0"/>
              </a:p>
            </p:txBody>
          </p:sp>
        </mc:Choice>
        <mc:Fallback xmlns="">
          <p:sp>
            <p:nvSpPr>
              <p:cNvPr id="13" name="TextBox 12">
                <a:extLst>
                  <a:ext uri="{FF2B5EF4-FFF2-40B4-BE49-F238E27FC236}">
                    <a16:creationId xmlns:a16="http://schemas.microsoft.com/office/drawing/2014/main" id="{BAA6D851-F7E1-DBB1-8798-828130D73442}"/>
                  </a:ext>
                </a:extLst>
              </p:cNvPr>
              <p:cNvSpPr txBox="1">
                <a:spLocks noRot="1" noChangeAspect="1" noMove="1" noResize="1" noEditPoints="1" noAdjustHandles="1" noChangeArrowheads="1" noChangeShapeType="1" noTextEdit="1"/>
              </p:cNvSpPr>
              <p:nvPr/>
            </p:nvSpPr>
            <p:spPr>
              <a:xfrm>
                <a:off x="330200" y="4759172"/>
                <a:ext cx="6515823" cy="279435"/>
              </a:xfrm>
              <a:prstGeom prst="rect">
                <a:avLst/>
              </a:prstGeom>
              <a:blipFill>
                <a:blip r:embed="rId4"/>
                <a:stretch>
                  <a:fillRect l="-1123"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CBF5F7A-804D-D851-771F-E3CA99E03D41}"/>
                  </a:ext>
                </a:extLst>
              </p:cNvPr>
              <p:cNvSpPr txBox="1"/>
              <p:nvPr/>
            </p:nvSpPr>
            <p:spPr>
              <a:xfrm>
                <a:off x="330200" y="5419955"/>
                <a:ext cx="5349606" cy="55322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𝐸𝑥𝑡𝑟𝑎𝑐𝑡𝑖𝑜𝑛</m:t>
                      </m:r>
                      <m:r>
                        <a:rPr lang="en-US" sz="1600" b="0" i="1" smtClean="0">
                          <a:latin typeface="Cambria Math" panose="02040503050406030204" pitchFamily="18" charset="0"/>
                        </a:rPr>
                        <m:t> </m:t>
                      </m:r>
                      <m:r>
                        <a:rPr lang="en-US" sz="1600" b="0" i="1" smtClean="0">
                          <a:latin typeface="Cambria Math" panose="02040503050406030204" pitchFamily="18" charset="0"/>
                        </a:rPr>
                        <m:t>𝑅𝑎𝑡𝑖𝑜</m:t>
                      </m:r>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𝑃𝑡</m:t>
                                  </m:r>
                                </m:e>
                                <m:sub>
                                  <m:r>
                                    <a:rPr lang="en-US" sz="1600" b="0" i="1" smtClean="0">
                                      <a:latin typeface="Cambria Math" panose="02040503050406030204" pitchFamily="18" charset="0"/>
                                    </a:rPr>
                                    <m:t>𝐷</m:t>
                                  </m:r>
                                  <m:r>
                                    <a:rPr lang="en-US" sz="1600" b="0" i="1" smtClean="0">
                                      <a:latin typeface="Cambria Math" panose="02040503050406030204" pitchFamily="18" charset="0"/>
                                    </a:rPr>
                                    <m:t>015</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𝑃𝑡</m:t>
                                  </m:r>
                                </m:e>
                                <m:sub>
                                  <m:r>
                                    <a:rPr lang="en-US" sz="1600" b="0" i="1" smtClean="0">
                                      <a:latin typeface="Cambria Math" panose="02040503050406030204" pitchFamily="18" charset="0"/>
                                    </a:rPr>
                                    <m:t>𝐷</m:t>
                                  </m:r>
                                  <m:r>
                                    <a:rPr lang="en-US" sz="1600" b="0" i="1" smtClean="0">
                                      <a:latin typeface="Cambria Math" panose="02040503050406030204" pitchFamily="18" charset="0"/>
                                    </a:rPr>
                                    <m:t>070</m:t>
                                  </m:r>
                                </m:sub>
                              </m:sSub>
                            </m:den>
                          </m:f>
                        </m:e>
                      </m:d>
                      <m:r>
                        <a:rPr lang="en-US" sz="1600" b="0" i="1" smtClean="0">
                          <a:latin typeface="Cambria Math" panose="02040503050406030204" pitchFamily="18" charset="0"/>
                        </a:rPr>
                        <m:t>=1.33333 </m:t>
                      </m:r>
                      <m:r>
                        <a:rPr lang="en-US" sz="1600" i="1">
                          <a:latin typeface="Cambria Math" panose="02040503050406030204" pitchFamily="18" charset="0"/>
                        </a:rPr>
                        <m:t>𝑃𝑅𝑑𝑒</m:t>
                      </m:r>
                      <m:sSub>
                        <m:sSubPr>
                          <m:ctrlPr>
                            <a:rPr lang="en-US" sz="1600" i="1">
                              <a:latin typeface="Cambria Math" panose="02040503050406030204" pitchFamily="18" charset="0"/>
                            </a:rPr>
                          </m:ctrlPr>
                        </m:sSubPr>
                        <m:e>
                          <m:r>
                            <a:rPr lang="en-US" sz="1600" i="1">
                              <a:latin typeface="Cambria Math" panose="02040503050406030204" pitchFamily="18" charset="0"/>
                            </a:rPr>
                            <m:t>𝑠</m:t>
                          </m:r>
                        </m:e>
                        <m:sub>
                          <m:r>
                            <a:rPr lang="en-US" sz="1600" i="1">
                              <a:latin typeface="Cambria Math" panose="02040503050406030204" pitchFamily="18" charset="0"/>
                            </a:rPr>
                            <m:t>𝐶𝑚𝑝𝐹𝑎𝑛</m:t>
                          </m:r>
                        </m:sub>
                      </m:sSub>
                      <m:r>
                        <a:rPr lang="en-US" sz="1600" b="0" i="1" smtClean="0">
                          <a:latin typeface="Cambria Math" panose="02040503050406030204" pitchFamily="18" charset="0"/>
                        </a:rPr>
                        <m:t>−0.40</m:t>
                      </m:r>
                    </m:oMath>
                  </m:oMathPara>
                </a14:m>
                <a:endParaRPr lang="en-US" sz="1600" dirty="0"/>
              </a:p>
            </p:txBody>
          </p:sp>
        </mc:Choice>
        <mc:Fallback xmlns="">
          <p:sp>
            <p:nvSpPr>
              <p:cNvPr id="14" name="TextBox 13">
                <a:extLst>
                  <a:ext uri="{FF2B5EF4-FFF2-40B4-BE49-F238E27FC236}">
                    <a16:creationId xmlns:a16="http://schemas.microsoft.com/office/drawing/2014/main" id="{4CBF5F7A-804D-D851-771F-E3CA99E03D41}"/>
                  </a:ext>
                </a:extLst>
              </p:cNvPr>
              <p:cNvSpPr txBox="1">
                <a:spLocks noRot="1" noChangeAspect="1" noMove="1" noResize="1" noEditPoints="1" noAdjustHandles="1" noChangeArrowheads="1" noChangeShapeType="1" noTextEdit="1"/>
              </p:cNvSpPr>
              <p:nvPr/>
            </p:nvSpPr>
            <p:spPr>
              <a:xfrm>
                <a:off x="330200" y="5419955"/>
                <a:ext cx="5349606" cy="553228"/>
              </a:xfrm>
              <a:prstGeom prst="rect">
                <a:avLst/>
              </a:prstGeom>
              <a:blipFill>
                <a:blip r:embed="rId5"/>
                <a:stretch>
                  <a:fillRect/>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20EE452E-EFA9-6D69-FFBD-86BC973EEE86}"/>
              </a:ext>
            </a:extLst>
          </p:cNvPr>
          <p:cNvGrpSpPr/>
          <p:nvPr/>
        </p:nvGrpSpPr>
        <p:grpSpPr>
          <a:xfrm>
            <a:off x="6846023" y="3130091"/>
            <a:ext cx="5156200" cy="3537595"/>
            <a:chOff x="6846023" y="3208410"/>
            <a:chExt cx="5156200" cy="3537595"/>
          </a:xfrm>
        </p:grpSpPr>
        <p:pic>
          <p:nvPicPr>
            <p:cNvPr id="6" name="Picture 5">
              <a:extLst>
                <a:ext uri="{FF2B5EF4-FFF2-40B4-BE49-F238E27FC236}">
                  <a16:creationId xmlns:a16="http://schemas.microsoft.com/office/drawing/2014/main" id="{6C6E4117-C421-92B6-1346-D84A26FF9D22}"/>
                </a:ext>
              </a:extLst>
            </p:cNvPr>
            <p:cNvPicPr>
              <a:picLocks noChangeAspect="1"/>
            </p:cNvPicPr>
            <p:nvPr/>
          </p:nvPicPr>
          <p:blipFill>
            <a:blip r:embed="rId6"/>
            <a:stretch>
              <a:fillRect/>
            </a:stretch>
          </p:blipFill>
          <p:spPr>
            <a:xfrm>
              <a:off x="6846023" y="3208410"/>
              <a:ext cx="5156200" cy="3224441"/>
            </a:xfrm>
            <a:prstGeom prst="rect">
              <a:avLst/>
            </a:prstGeom>
          </p:spPr>
        </p:pic>
        <p:sp>
          <p:nvSpPr>
            <p:cNvPr id="15" name="TextBox 14">
              <a:extLst>
                <a:ext uri="{FF2B5EF4-FFF2-40B4-BE49-F238E27FC236}">
                  <a16:creationId xmlns:a16="http://schemas.microsoft.com/office/drawing/2014/main" id="{5726D145-A1B2-7BA9-23DA-696D2D0DE99A}"/>
                </a:ext>
              </a:extLst>
            </p:cNvPr>
            <p:cNvSpPr txBox="1"/>
            <p:nvPr/>
          </p:nvSpPr>
          <p:spPr>
            <a:xfrm>
              <a:off x="7855673" y="6407451"/>
              <a:ext cx="3136900" cy="338554"/>
            </a:xfrm>
            <a:prstGeom prst="rect">
              <a:avLst/>
            </a:prstGeom>
            <a:noFill/>
          </p:spPr>
          <p:txBody>
            <a:bodyPr wrap="square" rtlCol="0">
              <a:spAutoFit/>
            </a:bodyPr>
            <a:lstStyle/>
            <a:p>
              <a:r>
                <a:rPr lang="en-US" sz="1600" dirty="0"/>
                <a:t>Optimization algorithm flowchart</a:t>
              </a:r>
            </a:p>
          </p:txBody>
        </p:sp>
      </p:grpSp>
    </p:spTree>
    <p:extLst>
      <p:ext uri="{BB962C8B-B14F-4D97-AF65-F5344CB8AC3E}">
        <p14:creationId xmlns:p14="http://schemas.microsoft.com/office/powerpoint/2010/main" val="606757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D987-93EC-902D-2B7A-AADB84354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674B4-5BC6-12BF-B21E-EC5342D0F461}"/>
              </a:ext>
            </a:extLst>
          </p:cNvPr>
          <p:cNvSpPr>
            <a:spLocks noGrp="1"/>
          </p:cNvSpPr>
          <p:nvPr>
            <p:ph type="title"/>
          </p:nvPr>
        </p:nvSpPr>
        <p:spPr/>
        <p:txBody>
          <a:bodyPr>
            <a:normAutofit fontScale="90000"/>
          </a:bodyPr>
          <a:lstStyle/>
          <a:p>
            <a:r>
              <a:rPr lang="en-US" dirty="0"/>
              <a:t>Engine Deck</a:t>
            </a:r>
          </a:p>
        </p:txBody>
      </p:sp>
      <p:sp>
        <p:nvSpPr>
          <p:cNvPr id="3" name="Content Placeholder 2">
            <a:extLst>
              <a:ext uri="{FF2B5EF4-FFF2-40B4-BE49-F238E27FC236}">
                <a16:creationId xmlns:a16="http://schemas.microsoft.com/office/drawing/2014/main" id="{2DDA2FD0-86D2-A404-7E9F-662F51196CF1}"/>
              </a:ext>
            </a:extLst>
          </p:cNvPr>
          <p:cNvSpPr>
            <a:spLocks noGrp="1"/>
          </p:cNvSpPr>
          <p:nvPr>
            <p:ph idx="1"/>
          </p:nvPr>
        </p:nvSpPr>
        <p:spPr>
          <a:xfrm>
            <a:off x="411949" y="1194882"/>
            <a:ext cx="11368101" cy="2521712"/>
          </a:xfrm>
          <a:ln>
            <a:solidFill>
              <a:schemeClr val="tx1"/>
            </a:solidFill>
          </a:ln>
        </p:spPr>
        <p:txBody>
          <a:bodyPr>
            <a:normAutofit/>
          </a:bodyPr>
          <a:lstStyle/>
          <a:p>
            <a:pPr>
              <a:buFontTx/>
              <a:buChar char="-"/>
            </a:pPr>
            <a:r>
              <a:rPr lang="en-US" sz="1600" dirty="0"/>
              <a:t>The engine deck is the main output of the NPSS model. For the scope of this project the parameters of interest are thrust and TSFC across the full flight envelope at standard day to inform the FLOPS model.</a:t>
            </a:r>
          </a:p>
          <a:p>
            <a:pPr>
              <a:buFontTx/>
              <a:buChar char="-"/>
            </a:pPr>
            <a:r>
              <a:rPr lang="en-US" sz="1600" dirty="0"/>
              <a:t>Engine Deck Operating Envelope:</a:t>
            </a:r>
          </a:p>
          <a:p>
            <a:pPr lvl="1">
              <a:buFontTx/>
              <a:buChar char="-"/>
            </a:pPr>
            <a:r>
              <a:rPr lang="en-US" sz="1600" dirty="0"/>
              <a:t>Mach      [0.0 : 0.1 : 0.9]</a:t>
            </a:r>
          </a:p>
          <a:p>
            <a:pPr lvl="1">
              <a:buFontTx/>
              <a:buChar char="-"/>
            </a:pPr>
            <a:r>
              <a:rPr lang="en-US" sz="1600" dirty="0"/>
              <a:t>Altitude [0.0 : 5.0 : 45.0] </a:t>
            </a:r>
            <a:r>
              <a:rPr lang="en-US" sz="1600" dirty="0" err="1"/>
              <a:t>kft</a:t>
            </a:r>
            <a:endParaRPr lang="en-US" sz="1600" dirty="0"/>
          </a:p>
          <a:p>
            <a:pPr>
              <a:buFontTx/>
              <a:buChar char="-"/>
            </a:pPr>
            <a:r>
              <a:rPr lang="en-US" sz="1600" dirty="0"/>
              <a:t>The engine deck is used in industry to inform a customer of engine performance for validation of engine test activities and provide inputs for higher level vehicle or mission modeling.</a:t>
            </a:r>
          </a:p>
          <a:p>
            <a:pPr lvl="1">
              <a:buFontTx/>
              <a:buChar char="-"/>
            </a:pPr>
            <a:r>
              <a:rPr lang="en-US" sz="1400" dirty="0" err="1"/>
              <a:t>dTs</a:t>
            </a:r>
            <a:r>
              <a:rPr lang="en-US" sz="1400" dirty="0"/>
              <a:t> or MIL-STD-210A/C non-standard days, as well as potential limit flags may enhance a customers understanding of the engine operating envelope.</a:t>
            </a:r>
          </a:p>
        </p:txBody>
      </p:sp>
      <p:grpSp>
        <p:nvGrpSpPr>
          <p:cNvPr id="9" name="Group 8">
            <a:extLst>
              <a:ext uri="{FF2B5EF4-FFF2-40B4-BE49-F238E27FC236}">
                <a16:creationId xmlns:a16="http://schemas.microsoft.com/office/drawing/2014/main" id="{724973D8-B079-01A7-3B9C-B10A195A2B37}"/>
              </a:ext>
            </a:extLst>
          </p:cNvPr>
          <p:cNvGrpSpPr/>
          <p:nvPr/>
        </p:nvGrpSpPr>
        <p:grpSpPr>
          <a:xfrm>
            <a:off x="617421" y="3870658"/>
            <a:ext cx="6560127" cy="2895600"/>
            <a:chOff x="446883" y="3684875"/>
            <a:chExt cx="6962097" cy="2991959"/>
          </a:xfrm>
        </p:grpSpPr>
        <p:pic>
          <p:nvPicPr>
            <p:cNvPr id="6" name="Picture 5">
              <a:extLst>
                <a:ext uri="{FF2B5EF4-FFF2-40B4-BE49-F238E27FC236}">
                  <a16:creationId xmlns:a16="http://schemas.microsoft.com/office/drawing/2014/main" id="{B33B5EBC-E0DD-95E8-E9FF-7785E101396E}"/>
                </a:ext>
              </a:extLst>
            </p:cNvPr>
            <p:cNvPicPr>
              <a:picLocks noChangeAspect="1"/>
            </p:cNvPicPr>
            <p:nvPr/>
          </p:nvPicPr>
          <p:blipFill>
            <a:blip r:embed="rId2"/>
            <a:stretch>
              <a:fillRect/>
            </a:stretch>
          </p:blipFill>
          <p:spPr>
            <a:xfrm>
              <a:off x="446883" y="3684875"/>
              <a:ext cx="6962097" cy="2684182"/>
            </a:xfrm>
            <a:prstGeom prst="rect">
              <a:avLst/>
            </a:prstGeom>
            <a:ln>
              <a:noFill/>
            </a:ln>
          </p:spPr>
        </p:pic>
        <p:sp>
          <p:nvSpPr>
            <p:cNvPr id="8" name="TextBox 7">
              <a:extLst>
                <a:ext uri="{FF2B5EF4-FFF2-40B4-BE49-F238E27FC236}">
                  <a16:creationId xmlns:a16="http://schemas.microsoft.com/office/drawing/2014/main" id="{F18EE1CA-0D59-59A9-B880-AEF3DFDC9333}"/>
                </a:ext>
              </a:extLst>
            </p:cNvPr>
            <p:cNvSpPr txBox="1"/>
            <p:nvPr/>
          </p:nvSpPr>
          <p:spPr>
            <a:xfrm>
              <a:off x="1573105" y="6369057"/>
              <a:ext cx="4709652" cy="307777"/>
            </a:xfrm>
            <a:prstGeom prst="rect">
              <a:avLst/>
            </a:prstGeom>
            <a:noFill/>
          </p:spPr>
          <p:txBody>
            <a:bodyPr wrap="square">
              <a:spAutoFit/>
            </a:bodyPr>
            <a:lstStyle/>
            <a:p>
              <a:pPr lvl="1" algn="ctr"/>
              <a:r>
                <a:rPr lang="en-US" sz="1400" dirty="0"/>
                <a:t>Excerpt from example generated engine deck</a:t>
              </a:r>
            </a:p>
          </p:txBody>
        </p:sp>
      </p:grpSp>
      <p:grpSp>
        <p:nvGrpSpPr>
          <p:cNvPr id="22" name="Group 21">
            <a:extLst>
              <a:ext uri="{FF2B5EF4-FFF2-40B4-BE49-F238E27FC236}">
                <a16:creationId xmlns:a16="http://schemas.microsoft.com/office/drawing/2014/main" id="{9BD84D23-369F-2ADF-BFA2-BF7A5E92F3F9}"/>
              </a:ext>
            </a:extLst>
          </p:cNvPr>
          <p:cNvGrpSpPr/>
          <p:nvPr/>
        </p:nvGrpSpPr>
        <p:grpSpPr>
          <a:xfrm>
            <a:off x="7812102" y="3870658"/>
            <a:ext cx="4212750" cy="2806176"/>
            <a:chOff x="7812102" y="3870658"/>
            <a:chExt cx="4212750" cy="2806176"/>
          </a:xfrm>
        </p:grpSpPr>
        <p:grpSp>
          <p:nvGrpSpPr>
            <p:cNvPr id="20" name="Group 19">
              <a:extLst>
                <a:ext uri="{FF2B5EF4-FFF2-40B4-BE49-F238E27FC236}">
                  <a16:creationId xmlns:a16="http://schemas.microsoft.com/office/drawing/2014/main" id="{774A59AF-3685-E4B3-C49C-5988A7105EB0}"/>
                </a:ext>
              </a:extLst>
            </p:cNvPr>
            <p:cNvGrpSpPr/>
            <p:nvPr/>
          </p:nvGrpSpPr>
          <p:grpSpPr>
            <a:xfrm>
              <a:off x="8060583" y="3870658"/>
              <a:ext cx="3715788" cy="2312615"/>
              <a:chOff x="7620806" y="3769522"/>
              <a:chExt cx="3715788" cy="2312615"/>
            </a:xfrm>
          </p:grpSpPr>
          <p:pic>
            <p:nvPicPr>
              <p:cNvPr id="17" name="Picture 16">
                <a:extLst>
                  <a:ext uri="{FF2B5EF4-FFF2-40B4-BE49-F238E27FC236}">
                    <a16:creationId xmlns:a16="http://schemas.microsoft.com/office/drawing/2014/main" id="{F9524044-4653-14C2-BC7C-480FCC8DC85F}"/>
                  </a:ext>
                </a:extLst>
              </p:cNvPr>
              <p:cNvPicPr>
                <a:picLocks noChangeAspect="1"/>
              </p:cNvPicPr>
              <p:nvPr/>
            </p:nvPicPr>
            <p:blipFill>
              <a:blip r:embed="rId3">
                <a:extLst>
                  <a:ext uri="{28A0092B-C50C-407E-A947-70E740481C1C}">
                    <a14:useLocalDpi xmlns:a14="http://schemas.microsoft.com/office/drawing/2010/main" val="0"/>
                  </a:ext>
                </a:extLst>
              </a:blip>
              <a:srcRect l="12483" r="19643"/>
              <a:stretch>
                <a:fillRect/>
              </a:stretch>
            </p:blipFill>
            <p:spPr>
              <a:xfrm>
                <a:off x="8986683" y="3769522"/>
                <a:ext cx="2349911" cy="2312614"/>
              </a:xfrm>
              <a:prstGeom prst="rect">
                <a:avLst/>
              </a:prstGeom>
            </p:spPr>
          </p:pic>
          <p:pic>
            <p:nvPicPr>
              <p:cNvPr id="19" name="Picture 18">
                <a:extLst>
                  <a:ext uri="{FF2B5EF4-FFF2-40B4-BE49-F238E27FC236}">
                    <a16:creationId xmlns:a16="http://schemas.microsoft.com/office/drawing/2014/main" id="{5B539F54-DE9C-074B-7E13-2FCEB2A43F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806" y="3769523"/>
                <a:ext cx="1365877" cy="2312614"/>
              </a:xfrm>
              <a:prstGeom prst="rect">
                <a:avLst/>
              </a:prstGeom>
            </p:spPr>
          </p:pic>
        </p:grpSp>
        <p:sp>
          <p:nvSpPr>
            <p:cNvPr id="21" name="TextBox 20">
              <a:extLst>
                <a:ext uri="{FF2B5EF4-FFF2-40B4-BE49-F238E27FC236}">
                  <a16:creationId xmlns:a16="http://schemas.microsoft.com/office/drawing/2014/main" id="{30D60BE3-2766-9589-0A19-90F39322C5C8}"/>
                </a:ext>
              </a:extLst>
            </p:cNvPr>
            <p:cNvSpPr txBox="1"/>
            <p:nvPr/>
          </p:nvSpPr>
          <p:spPr>
            <a:xfrm>
              <a:off x="7812102" y="6153614"/>
              <a:ext cx="4212750" cy="523220"/>
            </a:xfrm>
            <a:prstGeom prst="rect">
              <a:avLst/>
            </a:prstGeom>
            <a:noFill/>
          </p:spPr>
          <p:txBody>
            <a:bodyPr wrap="square">
              <a:spAutoFit/>
            </a:bodyPr>
            <a:lstStyle/>
            <a:p>
              <a:pPr algn="ctr"/>
              <a:r>
                <a:rPr lang="en-US" sz="1400" dirty="0"/>
                <a:t>Visual from AFSIM mission modeling evaluating vehicle performance with NPS fuel tables</a:t>
              </a:r>
            </a:p>
          </p:txBody>
        </p:sp>
      </p:grpSp>
    </p:spTree>
    <p:extLst>
      <p:ext uri="{BB962C8B-B14F-4D97-AF65-F5344CB8AC3E}">
        <p14:creationId xmlns:p14="http://schemas.microsoft.com/office/powerpoint/2010/main" val="46312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C773-01D4-D29C-AC41-7746446E3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012F8-87E0-1F9A-D709-730B8E2D2DFE}"/>
              </a:ext>
            </a:extLst>
          </p:cNvPr>
          <p:cNvSpPr>
            <a:spLocks noGrp="1"/>
          </p:cNvSpPr>
          <p:nvPr>
            <p:ph type="title"/>
          </p:nvPr>
        </p:nvSpPr>
        <p:spPr/>
        <p:txBody>
          <a:bodyPr>
            <a:normAutofit fontScale="90000"/>
          </a:bodyPr>
          <a:lstStyle/>
          <a:p>
            <a:r>
              <a:rPr lang="en-US" dirty="0"/>
              <a:t>Optimization Deck</a:t>
            </a:r>
          </a:p>
        </p:txBody>
      </p:sp>
      <p:graphicFrame>
        <p:nvGraphicFramePr>
          <p:cNvPr id="6" name="Table 5">
            <a:extLst>
              <a:ext uri="{FF2B5EF4-FFF2-40B4-BE49-F238E27FC236}">
                <a16:creationId xmlns:a16="http://schemas.microsoft.com/office/drawing/2014/main" id="{ED694AC2-4C24-F365-720D-F9065D03AE90}"/>
              </a:ext>
            </a:extLst>
          </p:cNvPr>
          <p:cNvGraphicFramePr>
            <a:graphicFrameLocks noGrp="1"/>
          </p:cNvGraphicFramePr>
          <p:nvPr>
            <p:extLst>
              <p:ext uri="{D42A27DB-BD31-4B8C-83A1-F6EECF244321}">
                <p14:modId xmlns:p14="http://schemas.microsoft.com/office/powerpoint/2010/main" val="1995359474"/>
              </p:ext>
            </p:extLst>
          </p:nvPr>
        </p:nvGraphicFramePr>
        <p:xfrm>
          <a:off x="7283426" y="1194881"/>
          <a:ext cx="4677665" cy="4488160"/>
        </p:xfrm>
        <a:graphic>
          <a:graphicData uri="http://schemas.openxmlformats.org/drawingml/2006/table">
            <a:tbl>
              <a:tblPr/>
              <a:tblGrid>
                <a:gridCol w="999501">
                  <a:extLst>
                    <a:ext uri="{9D8B030D-6E8A-4147-A177-3AD203B41FA5}">
                      <a16:colId xmlns:a16="http://schemas.microsoft.com/office/drawing/2014/main" val="1529650538"/>
                    </a:ext>
                  </a:extLst>
                </a:gridCol>
                <a:gridCol w="919541">
                  <a:extLst>
                    <a:ext uri="{9D8B030D-6E8A-4147-A177-3AD203B41FA5}">
                      <a16:colId xmlns:a16="http://schemas.microsoft.com/office/drawing/2014/main" val="1718178846"/>
                    </a:ext>
                  </a:extLst>
                </a:gridCol>
                <a:gridCol w="919541">
                  <a:extLst>
                    <a:ext uri="{9D8B030D-6E8A-4147-A177-3AD203B41FA5}">
                      <a16:colId xmlns:a16="http://schemas.microsoft.com/office/drawing/2014/main" val="3448250444"/>
                    </a:ext>
                  </a:extLst>
                </a:gridCol>
                <a:gridCol w="919541">
                  <a:extLst>
                    <a:ext uri="{9D8B030D-6E8A-4147-A177-3AD203B41FA5}">
                      <a16:colId xmlns:a16="http://schemas.microsoft.com/office/drawing/2014/main" val="1636186796"/>
                    </a:ext>
                  </a:extLst>
                </a:gridCol>
                <a:gridCol w="919541">
                  <a:extLst>
                    <a:ext uri="{9D8B030D-6E8A-4147-A177-3AD203B41FA5}">
                      <a16:colId xmlns:a16="http://schemas.microsoft.com/office/drawing/2014/main" val="4176428316"/>
                    </a:ext>
                  </a:extLst>
                </a:gridCol>
              </a:tblGrid>
              <a:tr h="224408">
                <a:tc>
                  <a:txBody>
                    <a:bodyPr/>
                    <a:lstStyle/>
                    <a:p>
                      <a:pPr algn="ctr" fontAlgn="ctr">
                        <a:buNone/>
                      </a:pPr>
                      <a:r>
                        <a:rPr lang="en-US" sz="1000" b="1" i="0" u="none" strike="noStrike">
                          <a:solidFill>
                            <a:srgbClr val="000000"/>
                          </a:solidFill>
                          <a:effectLst/>
                          <a:latin typeface="Calibri" panose="020F0502020204030204" pitchFamily="34" charset="0"/>
                        </a:rPr>
                        <a:t>Variable</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90872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1.650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1.575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1.540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82397588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LPCPRD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1.850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10512899"/>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HPCPRD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8.000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12.500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14.000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8.000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19041632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OPRD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19.4055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39.203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39.9797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18.1118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52133969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BPRD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7.36354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7.45388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7.90782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9.37468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189667117"/>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FAR</a:t>
                      </a:r>
                      <a:r>
                        <a:rPr lang="en-US" sz="1000" b="0" i="0" u="none" strike="noStrike" baseline="-25000">
                          <a:solidFill>
                            <a:srgbClr val="000000"/>
                          </a:solidFill>
                          <a:effectLst/>
                          <a:latin typeface="Calibri" panose="020F0502020204030204" pitchFamily="34" charset="0"/>
                        </a:rPr>
                        <a:t>TOC</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0.0255093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0.022257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0.0223166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0.0261687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906741305"/>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a:t>
                      </a:r>
                      <a:r>
                        <a:rPr lang="en-US" sz="1000" b="0" i="0" u="none" strike="noStrike" baseline="-25000">
                          <a:solidFill>
                            <a:srgbClr val="000000"/>
                          </a:solidFill>
                          <a:effectLst/>
                          <a:latin typeface="Calibri" panose="020F0502020204030204" pitchFamily="34" charset="0"/>
                        </a:rPr>
                        <a:t>des</a:t>
                      </a:r>
                      <a:r>
                        <a:rPr lang="en-US" sz="1000" b="0" i="0" u="none" strike="noStrike">
                          <a:solidFill>
                            <a:srgbClr val="000000"/>
                          </a:solidFill>
                          <a:effectLst/>
                          <a:latin typeface="Calibri" panose="020F0502020204030204" pitchFamily="34" charset="0"/>
                        </a:rPr>
                        <a:t> at TOC</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2689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2721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2725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2697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426809230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 NC Cooling</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0.0485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848617622"/>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TOC Mass Flow</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321.648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344.174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353.642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362.653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289247541"/>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Fn</a:t>
                      </a:r>
                      <a:r>
                        <a:rPr lang="en-US" sz="1100" b="0" i="0" u="none" strike="noStrike" baseline="-25000">
                          <a:solidFill>
                            <a:srgbClr val="000000"/>
                          </a:solidFill>
                          <a:effectLst/>
                          <a:latin typeface="Calibri" panose="020F0502020204030204" pitchFamily="34" charset="0"/>
                        </a:rPr>
                        <a:t>TOC</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61007645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D</a:t>
                      </a:r>
                      <a:r>
                        <a:rPr lang="en-US" sz="1100" b="0" i="0" u="none" strike="noStrike" baseline="-25000">
                          <a:solidFill>
                            <a:srgbClr val="000000"/>
                          </a:solidFill>
                          <a:effectLst/>
                          <a:latin typeface="Calibri" panose="020F0502020204030204" pitchFamily="34" charset="0"/>
                        </a:rPr>
                        <a:t>fan</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74.1487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77.0824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78.1935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78.8923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64529399"/>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W</a:t>
                      </a:r>
                      <a:r>
                        <a:rPr lang="en-US" sz="1100" b="0" i="0" u="none" strike="noStrike" baseline="-25000">
                          <a:solidFill>
                            <a:srgbClr val="000000"/>
                          </a:solidFill>
                          <a:effectLst/>
                          <a:latin typeface="Calibri" panose="020F0502020204030204" pitchFamily="34" charset="0"/>
                        </a:rPr>
                        <a:t>eng</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2413.66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4804.36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4905.07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2291.41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68324076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L</a:t>
                      </a:r>
                      <a:r>
                        <a:rPr lang="en-US" sz="1100" b="0" i="0" u="none" strike="noStrike" baseline="-25000">
                          <a:solidFill>
                            <a:srgbClr val="000000"/>
                          </a:solidFill>
                          <a:effectLst/>
                          <a:latin typeface="Calibri" panose="020F0502020204030204" pitchFamily="34" charset="0"/>
                        </a:rPr>
                        <a:t>eng</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90.353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105.812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106.419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89.3428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402468092"/>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FAR</a:t>
                      </a:r>
                      <a:r>
                        <a:rPr lang="en-US" sz="10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0.0329294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0.0282849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0.0282425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0.0334835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57646230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Tt41</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3174.45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3174.1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3173.42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3173.28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282851085"/>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88392736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Tt3</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1352.45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1640.47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1643.05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1317.42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17074824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Fn</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22019.8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22080.8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22022.6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22006.9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869968587"/>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Range</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3147.1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583"/>
                    </a:solidFill>
                  </a:tcPr>
                </a:tc>
                <a:tc>
                  <a:txBody>
                    <a:bodyPr/>
                    <a:lstStyle/>
                    <a:p>
                      <a:pPr algn="ctr" fontAlgn="ctr">
                        <a:buNone/>
                      </a:pPr>
                      <a:r>
                        <a:rPr lang="en-US" sz="1000" b="0" i="0" u="none" strike="noStrike">
                          <a:solidFill>
                            <a:srgbClr val="000000"/>
                          </a:solidFill>
                          <a:effectLst/>
                          <a:latin typeface="Calibri" panose="020F0502020204030204" pitchFamily="34" charset="0"/>
                        </a:rPr>
                        <a:t>2983.5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ctr" fontAlgn="ctr">
                        <a:buNone/>
                      </a:pPr>
                      <a:r>
                        <a:rPr lang="en-US" sz="1000" b="0" i="0" u="none" strike="noStrike">
                          <a:solidFill>
                            <a:srgbClr val="000000"/>
                          </a:solidFill>
                          <a:effectLst/>
                          <a:latin typeface="Calibri" panose="020F0502020204030204" pitchFamily="34" charset="0"/>
                        </a:rPr>
                        <a:t>3042.8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AE78"/>
                    </a:solidFill>
                  </a:tcPr>
                </a:tc>
                <a:tc>
                  <a:txBody>
                    <a:bodyPr/>
                    <a:lstStyle/>
                    <a:p>
                      <a:pPr algn="ctr" fontAlgn="ctr">
                        <a:buNone/>
                      </a:pPr>
                      <a:r>
                        <a:rPr lang="en-US" sz="1000" b="0" i="0" u="none" strike="noStrike" dirty="0">
                          <a:solidFill>
                            <a:srgbClr val="000000"/>
                          </a:solidFill>
                          <a:effectLst/>
                          <a:latin typeface="Calibri" panose="020F0502020204030204" pitchFamily="34" charset="0"/>
                        </a:rPr>
                        <a:t>3440.7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3514375417"/>
                  </a:ext>
                </a:extLst>
              </a:tr>
            </a:tbl>
          </a:graphicData>
        </a:graphic>
      </p:graphicFrame>
      <p:sp>
        <p:nvSpPr>
          <p:cNvPr id="7" name="TextBox 6">
            <a:extLst>
              <a:ext uri="{FF2B5EF4-FFF2-40B4-BE49-F238E27FC236}">
                <a16:creationId xmlns:a16="http://schemas.microsoft.com/office/drawing/2014/main" id="{593EFEE7-4A0A-042B-0269-87A35622C35A}"/>
              </a:ext>
            </a:extLst>
          </p:cNvPr>
          <p:cNvSpPr txBox="1"/>
          <p:nvPr/>
        </p:nvSpPr>
        <p:spPr>
          <a:xfrm>
            <a:off x="286202" y="3429000"/>
            <a:ext cx="6638783" cy="1200329"/>
          </a:xfrm>
          <a:prstGeom prst="rect">
            <a:avLst/>
          </a:prstGeom>
          <a:noFill/>
        </p:spPr>
        <p:txBody>
          <a:bodyPr wrap="square" rtlCol="0">
            <a:spAutoFit/>
          </a:bodyPr>
          <a:lstStyle/>
          <a:p>
            <a:pPr marL="285750" indent="-285750">
              <a:buFontTx/>
              <a:buChar char="-"/>
            </a:pPr>
            <a:r>
              <a:rPr lang="en-US" dirty="0"/>
              <a:t>Given only four manually optimized runs, the maximum range for the theoretical B737 MAX 8 is within 2% of the reported true range.</a:t>
            </a:r>
          </a:p>
          <a:p>
            <a:pPr marL="285750" indent="-285750">
              <a:buFontTx/>
              <a:buChar char="-"/>
            </a:pPr>
            <a:endParaRPr lang="en-US" dirty="0"/>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1B99657-0A37-6758-D1CE-95FE1FA01F67}"/>
                  </a:ext>
                </a:extLst>
              </p:cNvPr>
              <p:cNvGraphicFramePr>
                <a:graphicFrameLocks noGrp="1"/>
              </p:cNvGraphicFramePr>
              <p:nvPr>
                <p:extLst>
                  <p:ext uri="{D42A27DB-BD31-4B8C-83A1-F6EECF244321}">
                    <p14:modId xmlns:p14="http://schemas.microsoft.com/office/powerpoint/2010/main" val="2870312361"/>
                  </p:ext>
                </p:extLst>
              </p:nvPr>
            </p:nvGraphicFramePr>
            <p:xfrm>
              <a:off x="134629" y="1369534"/>
              <a:ext cx="6941930" cy="931526"/>
            </p:xfrm>
            <a:graphic>
              <a:graphicData uri="http://schemas.openxmlformats.org/drawingml/2006/table">
                <a:tbl>
                  <a:tblPr firstRow="1" bandRow="1">
                    <a:tableStyleId>{5C22544A-7EE6-4342-B048-85BDC9FD1C3A}</a:tableStyleId>
                  </a:tblPr>
                  <a:tblGrid>
                    <a:gridCol w="1388386">
                      <a:extLst>
                        <a:ext uri="{9D8B030D-6E8A-4147-A177-3AD203B41FA5}">
                          <a16:colId xmlns:a16="http://schemas.microsoft.com/office/drawing/2014/main" val="1019486927"/>
                        </a:ext>
                      </a:extLst>
                    </a:gridCol>
                    <a:gridCol w="1388386">
                      <a:extLst>
                        <a:ext uri="{9D8B030D-6E8A-4147-A177-3AD203B41FA5}">
                          <a16:colId xmlns:a16="http://schemas.microsoft.com/office/drawing/2014/main" val="2083034456"/>
                        </a:ext>
                      </a:extLst>
                    </a:gridCol>
                    <a:gridCol w="1388386">
                      <a:extLst>
                        <a:ext uri="{9D8B030D-6E8A-4147-A177-3AD203B41FA5}">
                          <a16:colId xmlns:a16="http://schemas.microsoft.com/office/drawing/2014/main" val="2688931456"/>
                        </a:ext>
                      </a:extLst>
                    </a:gridCol>
                    <a:gridCol w="1388386">
                      <a:extLst>
                        <a:ext uri="{9D8B030D-6E8A-4147-A177-3AD203B41FA5}">
                          <a16:colId xmlns:a16="http://schemas.microsoft.com/office/drawing/2014/main" val="2272505378"/>
                        </a:ext>
                      </a:extLst>
                    </a:gridCol>
                    <a:gridCol w="1388386">
                      <a:extLst>
                        <a:ext uri="{9D8B030D-6E8A-4147-A177-3AD203B41FA5}">
                          <a16:colId xmlns:a16="http://schemas.microsoft.com/office/drawing/2014/main" val="1936801515"/>
                        </a:ext>
                      </a:extLst>
                    </a:gridCol>
                  </a:tblGrid>
                  <a:tr h="471895">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𝐶𝑚𝑝𝐹𝑎𝑛</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i="1" smtClean="0">
                                        <a:latin typeface="Cambria Math" panose="02040503050406030204" pitchFamily="18" charset="0"/>
                                      </a:rPr>
                                      <m:t>𝑠</m:t>
                                    </m:r>
                                  </m:e>
                                  <m:sub>
                                    <m:r>
                                      <a:rPr lang="en-US" sz="1400" b="0" i="1" smtClean="0">
                                        <a:latin typeface="Cambria Math" panose="02040503050406030204" pitchFamily="18" charset="0"/>
                                      </a:rPr>
                                      <m:t>𝐶𝑚𝑝𝐿</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𝐶𝑚𝑝𝐻</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m:t>
                                </m:r>
                                <m:r>
                                  <a:rPr lang="en-US" sz="1400" b="1" i="1" smtClean="0">
                                    <a:latin typeface="Cambria Math" panose="02040503050406030204" pitchFamily="18" charset="0"/>
                                  </a:rPr>
                                  <m:t>𝑵𝑪</m:t>
                                </m:r>
                                <m:r>
                                  <a:rPr lang="en-US" sz="1400" b="1" i="1" smtClean="0">
                                    <a:latin typeface="Cambria Math" panose="02040503050406030204" pitchFamily="18" charset="0"/>
                                  </a:rPr>
                                  <m:t> </m:t>
                                </m:r>
                                <m:r>
                                  <a:rPr lang="en-US" sz="1400" b="1" i="1" smtClean="0">
                                    <a:latin typeface="Cambria Math" panose="02040503050406030204" pitchFamily="18" charset="0"/>
                                  </a:rPr>
                                  <m:t>𝑪𝒐𝒐𝒍𝒊𝒏𝒈</m:t>
                                </m:r>
                              </m:oMath>
                            </m:oMathPara>
                          </a14:m>
                          <a:endParaRPr 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𝑻𝒕</m:t>
                                    </m:r>
                                  </m:e>
                                  <m:sub>
                                    <m:r>
                                      <a:rPr lang="en-US" sz="1400" b="1" i="1" smtClean="0">
                                        <a:latin typeface="Cambria Math" panose="02040503050406030204" pitchFamily="18" charset="0"/>
                                      </a:rPr>
                                      <m:t>𝟒</m:t>
                                    </m:r>
                                  </m:sub>
                                </m:sSub>
                                <m:r>
                                  <a:rPr lang="en-US" sz="1400" b="1" i="1" smtClean="0">
                                    <a:latin typeface="Cambria Math" panose="02040503050406030204" pitchFamily="18" charset="0"/>
                                  </a:rPr>
                                  <m:t>𝒅𝒆𝒔</m:t>
                                </m:r>
                                <m:r>
                                  <a:rPr lang="en-US" sz="1400" b="1" i="1" smtClean="0">
                                    <a:latin typeface="Cambria Math" panose="02040503050406030204" pitchFamily="18" charset="0"/>
                                  </a:rPr>
                                  <m:t> (°</m:t>
                                </m:r>
                                <m:r>
                                  <a:rPr lang="en-US" sz="1400" b="1" i="1" smtClean="0">
                                    <a:latin typeface="Cambria Math" panose="02040503050406030204" pitchFamily="18" charset="0"/>
                                  </a:rPr>
                                  <m:t>𝑭</m:t>
                                </m:r>
                                <m:r>
                                  <a:rPr lang="en-US" sz="1400" b="1" i="1" smtClean="0">
                                    <a:latin typeface="Cambria Math" panose="02040503050406030204" pitchFamily="18" charset="0"/>
                                  </a:rPr>
                                  <m:t>)</m:t>
                                </m:r>
                              </m:oMath>
                            </m:oMathPara>
                          </a14:m>
                          <a:endParaRPr lang="en-US" sz="1400" dirty="0"/>
                        </a:p>
                        <a:p>
                          <a:pPr algn="ctr"/>
                          <a:endParaRPr lang="en-US" sz="1400" dirty="0"/>
                        </a:p>
                      </a:txBody>
                      <a:tcPr/>
                    </a:tc>
                    <a:extLst>
                      <a:ext uri="{0D108BD9-81ED-4DB2-BD59-A6C34878D82A}">
                        <a16:rowId xmlns:a16="http://schemas.microsoft.com/office/drawing/2014/main" val="1230112928"/>
                      </a:ext>
                    </a:extLst>
                  </a:tr>
                  <a:tr h="413366">
                    <a:tc>
                      <a:txBody>
                        <a:bodyPr/>
                        <a:lstStyle/>
                        <a:p>
                          <a:pPr algn="ctr"/>
                          <a:r>
                            <a:rPr lang="en-US" sz="1600" dirty="0"/>
                            <a:t>1.54</a:t>
                          </a:r>
                        </a:p>
                      </a:txBody>
                      <a:tcPr/>
                    </a:tc>
                    <a:tc>
                      <a:txBody>
                        <a:bodyPr/>
                        <a:lstStyle/>
                        <a:p>
                          <a:pPr algn="ctr"/>
                          <a:r>
                            <a:rPr lang="en-US" sz="1600" dirty="0"/>
                            <a:t>1.50</a:t>
                          </a:r>
                        </a:p>
                      </a:txBody>
                      <a:tcPr/>
                    </a:tc>
                    <a:tc>
                      <a:txBody>
                        <a:bodyPr/>
                        <a:lstStyle/>
                        <a:p>
                          <a:pPr algn="ctr"/>
                          <a:r>
                            <a:rPr lang="en-US" sz="1600" dirty="0"/>
                            <a:t>8.00</a:t>
                          </a:r>
                        </a:p>
                      </a:txBody>
                      <a:tcPr/>
                    </a:tc>
                    <a:tc>
                      <a:txBody>
                        <a:bodyPr/>
                        <a:lstStyle/>
                        <a:p>
                          <a:pPr algn="ctr"/>
                          <a:r>
                            <a:rPr lang="en-US" sz="1600" dirty="0"/>
                            <a:t>0.042</a:t>
                          </a:r>
                        </a:p>
                      </a:txBody>
                      <a:tcPr/>
                    </a:tc>
                    <a:tc>
                      <a:txBody>
                        <a:bodyPr/>
                        <a:lstStyle/>
                        <a:p>
                          <a:pPr algn="ctr"/>
                          <a:r>
                            <a:rPr lang="en-US" sz="1600" dirty="0"/>
                            <a:t>2697.0</a:t>
                          </a:r>
                        </a:p>
                      </a:txBody>
                      <a:tcPr/>
                    </a:tc>
                    <a:extLst>
                      <a:ext uri="{0D108BD9-81ED-4DB2-BD59-A6C34878D82A}">
                        <a16:rowId xmlns:a16="http://schemas.microsoft.com/office/drawing/2014/main" val="2122557282"/>
                      </a:ext>
                    </a:extLst>
                  </a:tr>
                </a:tbl>
              </a:graphicData>
            </a:graphic>
          </p:graphicFrame>
        </mc:Choice>
        <mc:Fallback xmlns="">
          <p:graphicFrame>
            <p:nvGraphicFramePr>
              <p:cNvPr id="10" name="Table 9">
                <a:extLst>
                  <a:ext uri="{FF2B5EF4-FFF2-40B4-BE49-F238E27FC236}">
                    <a16:creationId xmlns:a16="http://schemas.microsoft.com/office/drawing/2014/main" id="{A1B99657-0A37-6758-D1CE-95FE1FA01F67}"/>
                  </a:ext>
                </a:extLst>
              </p:cNvPr>
              <p:cNvGraphicFramePr>
                <a:graphicFrameLocks noGrp="1"/>
              </p:cNvGraphicFramePr>
              <p:nvPr>
                <p:extLst>
                  <p:ext uri="{D42A27DB-BD31-4B8C-83A1-F6EECF244321}">
                    <p14:modId xmlns:p14="http://schemas.microsoft.com/office/powerpoint/2010/main" val="2870312361"/>
                  </p:ext>
                </p:extLst>
              </p:nvPr>
            </p:nvGraphicFramePr>
            <p:xfrm>
              <a:off x="134629" y="1369534"/>
              <a:ext cx="6941930" cy="931526"/>
            </p:xfrm>
            <a:graphic>
              <a:graphicData uri="http://schemas.openxmlformats.org/drawingml/2006/table">
                <a:tbl>
                  <a:tblPr firstRow="1" bandRow="1">
                    <a:tableStyleId>{5C22544A-7EE6-4342-B048-85BDC9FD1C3A}</a:tableStyleId>
                  </a:tblPr>
                  <a:tblGrid>
                    <a:gridCol w="1388386">
                      <a:extLst>
                        <a:ext uri="{9D8B030D-6E8A-4147-A177-3AD203B41FA5}">
                          <a16:colId xmlns:a16="http://schemas.microsoft.com/office/drawing/2014/main" val="1019486927"/>
                        </a:ext>
                      </a:extLst>
                    </a:gridCol>
                    <a:gridCol w="1388386">
                      <a:extLst>
                        <a:ext uri="{9D8B030D-6E8A-4147-A177-3AD203B41FA5}">
                          <a16:colId xmlns:a16="http://schemas.microsoft.com/office/drawing/2014/main" val="2083034456"/>
                        </a:ext>
                      </a:extLst>
                    </a:gridCol>
                    <a:gridCol w="1388386">
                      <a:extLst>
                        <a:ext uri="{9D8B030D-6E8A-4147-A177-3AD203B41FA5}">
                          <a16:colId xmlns:a16="http://schemas.microsoft.com/office/drawing/2014/main" val="2688931456"/>
                        </a:ext>
                      </a:extLst>
                    </a:gridCol>
                    <a:gridCol w="1388386">
                      <a:extLst>
                        <a:ext uri="{9D8B030D-6E8A-4147-A177-3AD203B41FA5}">
                          <a16:colId xmlns:a16="http://schemas.microsoft.com/office/drawing/2014/main" val="2272505378"/>
                        </a:ext>
                      </a:extLst>
                    </a:gridCol>
                    <a:gridCol w="1388386">
                      <a:extLst>
                        <a:ext uri="{9D8B030D-6E8A-4147-A177-3AD203B41FA5}">
                          <a16:colId xmlns:a16="http://schemas.microsoft.com/office/drawing/2014/main" val="1936801515"/>
                        </a:ext>
                      </a:extLst>
                    </a:gridCol>
                  </a:tblGrid>
                  <a:tr h="518160">
                    <a:tc>
                      <a:txBody>
                        <a:bodyPr/>
                        <a:lstStyle/>
                        <a:p>
                          <a:endParaRPr lang="en-US"/>
                        </a:p>
                      </a:txBody>
                      <a:tcPr>
                        <a:blipFill>
                          <a:blip r:embed="rId3"/>
                          <a:stretch>
                            <a:fillRect l="-439" t="-1163" r="-401754" b="-81395"/>
                          </a:stretch>
                        </a:blipFill>
                      </a:tcPr>
                    </a:tc>
                    <a:tc>
                      <a:txBody>
                        <a:bodyPr/>
                        <a:lstStyle/>
                        <a:p>
                          <a:endParaRPr lang="en-US"/>
                        </a:p>
                      </a:txBody>
                      <a:tcPr>
                        <a:blipFill>
                          <a:blip r:embed="rId3"/>
                          <a:stretch>
                            <a:fillRect l="-100439" t="-1163" r="-301754" b="-81395"/>
                          </a:stretch>
                        </a:blipFill>
                      </a:tcPr>
                    </a:tc>
                    <a:tc>
                      <a:txBody>
                        <a:bodyPr/>
                        <a:lstStyle/>
                        <a:p>
                          <a:endParaRPr lang="en-US"/>
                        </a:p>
                      </a:txBody>
                      <a:tcPr>
                        <a:blipFill>
                          <a:blip r:embed="rId3"/>
                          <a:stretch>
                            <a:fillRect l="-201322" t="-1163" r="-203084" b="-81395"/>
                          </a:stretch>
                        </a:blipFill>
                      </a:tcPr>
                    </a:tc>
                    <a:tc>
                      <a:txBody>
                        <a:bodyPr/>
                        <a:lstStyle/>
                        <a:p>
                          <a:endParaRPr lang="en-US"/>
                        </a:p>
                      </a:txBody>
                      <a:tcPr>
                        <a:blipFill>
                          <a:blip r:embed="rId3"/>
                          <a:stretch>
                            <a:fillRect l="-300000" t="-1163" r="-102193" b="-81395"/>
                          </a:stretch>
                        </a:blipFill>
                      </a:tcPr>
                    </a:tc>
                    <a:tc>
                      <a:txBody>
                        <a:bodyPr/>
                        <a:lstStyle/>
                        <a:p>
                          <a:endParaRPr lang="en-US"/>
                        </a:p>
                      </a:txBody>
                      <a:tcPr>
                        <a:blipFill>
                          <a:blip r:embed="rId3"/>
                          <a:stretch>
                            <a:fillRect l="-400000" t="-1163" r="-2193" b="-81395"/>
                          </a:stretch>
                        </a:blipFill>
                      </a:tcPr>
                    </a:tc>
                    <a:extLst>
                      <a:ext uri="{0D108BD9-81ED-4DB2-BD59-A6C34878D82A}">
                        <a16:rowId xmlns:a16="http://schemas.microsoft.com/office/drawing/2014/main" val="1230112928"/>
                      </a:ext>
                    </a:extLst>
                  </a:tr>
                  <a:tr h="413366">
                    <a:tc>
                      <a:txBody>
                        <a:bodyPr/>
                        <a:lstStyle/>
                        <a:p>
                          <a:pPr algn="ctr"/>
                          <a:r>
                            <a:rPr lang="en-US" sz="1600" dirty="0"/>
                            <a:t>1.54</a:t>
                          </a:r>
                        </a:p>
                      </a:txBody>
                      <a:tcPr/>
                    </a:tc>
                    <a:tc>
                      <a:txBody>
                        <a:bodyPr/>
                        <a:lstStyle/>
                        <a:p>
                          <a:pPr algn="ctr"/>
                          <a:r>
                            <a:rPr lang="en-US" sz="1600" dirty="0"/>
                            <a:t>1.50</a:t>
                          </a:r>
                        </a:p>
                      </a:txBody>
                      <a:tcPr/>
                    </a:tc>
                    <a:tc>
                      <a:txBody>
                        <a:bodyPr/>
                        <a:lstStyle/>
                        <a:p>
                          <a:pPr algn="ctr"/>
                          <a:r>
                            <a:rPr lang="en-US" sz="1600" dirty="0"/>
                            <a:t>8.00</a:t>
                          </a:r>
                        </a:p>
                      </a:txBody>
                      <a:tcPr/>
                    </a:tc>
                    <a:tc>
                      <a:txBody>
                        <a:bodyPr/>
                        <a:lstStyle/>
                        <a:p>
                          <a:pPr algn="ctr"/>
                          <a:r>
                            <a:rPr lang="en-US" sz="1600" dirty="0"/>
                            <a:t>0.042</a:t>
                          </a:r>
                        </a:p>
                      </a:txBody>
                      <a:tcPr/>
                    </a:tc>
                    <a:tc>
                      <a:txBody>
                        <a:bodyPr/>
                        <a:lstStyle/>
                        <a:p>
                          <a:pPr algn="ctr"/>
                          <a:r>
                            <a:rPr lang="en-US" sz="1600" dirty="0"/>
                            <a:t>2697.0</a:t>
                          </a:r>
                        </a:p>
                      </a:txBody>
                      <a:tcPr/>
                    </a:tc>
                    <a:extLst>
                      <a:ext uri="{0D108BD9-81ED-4DB2-BD59-A6C34878D82A}">
                        <a16:rowId xmlns:a16="http://schemas.microsoft.com/office/drawing/2014/main" val="2122557282"/>
                      </a:ext>
                    </a:extLst>
                  </a:tr>
                </a:tbl>
              </a:graphicData>
            </a:graphic>
          </p:graphicFrame>
        </mc:Fallback>
      </mc:AlternateContent>
      <p:graphicFrame>
        <p:nvGraphicFramePr>
          <p:cNvPr id="11" name="Table 10">
            <a:extLst>
              <a:ext uri="{FF2B5EF4-FFF2-40B4-BE49-F238E27FC236}">
                <a16:creationId xmlns:a16="http://schemas.microsoft.com/office/drawing/2014/main" id="{AD48AB25-3DAF-5CD9-2D2F-EEE9EA54D8FF}"/>
              </a:ext>
            </a:extLst>
          </p:cNvPr>
          <p:cNvGraphicFramePr>
            <a:graphicFrameLocks noGrp="1"/>
          </p:cNvGraphicFramePr>
          <p:nvPr>
            <p:extLst>
              <p:ext uri="{D42A27DB-BD31-4B8C-83A1-F6EECF244321}">
                <p14:modId xmlns:p14="http://schemas.microsoft.com/office/powerpoint/2010/main" val="3753633828"/>
              </p:ext>
            </p:extLst>
          </p:nvPr>
        </p:nvGraphicFramePr>
        <p:xfrm>
          <a:off x="1203015" y="2475712"/>
          <a:ext cx="4892985" cy="836180"/>
        </p:xfrm>
        <a:graphic>
          <a:graphicData uri="http://schemas.openxmlformats.org/drawingml/2006/table">
            <a:tbl>
              <a:tblPr firstRow="1" bandRow="1">
                <a:tableStyleId>{5C22544A-7EE6-4342-B048-85BDC9FD1C3A}</a:tableStyleId>
              </a:tblPr>
              <a:tblGrid>
                <a:gridCol w="4892985">
                  <a:extLst>
                    <a:ext uri="{9D8B030D-6E8A-4147-A177-3AD203B41FA5}">
                      <a16:colId xmlns:a16="http://schemas.microsoft.com/office/drawing/2014/main" val="1207771054"/>
                    </a:ext>
                  </a:extLst>
                </a:gridCol>
              </a:tblGrid>
              <a:tr h="836180">
                <a:tc>
                  <a:txBody>
                    <a:bodyPr/>
                    <a:lstStyle/>
                    <a:p>
                      <a:pPr marL="0" indent="0" algn="ctr">
                        <a:buNone/>
                      </a:pPr>
                      <a:r>
                        <a:rPr lang="en-US" sz="1800" b="0" dirty="0">
                          <a:solidFill>
                            <a:schemeClr val="tx1"/>
                          </a:solidFill>
                        </a:rPr>
                        <a:t>Modeled Max Range = 3440.70 nmi</a:t>
                      </a:r>
                    </a:p>
                    <a:p>
                      <a:pPr marL="0" indent="0" algn="ctr">
                        <a:buNone/>
                      </a:pPr>
                      <a:r>
                        <a:rPr lang="en-US" sz="1800" b="0" dirty="0">
                          <a:solidFill>
                            <a:schemeClr val="tx1"/>
                          </a:solidFill>
                        </a:rPr>
                        <a:t>Boeing B737 MAX 8 Max Range = 3500 nmi </a:t>
                      </a:r>
                      <a:r>
                        <a:rPr lang="en-US" sz="1400" b="0" dirty="0">
                          <a:solidFill>
                            <a:schemeClr val="tx1"/>
                          </a:solidFill>
                        </a:rPr>
                        <a:t>[3]</a:t>
                      </a:r>
                      <a:endParaRPr lang="en-US" sz="18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2904602"/>
                  </a:ext>
                </a:extLst>
              </a:tr>
            </a:tbl>
          </a:graphicData>
        </a:graphic>
      </p:graphicFrame>
      <p:sp>
        <p:nvSpPr>
          <p:cNvPr id="14" name="TextBox 13">
            <a:extLst>
              <a:ext uri="{FF2B5EF4-FFF2-40B4-BE49-F238E27FC236}">
                <a16:creationId xmlns:a16="http://schemas.microsoft.com/office/drawing/2014/main" id="{D58011F9-607B-A153-AEBC-E56C152FDCDB}"/>
              </a:ext>
            </a:extLst>
          </p:cNvPr>
          <p:cNvSpPr txBox="1"/>
          <p:nvPr/>
        </p:nvSpPr>
        <p:spPr>
          <a:xfrm>
            <a:off x="286202" y="5488466"/>
            <a:ext cx="10106495" cy="1323439"/>
          </a:xfrm>
          <a:prstGeom prst="rect">
            <a:avLst/>
          </a:prstGeom>
          <a:noFill/>
        </p:spPr>
        <p:txBody>
          <a:bodyPr wrap="square" rtlCol="0">
            <a:spAutoFit/>
          </a:bodyPr>
          <a:lstStyle/>
          <a:p>
            <a:r>
              <a:rPr lang="en-US" sz="1600" u="sng" dirty="0"/>
              <a:t>Note: </a:t>
            </a:r>
          </a:p>
          <a:p>
            <a:pPr marL="285750" indent="-285750">
              <a:buFontTx/>
              <a:buChar char="-"/>
            </a:pPr>
            <a:r>
              <a:rPr lang="en-US" sz="1600" dirty="0"/>
              <a:t>Access to NPSS via Georgia Tech virtual machine was lost due to end of semester restricting further optimization to improve range.</a:t>
            </a:r>
          </a:p>
          <a:p>
            <a:pPr marL="285750" indent="-285750">
              <a:buFontTx/>
              <a:buChar char="-"/>
            </a:pPr>
            <a:r>
              <a:rPr lang="en-US" sz="1600" dirty="0"/>
              <a:t>Next stage of work planned to develop a python script running from command line to streamline workflow. (NPSS </a:t>
            </a:r>
            <a:r>
              <a:rPr lang="en-US" sz="1600" dirty="0">
                <a:sym typeface="Wingdings" panose="05000000000000000000" pitchFamily="2" charset="2"/>
              </a:rPr>
              <a:t> Engine Deck  FLOPS  Optimization Deck)</a:t>
            </a:r>
            <a:endParaRPr lang="en-US" sz="1600" dirty="0"/>
          </a:p>
        </p:txBody>
      </p:sp>
    </p:spTree>
    <p:extLst>
      <p:ext uri="{BB962C8B-B14F-4D97-AF65-F5344CB8AC3E}">
        <p14:creationId xmlns:p14="http://schemas.microsoft.com/office/powerpoint/2010/main" val="3417725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5CE9-449D-11BB-BC51-9329E800B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1A3D3-57BF-E133-B229-73464E75171E}"/>
              </a:ext>
            </a:extLst>
          </p:cNvPr>
          <p:cNvSpPr>
            <a:spLocks noGrp="1"/>
          </p:cNvSpPr>
          <p:nvPr>
            <p:ph type="title"/>
          </p:nvPr>
        </p:nvSpPr>
        <p:spPr/>
        <p:txBody>
          <a:bodyPr>
            <a:normAutofit fontScale="90000"/>
          </a:bodyPr>
          <a:lstStyle/>
          <a:p>
            <a:r>
              <a:rPr lang="en-US" dirty="0"/>
              <a:t>Engine Performance</a:t>
            </a:r>
          </a:p>
        </p:txBody>
      </p:sp>
      <p:pic>
        <p:nvPicPr>
          <p:cNvPr id="8" name="Picture 7">
            <a:extLst>
              <a:ext uri="{FF2B5EF4-FFF2-40B4-BE49-F238E27FC236}">
                <a16:creationId xmlns:a16="http://schemas.microsoft.com/office/drawing/2014/main" id="{3D7F5314-A8FB-466E-2DD8-CE3293BCB0CF}"/>
              </a:ext>
            </a:extLst>
          </p:cNvPr>
          <p:cNvPicPr>
            <a:picLocks noChangeAspect="1"/>
          </p:cNvPicPr>
          <p:nvPr/>
        </p:nvPicPr>
        <p:blipFill>
          <a:blip r:embed="rId2"/>
          <a:stretch>
            <a:fillRect/>
          </a:stretch>
        </p:blipFill>
        <p:spPr>
          <a:xfrm>
            <a:off x="1351201" y="1194883"/>
            <a:ext cx="4415143" cy="3330997"/>
          </a:xfrm>
          <a:prstGeom prst="rect">
            <a:avLst/>
          </a:prstGeom>
        </p:spPr>
      </p:pic>
      <p:pic>
        <p:nvPicPr>
          <p:cNvPr id="10" name="Picture 9">
            <a:extLst>
              <a:ext uri="{FF2B5EF4-FFF2-40B4-BE49-F238E27FC236}">
                <a16:creationId xmlns:a16="http://schemas.microsoft.com/office/drawing/2014/main" id="{96AA6BE0-B5DE-DB2C-833E-6E19AE5C88F7}"/>
              </a:ext>
            </a:extLst>
          </p:cNvPr>
          <p:cNvPicPr>
            <a:picLocks noChangeAspect="1"/>
          </p:cNvPicPr>
          <p:nvPr/>
        </p:nvPicPr>
        <p:blipFill>
          <a:blip r:embed="rId3"/>
          <a:stretch>
            <a:fillRect/>
          </a:stretch>
        </p:blipFill>
        <p:spPr>
          <a:xfrm>
            <a:off x="6096000" y="1194882"/>
            <a:ext cx="4367417" cy="3306759"/>
          </a:xfrm>
          <a:prstGeom prst="rect">
            <a:avLst/>
          </a:prstGeom>
        </p:spPr>
      </p:pic>
      <p:sp>
        <p:nvSpPr>
          <p:cNvPr id="12" name="TextBox 11">
            <a:extLst>
              <a:ext uri="{FF2B5EF4-FFF2-40B4-BE49-F238E27FC236}">
                <a16:creationId xmlns:a16="http://schemas.microsoft.com/office/drawing/2014/main" id="{5712F37F-186E-270E-346B-B7EA9C272B1D}"/>
              </a:ext>
            </a:extLst>
          </p:cNvPr>
          <p:cNvSpPr txBox="1"/>
          <p:nvPr/>
        </p:nvSpPr>
        <p:spPr>
          <a:xfrm>
            <a:off x="629786" y="4748977"/>
            <a:ext cx="10846992" cy="2031325"/>
          </a:xfrm>
          <a:prstGeom prst="rect">
            <a:avLst/>
          </a:prstGeom>
          <a:noFill/>
          <a:ln>
            <a:solidFill>
              <a:schemeClr val="tx1"/>
            </a:solidFill>
          </a:ln>
        </p:spPr>
        <p:txBody>
          <a:bodyPr wrap="square" rtlCol="0">
            <a:spAutoFit/>
          </a:bodyPr>
          <a:lstStyle/>
          <a:p>
            <a:pPr marL="285750" indent="-285750">
              <a:buFontTx/>
              <a:buChar char="-"/>
            </a:pPr>
            <a:r>
              <a:rPr lang="en-US" dirty="0"/>
              <a:t>The above thrust and TSFC contour plots were developed in python.</a:t>
            </a:r>
          </a:p>
          <a:p>
            <a:pPr marL="285750" indent="-285750">
              <a:buFontTx/>
              <a:buChar char="-"/>
            </a:pPr>
            <a:r>
              <a:rPr lang="en-US" dirty="0"/>
              <a:t>Performance trends: </a:t>
            </a:r>
          </a:p>
          <a:p>
            <a:pPr marL="742950" lvl="1" indent="-285750">
              <a:buFontTx/>
              <a:buChar char="-"/>
            </a:pPr>
            <a:r>
              <a:rPr lang="en-US" dirty="0"/>
              <a:t>Thrust and TSFC decrease as altitude increases. </a:t>
            </a:r>
          </a:p>
          <a:p>
            <a:pPr marL="742950" lvl="1" indent="-285750">
              <a:buFontTx/>
              <a:buChar char="-"/>
            </a:pPr>
            <a:r>
              <a:rPr lang="en-US" dirty="0"/>
              <a:t>TSFC increases significantly with Mach number while thrust is less strongly related.</a:t>
            </a:r>
          </a:p>
          <a:p>
            <a:pPr marL="285750" indent="-285750">
              <a:buFontTx/>
              <a:buChar char="-"/>
            </a:pPr>
            <a:r>
              <a:rPr lang="en-US" dirty="0"/>
              <a:t>At higher altitudes, air density decreases thus decreasing inlet mass flow limiting exit velocity.</a:t>
            </a:r>
          </a:p>
          <a:p>
            <a:pPr marL="285750" indent="-285750">
              <a:buFontTx/>
              <a:buChar char="-"/>
            </a:pPr>
            <a:r>
              <a:rPr lang="en-US" dirty="0"/>
              <a:t>While thrust lowers, less fuel flow is required to sustain the same thrusts at higher altitudes, improving engine TSFC. </a:t>
            </a:r>
          </a:p>
        </p:txBody>
      </p:sp>
    </p:spTree>
    <p:extLst>
      <p:ext uri="{BB962C8B-B14F-4D97-AF65-F5344CB8AC3E}">
        <p14:creationId xmlns:p14="http://schemas.microsoft.com/office/powerpoint/2010/main" val="2420270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5DA25-B7B7-49F5-31F5-E543A7C9F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5C52A-E691-C668-36AC-38CB482EBB0C}"/>
              </a:ext>
            </a:extLst>
          </p:cNvPr>
          <p:cNvSpPr>
            <a:spLocks noGrp="1"/>
          </p:cNvSpPr>
          <p:nvPr>
            <p:ph type="title"/>
          </p:nvPr>
        </p:nvSpPr>
        <p:spPr/>
        <p:txBody>
          <a:bodyPr>
            <a:normAutofit fontScale="90000"/>
          </a:bodyPr>
          <a:lstStyle/>
          <a:p>
            <a:r>
              <a:rPr lang="en-US" dirty="0"/>
              <a:t>Conclusions</a:t>
            </a:r>
          </a:p>
        </p:txBody>
      </p:sp>
      <p:sp>
        <p:nvSpPr>
          <p:cNvPr id="3" name="Content Placeholder 2">
            <a:extLst>
              <a:ext uri="{FF2B5EF4-FFF2-40B4-BE49-F238E27FC236}">
                <a16:creationId xmlns:a16="http://schemas.microsoft.com/office/drawing/2014/main" id="{CBC4F260-9427-AF3B-1AA3-54A0B6513F30}"/>
              </a:ext>
            </a:extLst>
          </p:cNvPr>
          <p:cNvSpPr>
            <a:spLocks noGrp="1"/>
          </p:cNvSpPr>
          <p:nvPr>
            <p:ph idx="1"/>
          </p:nvPr>
        </p:nvSpPr>
        <p:spPr>
          <a:xfrm>
            <a:off x="450273" y="1385461"/>
            <a:ext cx="11206018" cy="5234413"/>
          </a:xfrm>
          <a:ln>
            <a:solidFill>
              <a:schemeClr val="tx1"/>
            </a:solidFill>
          </a:ln>
        </p:spPr>
        <p:txBody>
          <a:bodyPr>
            <a:normAutofit fontScale="92500"/>
          </a:bodyPr>
          <a:lstStyle/>
          <a:p>
            <a:pPr>
              <a:buFontTx/>
              <a:buChar char="-"/>
            </a:pPr>
            <a:r>
              <a:rPr lang="en-US" dirty="0"/>
              <a:t>Fan pressure ratio increased fan diameter and engine weight. A low-pressure ratio to minimize weight with sufficient Tt2 was important to maximize range.</a:t>
            </a:r>
          </a:p>
          <a:p>
            <a:pPr>
              <a:buFontTx/>
              <a:buChar char="-"/>
            </a:pPr>
            <a:r>
              <a:rPr lang="en-US" dirty="0"/>
              <a:t>LPC pressure ratio set to minimum to reduce engine weight. </a:t>
            </a:r>
          </a:p>
          <a:p>
            <a:pPr>
              <a:buFontTx/>
              <a:buChar char="-"/>
            </a:pPr>
            <a:r>
              <a:rPr lang="en-US" dirty="0"/>
              <a:t>HPC was primary design variable to tune for highest desired range.</a:t>
            </a:r>
          </a:p>
          <a:p>
            <a:pPr lvl="1">
              <a:buFontTx/>
              <a:buChar char="-"/>
            </a:pPr>
            <a:r>
              <a:rPr lang="en-US" dirty="0"/>
              <a:t>Increasing compressor pressure ratio increases downstream temperature (following the isentropic equation). If OPR is too high, the engine will hit the Tt4 faster, thus limiting the performance available for the design.</a:t>
            </a:r>
          </a:p>
          <a:p>
            <a:pPr>
              <a:buFontTx/>
              <a:buChar char="-"/>
            </a:pPr>
            <a:r>
              <a:rPr lang="en-US" dirty="0"/>
              <a:t>NC Cooling is consistent across designs, less vital to controlling Tt4 under limit relative to OPR. </a:t>
            </a:r>
          </a:p>
          <a:p>
            <a:pPr>
              <a:buFontTx/>
              <a:buChar char="-"/>
            </a:pPr>
            <a:r>
              <a:rPr lang="en-US" dirty="0"/>
              <a:t>Implementing a </a:t>
            </a:r>
            <a:r>
              <a:rPr lang="en-US" dirty="0" err="1"/>
              <a:t>dTs</a:t>
            </a:r>
            <a:r>
              <a:rPr lang="en-US" dirty="0"/>
              <a:t> linear interpolation table to offset ambient temperature from standard day showed temperature sensitivity in model. </a:t>
            </a:r>
          </a:p>
          <a:p>
            <a:pPr lvl="1">
              <a:buFontTx/>
              <a:buChar char="-"/>
            </a:pPr>
            <a:r>
              <a:rPr lang="en-US" dirty="0"/>
              <a:t>COLD day conditions pushed compressors to choke line during off-design operation.</a:t>
            </a:r>
          </a:p>
        </p:txBody>
      </p:sp>
    </p:spTree>
    <p:extLst>
      <p:ext uri="{BB962C8B-B14F-4D97-AF65-F5344CB8AC3E}">
        <p14:creationId xmlns:p14="http://schemas.microsoft.com/office/powerpoint/2010/main" val="1675318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92079-72CA-435D-1812-8D64DB3BB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0563A-4B3C-BC4D-A769-FA5D99A990DE}"/>
              </a:ext>
            </a:extLst>
          </p:cNvPr>
          <p:cNvSpPr>
            <a:spLocks noGrp="1"/>
          </p:cNvSpPr>
          <p:nvPr>
            <p:ph type="title"/>
          </p:nvPr>
        </p:nvSpPr>
        <p:spPr/>
        <p:txBody>
          <a:bodyPr>
            <a:normAutofit fontScale="90000"/>
          </a:bodyPr>
          <a:lstStyle/>
          <a:p>
            <a:r>
              <a:rPr lang="en-US" dirty="0"/>
              <a:t>Turbojet NPSS Design</a:t>
            </a:r>
          </a:p>
        </p:txBody>
      </p:sp>
      <p:sp>
        <p:nvSpPr>
          <p:cNvPr id="3" name="Content Placeholder 2">
            <a:extLst>
              <a:ext uri="{FF2B5EF4-FFF2-40B4-BE49-F238E27FC236}">
                <a16:creationId xmlns:a16="http://schemas.microsoft.com/office/drawing/2014/main" id="{9DECAEF5-4BB8-3746-300F-CF728CE06828}"/>
              </a:ext>
            </a:extLst>
          </p:cNvPr>
          <p:cNvSpPr>
            <a:spLocks noGrp="1"/>
          </p:cNvSpPr>
          <p:nvPr>
            <p:ph idx="1"/>
          </p:nvPr>
        </p:nvSpPr>
        <p:spPr>
          <a:xfrm>
            <a:off x="450273" y="1385462"/>
            <a:ext cx="11206018" cy="4898947"/>
          </a:xfrm>
          <a:ln>
            <a:solidFill>
              <a:schemeClr val="tx1"/>
            </a:solidFill>
          </a:ln>
        </p:spPr>
        <p:txBody>
          <a:bodyPr>
            <a:normAutofit/>
          </a:bodyPr>
          <a:lstStyle/>
          <a:p>
            <a:pPr marL="0" indent="0">
              <a:buNone/>
            </a:pPr>
            <a:r>
              <a:rPr lang="en-US" sz="2000" u="sng" dirty="0"/>
              <a:t>Objective:</a:t>
            </a:r>
          </a:p>
          <a:p>
            <a:pPr marL="0" indent="0">
              <a:buNone/>
            </a:pPr>
            <a:r>
              <a:rPr lang="en-US" sz="2000" dirty="0"/>
              <a:t>Based on the shown separate flow turbofan NPSS model, develop a model for a 100-lbf thrust class, single spool turbojet to fit new requirements using known high-pressure compressor and turbine models.</a:t>
            </a:r>
          </a:p>
          <a:p>
            <a:pPr marL="0" indent="0">
              <a:buNone/>
            </a:pPr>
            <a:endParaRPr lang="en-US" sz="2000" dirty="0"/>
          </a:p>
          <a:p>
            <a:pPr marL="0" indent="0">
              <a:buNone/>
            </a:pPr>
            <a:r>
              <a:rPr lang="en-US" sz="2000" u="sng" dirty="0"/>
              <a:t>Roadmap:</a:t>
            </a:r>
          </a:p>
          <a:p>
            <a:pPr marL="0" indent="0">
              <a:buNone/>
            </a:pPr>
            <a:r>
              <a:rPr lang="en-US" sz="2000" dirty="0"/>
              <a:t>- Implement SFTF HPC and HPT to reuse maps and Reynolds effect modeling</a:t>
            </a:r>
          </a:p>
          <a:p>
            <a:pPr>
              <a:buFontTx/>
              <a:buChar char="-"/>
            </a:pPr>
            <a:r>
              <a:rPr lang="en-US" sz="2000" dirty="0"/>
              <a:t>Update FLOPS for smaller platform or use AFSIM to estimate range</a:t>
            </a:r>
          </a:p>
          <a:p>
            <a:pPr>
              <a:buFontTx/>
              <a:buChar char="-"/>
            </a:pPr>
            <a:r>
              <a:rPr lang="en-US" sz="2000" dirty="0"/>
              <a:t>Implement numerical optimization algorithm on HPC pressure ratio, bleed air, and other design variables</a:t>
            </a:r>
          </a:p>
          <a:p>
            <a:pPr>
              <a:buFontTx/>
              <a:buChar char="-"/>
            </a:pPr>
            <a:r>
              <a:rPr lang="en-US" sz="2000" dirty="0"/>
              <a:t>Implement control algorithms to design on desired shaft speed</a:t>
            </a:r>
          </a:p>
          <a:p>
            <a:pPr>
              <a:buFontTx/>
              <a:buChar char="-"/>
            </a:pPr>
            <a:r>
              <a:rPr lang="en-US" sz="2000" dirty="0"/>
              <a:t>Add transient designs</a:t>
            </a:r>
          </a:p>
        </p:txBody>
      </p:sp>
    </p:spTree>
    <p:extLst>
      <p:ext uri="{BB962C8B-B14F-4D97-AF65-F5344CB8AC3E}">
        <p14:creationId xmlns:p14="http://schemas.microsoft.com/office/powerpoint/2010/main" val="298849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80F1-A2DE-5D30-802D-92175430C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B25A-C938-A7F7-8425-C784D8923B9B}"/>
              </a:ext>
            </a:extLst>
          </p:cNvPr>
          <p:cNvSpPr>
            <a:spLocks noGrp="1"/>
          </p:cNvSpPr>
          <p:nvPr>
            <p:ph type="title"/>
          </p:nvPr>
        </p:nvSpPr>
        <p:spPr/>
        <p:txBody>
          <a:bodyPr>
            <a:normAutofit fontScale="90000"/>
          </a:bodyPr>
          <a:lstStyle/>
          <a:p>
            <a:r>
              <a:rPr lang="en-US" dirty="0"/>
              <a:t>Application to Mach Industries</a:t>
            </a:r>
          </a:p>
        </p:txBody>
      </p:sp>
      <p:sp>
        <p:nvSpPr>
          <p:cNvPr id="3" name="Content Placeholder 2">
            <a:extLst>
              <a:ext uri="{FF2B5EF4-FFF2-40B4-BE49-F238E27FC236}">
                <a16:creationId xmlns:a16="http://schemas.microsoft.com/office/drawing/2014/main" id="{31F44DCE-8EEF-D05C-3217-17A1457CC63F}"/>
              </a:ext>
            </a:extLst>
          </p:cNvPr>
          <p:cNvSpPr>
            <a:spLocks noGrp="1"/>
          </p:cNvSpPr>
          <p:nvPr>
            <p:ph idx="1"/>
          </p:nvPr>
        </p:nvSpPr>
        <p:spPr>
          <a:ln>
            <a:solidFill>
              <a:schemeClr val="tx1"/>
            </a:solidFill>
          </a:ln>
        </p:spPr>
        <p:txBody>
          <a:bodyPr/>
          <a:lstStyle/>
          <a:p>
            <a:pPr>
              <a:buFontTx/>
              <a:buChar char="-"/>
            </a:pPr>
            <a:r>
              <a:rPr lang="en-US" dirty="0"/>
              <a:t>Material selection</a:t>
            </a:r>
          </a:p>
          <a:p>
            <a:pPr lvl="1">
              <a:buFontTx/>
              <a:buChar char="-"/>
            </a:pPr>
            <a:r>
              <a:rPr lang="en-US" dirty="0">
                <a:sym typeface="Wingdings" panose="05000000000000000000" pitchFamily="2" charset="2"/>
              </a:rPr>
              <a:t>Trading material durability for manufacturing </a:t>
            </a:r>
            <a:r>
              <a:rPr lang="en-US" dirty="0"/>
              <a:t>at scale &amp; intended mission</a:t>
            </a:r>
          </a:p>
          <a:p>
            <a:pPr>
              <a:buFontTx/>
              <a:buChar char="-"/>
            </a:pPr>
            <a:r>
              <a:rPr lang="en-US" dirty="0"/>
              <a:t>Cycle optimization and fidelity</a:t>
            </a:r>
          </a:p>
          <a:p>
            <a:pPr>
              <a:buFontTx/>
              <a:buChar char="-"/>
            </a:pPr>
            <a:r>
              <a:rPr lang="en-US" dirty="0"/>
              <a:t>Workflow automation</a:t>
            </a:r>
          </a:p>
          <a:p>
            <a:pPr lvl="1">
              <a:buFontTx/>
              <a:buChar char="-"/>
            </a:pPr>
            <a:r>
              <a:rPr lang="en-US" dirty="0"/>
              <a:t>Developing tools to make processes including development, visualization, analysis more efficient</a:t>
            </a:r>
          </a:p>
          <a:p>
            <a:pPr>
              <a:buFontTx/>
              <a:buChar char="-"/>
            </a:pPr>
            <a:r>
              <a:rPr lang="en-US" dirty="0"/>
              <a:t>Providing data to customers with perspective from the prime</a:t>
            </a:r>
          </a:p>
        </p:txBody>
      </p:sp>
    </p:spTree>
    <p:extLst>
      <p:ext uri="{BB962C8B-B14F-4D97-AF65-F5344CB8AC3E}">
        <p14:creationId xmlns:p14="http://schemas.microsoft.com/office/powerpoint/2010/main" val="1778944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DECA-D119-3FB6-648C-9A50D68E3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1D4AE-5F7E-2CED-FB9E-F0CC470E7AEA}"/>
              </a:ext>
            </a:extLst>
          </p:cNvPr>
          <p:cNvSpPr>
            <a:spLocks noGrp="1"/>
          </p:cNvSpPr>
          <p:nvPr>
            <p:ph type="title"/>
          </p:nvPr>
        </p:nvSpPr>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7B0468FF-B750-902A-0B83-26B13B4AE9A2}"/>
              </a:ext>
            </a:extLst>
          </p:cNvPr>
          <p:cNvSpPr>
            <a:spLocks noGrp="1"/>
          </p:cNvSpPr>
          <p:nvPr>
            <p:ph idx="1"/>
          </p:nvPr>
        </p:nvSpPr>
        <p:spPr>
          <a:ln>
            <a:solidFill>
              <a:schemeClr val="tx1"/>
            </a:solidFill>
          </a:ln>
        </p:spPr>
        <p:txBody>
          <a:bodyPr>
            <a:normAutofit/>
          </a:bodyPr>
          <a:lstStyle/>
          <a:p>
            <a:pPr marL="0" indent="0">
              <a:buNone/>
            </a:pPr>
            <a:r>
              <a:rPr lang="en-US" sz="2000" dirty="0"/>
              <a:t>[1] Strangman T. E., Thin Solid Films, </a:t>
            </a:r>
            <a:r>
              <a:rPr lang="en-US" sz="2000" b="1" dirty="0"/>
              <a:t>127</a:t>
            </a:r>
            <a:r>
              <a:rPr lang="en-US" sz="2000" dirty="0"/>
              <a:t>:1985, 93--105, 'Thermal barrier coatings for turbine airfoils’.</a:t>
            </a:r>
          </a:p>
          <a:p>
            <a:pPr marL="0" indent="0">
              <a:buNone/>
            </a:pPr>
            <a:r>
              <a:rPr lang="en-US" sz="2000" dirty="0"/>
              <a:t>[2] </a:t>
            </a:r>
            <a:r>
              <a:rPr lang="en-US" sz="2000" dirty="0" err="1"/>
              <a:t>ThermoFisher</a:t>
            </a:r>
            <a:r>
              <a:rPr lang="en-US" sz="2000" dirty="0"/>
              <a:t> Scientific, et al., Novel analysis of single crystal Rene N5 superalloy,  2025.</a:t>
            </a:r>
          </a:p>
          <a:p>
            <a:pPr marL="0" indent="0">
              <a:buNone/>
            </a:pPr>
            <a:r>
              <a:rPr lang="en-US" sz="2000" dirty="0"/>
              <a:t>[3] Boeing. (n.d.). </a:t>
            </a:r>
            <a:r>
              <a:rPr lang="en-US" sz="2000" i="1" dirty="0"/>
              <a:t>737 MAX</a:t>
            </a:r>
            <a:r>
              <a:rPr lang="en-US" sz="2000" dirty="0"/>
              <a:t>. Boeing Commercial Airplanes</a:t>
            </a:r>
          </a:p>
        </p:txBody>
      </p:sp>
    </p:spTree>
    <p:extLst>
      <p:ext uri="{BB962C8B-B14F-4D97-AF65-F5344CB8AC3E}">
        <p14:creationId xmlns:p14="http://schemas.microsoft.com/office/powerpoint/2010/main" val="1201271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6D90-4EF1-E1E0-099C-5D26FEC5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9A136-04E2-653C-3FA2-D2A1C846D69E}"/>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Fan</a:t>
            </a:r>
            <a:endParaRPr lang="en-US" sz="3600" b="0" dirty="0"/>
          </a:p>
        </p:txBody>
      </p:sp>
      <p:pic>
        <p:nvPicPr>
          <p:cNvPr id="3" name="Picture 2">
            <a:extLst>
              <a:ext uri="{FF2B5EF4-FFF2-40B4-BE49-F238E27FC236}">
                <a16:creationId xmlns:a16="http://schemas.microsoft.com/office/drawing/2014/main" id="{5C6ADCB5-38E4-79FB-6D5C-D15904D67F52}"/>
              </a:ext>
            </a:extLst>
          </p:cNvPr>
          <p:cNvPicPr>
            <a:picLocks noChangeAspect="1"/>
          </p:cNvPicPr>
          <p:nvPr/>
        </p:nvPicPr>
        <p:blipFill>
          <a:blip r:embed="rId2"/>
          <a:srcRect t="3524"/>
          <a:stretch>
            <a:fillRect/>
          </a:stretch>
        </p:blipFill>
        <p:spPr>
          <a:xfrm>
            <a:off x="1776145" y="1194882"/>
            <a:ext cx="8639710" cy="5516682"/>
          </a:xfrm>
          <a:prstGeom prst="rect">
            <a:avLst/>
          </a:prstGeom>
        </p:spPr>
      </p:pic>
    </p:spTree>
    <p:extLst>
      <p:ext uri="{BB962C8B-B14F-4D97-AF65-F5344CB8AC3E}">
        <p14:creationId xmlns:p14="http://schemas.microsoft.com/office/powerpoint/2010/main" val="1094788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F5316-3524-4944-8BB8-DDAD6EF61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794C7-9E04-8B0A-C3B2-225D0C29303B}"/>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Low Pressure Compressor</a:t>
            </a:r>
            <a:endParaRPr lang="en-US" sz="3600" b="0" dirty="0"/>
          </a:p>
        </p:txBody>
      </p:sp>
      <p:pic>
        <p:nvPicPr>
          <p:cNvPr id="7" name="Picture 6">
            <a:extLst>
              <a:ext uri="{FF2B5EF4-FFF2-40B4-BE49-F238E27FC236}">
                <a16:creationId xmlns:a16="http://schemas.microsoft.com/office/drawing/2014/main" id="{2BEB2DB1-3770-6BBC-32FC-75873A059E3E}"/>
              </a:ext>
            </a:extLst>
          </p:cNvPr>
          <p:cNvPicPr>
            <a:picLocks noChangeAspect="1"/>
          </p:cNvPicPr>
          <p:nvPr/>
        </p:nvPicPr>
        <p:blipFill>
          <a:blip r:embed="rId2"/>
          <a:stretch>
            <a:fillRect/>
          </a:stretch>
        </p:blipFill>
        <p:spPr>
          <a:xfrm>
            <a:off x="1816841" y="1260570"/>
            <a:ext cx="8558318" cy="5428231"/>
          </a:xfrm>
          <a:prstGeom prst="rect">
            <a:avLst/>
          </a:prstGeom>
        </p:spPr>
      </p:pic>
    </p:spTree>
    <p:extLst>
      <p:ext uri="{BB962C8B-B14F-4D97-AF65-F5344CB8AC3E}">
        <p14:creationId xmlns:p14="http://schemas.microsoft.com/office/powerpoint/2010/main" val="2118776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32C2-5940-2B97-8F50-1488D83AF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B9910-57F8-9AFD-B863-07C34D1EBE22}"/>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High Pressure Compressor</a:t>
            </a:r>
            <a:endParaRPr lang="en-US" sz="3600" b="0" dirty="0"/>
          </a:p>
        </p:txBody>
      </p:sp>
      <p:pic>
        <p:nvPicPr>
          <p:cNvPr id="4" name="Picture 3">
            <a:extLst>
              <a:ext uri="{FF2B5EF4-FFF2-40B4-BE49-F238E27FC236}">
                <a16:creationId xmlns:a16="http://schemas.microsoft.com/office/drawing/2014/main" id="{3CB51D67-8FA7-16E7-BDDD-459A833C1510}"/>
              </a:ext>
            </a:extLst>
          </p:cNvPr>
          <p:cNvPicPr>
            <a:picLocks noChangeAspect="1"/>
          </p:cNvPicPr>
          <p:nvPr/>
        </p:nvPicPr>
        <p:blipFill>
          <a:blip r:embed="rId2"/>
          <a:srcRect t="2370"/>
          <a:stretch>
            <a:fillRect/>
          </a:stretch>
        </p:blipFill>
        <p:spPr>
          <a:xfrm>
            <a:off x="1764477" y="1194882"/>
            <a:ext cx="8663046" cy="5548609"/>
          </a:xfrm>
          <a:prstGeom prst="rect">
            <a:avLst/>
          </a:prstGeom>
        </p:spPr>
      </p:pic>
    </p:spTree>
    <p:extLst>
      <p:ext uri="{BB962C8B-B14F-4D97-AF65-F5344CB8AC3E}">
        <p14:creationId xmlns:p14="http://schemas.microsoft.com/office/powerpoint/2010/main" val="1336568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BEB36-D1CF-8D50-0F70-B18175602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30B0B-BF83-0800-FCAE-AA017BC7E15A}"/>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High Pressure Turbine</a:t>
            </a:r>
            <a:endParaRPr lang="en-US" sz="3600" b="0" dirty="0"/>
          </a:p>
        </p:txBody>
      </p:sp>
      <p:pic>
        <p:nvPicPr>
          <p:cNvPr id="4" name="Picture 3">
            <a:extLst>
              <a:ext uri="{FF2B5EF4-FFF2-40B4-BE49-F238E27FC236}">
                <a16:creationId xmlns:a16="http://schemas.microsoft.com/office/drawing/2014/main" id="{444940AC-77B8-8941-0D1A-B92916B5A4BB}"/>
              </a:ext>
            </a:extLst>
          </p:cNvPr>
          <p:cNvPicPr>
            <a:picLocks noChangeAspect="1"/>
          </p:cNvPicPr>
          <p:nvPr/>
        </p:nvPicPr>
        <p:blipFill>
          <a:blip r:embed="rId2"/>
          <a:stretch>
            <a:fillRect/>
          </a:stretch>
        </p:blipFill>
        <p:spPr>
          <a:xfrm>
            <a:off x="1862640" y="1194882"/>
            <a:ext cx="8466719" cy="5467920"/>
          </a:xfrm>
          <a:prstGeom prst="rect">
            <a:avLst/>
          </a:prstGeom>
        </p:spPr>
      </p:pic>
    </p:spTree>
    <p:extLst>
      <p:ext uri="{BB962C8B-B14F-4D97-AF65-F5344CB8AC3E}">
        <p14:creationId xmlns:p14="http://schemas.microsoft.com/office/powerpoint/2010/main" val="354480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56CB-743E-A107-7670-1E2177584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AB263-D129-16AC-E26D-FB3ABF09A517}"/>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Low Pressure Turbine</a:t>
            </a:r>
            <a:endParaRPr lang="en-US" sz="3600" b="0" dirty="0"/>
          </a:p>
        </p:txBody>
      </p:sp>
      <p:pic>
        <p:nvPicPr>
          <p:cNvPr id="5" name="Picture 4">
            <a:extLst>
              <a:ext uri="{FF2B5EF4-FFF2-40B4-BE49-F238E27FC236}">
                <a16:creationId xmlns:a16="http://schemas.microsoft.com/office/drawing/2014/main" id="{0686953C-E91D-020E-BA92-AC4DD3A38B92}"/>
              </a:ext>
            </a:extLst>
          </p:cNvPr>
          <p:cNvPicPr>
            <a:picLocks noChangeAspect="1"/>
          </p:cNvPicPr>
          <p:nvPr/>
        </p:nvPicPr>
        <p:blipFill>
          <a:blip r:embed="rId2"/>
          <a:stretch>
            <a:fillRect/>
          </a:stretch>
        </p:blipFill>
        <p:spPr>
          <a:xfrm>
            <a:off x="1762269" y="1310778"/>
            <a:ext cx="8582025" cy="5547222"/>
          </a:xfrm>
          <a:prstGeom prst="rect">
            <a:avLst/>
          </a:prstGeom>
        </p:spPr>
      </p:pic>
    </p:spTree>
    <p:extLst>
      <p:ext uri="{BB962C8B-B14F-4D97-AF65-F5344CB8AC3E}">
        <p14:creationId xmlns:p14="http://schemas.microsoft.com/office/powerpoint/2010/main" val="2668237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29283</TotalTime>
  <Words>2733</Words>
  <Application>Microsoft Office PowerPoint</Application>
  <PresentationFormat>Widescreen</PresentationFormat>
  <Paragraphs>548</Paragraphs>
  <Slides>28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Cambria Math</vt:lpstr>
      <vt:lpstr>Wingdings</vt:lpstr>
      <vt:lpstr>Office Theme</vt:lpstr>
      <vt:lpstr>An Introduction</vt:lpstr>
      <vt:lpstr>About Me</vt:lpstr>
      <vt:lpstr>Technical Experience Systems Engineer | Northrop Grumman</vt:lpstr>
      <vt:lpstr>Thermodynamic Cycle Design using NPSS</vt:lpstr>
      <vt:lpstr>Overview</vt:lpstr>
      <vt:lpstr>NPSS Development Process</vt:lpstr>
      <vt:lpstr>Requirements</vt:lpstr>
      <vt:lpstr>Assumptions Materials</vt:lpstr>
      <vt:lpstr>Assumptions Aircraft (B737 Max 8)</vt:lpstr>
      <vt:lpstr>NPSS Model Architecture Separate Flow Turbofan</vt:lpstr>
      <vt:lpstr>NPSS Model Architecture Element Definitions (1)</vt:lpstr>
      <vt:lpstr>NPSS Model Architecture Element Definitions (2)</vt:lpstr>
      <vt:lpstr>NPSS Model Architecture Turbomachinery Map Integration</vt:lpstr>
      <vt:lpstr>NPSS Model Architecture Turbomachinery Maps</vt:lpstr>
      <vt:lpstr>Solver Setup</vt:lpstr>
      <vt:lpstr>The Optimization Problem</vt:lpstr>
      <vt:lpstr>Engine Deck</vt:lpstr>
      <vt:lpstr>Optimization Deck</vt:lpstr>
      <vt:lpstr>Engine Performance</vt:lpstr>
      <vt:lpstr>Conclusions</vt:lpstr>
      <vt:lpstr>Turbojet NPSS Design</vt:lpstr>
      <vt:lpstr>Application to Mach Industries</vt:lpstr>
      <vt:lpstr>References</vt:lpstr>
      <vt:lpstr>NPSS Model Architecture Fan</vt:lpstr>
      <vt:lpstr>NPSS Model Architecture Low Pressure Compressor</vt:lpstr>
      <vt:lpstr>NPSS Model Architecture High Pressure Compressor</vt:lpstr>
      <vt:lpstr>NPSS Model Architecture High Pressure Turbine</vt:lpstr>
      <vt:lpstr>NPSS Model Architecture Low Pressure Turbine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Connor Churko</dc:creator>
  <cp:lastModifiedBy>Connor Churko</cp:lastModifiedBy>
  <cp:revision>1</cp:revision>
  <dcterms:created xsi:type="dcterms:W3CDTF">2026-05-07T00:29:21Z</dcterms:created>
  <dcterms:modified xsi:type="dcterms:W3CDTF">2026-07-29T13:45:03Z</dcterms:modified>
</cp:coreProperties>
</file>